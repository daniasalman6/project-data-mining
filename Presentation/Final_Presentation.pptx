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5" r:id="rId1"/>
  </p:sldMasterIdLst>
  <p:sldIdLst>
    <p:sldId id="256" r:id="rId2"/>
    <p:sldId id="257" r:id="rId3"/>
    <p:sldId id="270" r:id="rId4"/>
    <p:sldId id="258" r:id="rId5"/>
    <p:sldId id="264" r:id="rId6"/>
    <p:sldId id="263" r:id="rId7"/>
    <p:sldId id="265" r:id="rId8"/>
    <p:sldId id="260" r:id="rId9"/>
    <p:sldId id="261" r:id="rId10"/>
    <p:sldId id="266" r:id="rId11"/>
    <p:sldId id="267" r:id="rId12"/>
    <p:sldId id="273" r:id="rId13"/>
    <p:sldId id="268" r:id="rId14"/>
    <p:sldId id="269" r:id="rId15"/>
    <p:sldId id="275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84"/>
  </p:normalViewPr>
  <p:slideViewPr>
    <p:cSldViewPr snapToGrid="0">
      <p:cViewPr varScale="1">
        <p:scale>
          <a:sx n="122" d="100"/>
          <a:sy n="122" d="100"/>
        </p:scale>
        <p:origin x="3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2025/12/1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038803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2025/12/1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0647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2025/12/1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10778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2025/12/1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7821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2025/12/1</a:t>
            </a:fld>
            <a:endParaRPr kumimoji="1"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17698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2025/12/1</a:t>
            </a:fld>
            <a:endParaRPr kumimoji="1"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4513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2025/12/1</a:t>
            </a:fld>
            <a:endParaRPr kumimoji="1"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44930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2025/12/1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854702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74133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2025/12/1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89601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2025/12/1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667092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2025/12/1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379925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2025/12/1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18035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2025/12/1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933228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2025/12/1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733760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2025/12/1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83720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B63CC-3986-A348-B522-7E03CA4B0442}" type="datetimeFigureOut">
              <a:rPr kumimoji="1" lang="zh-TW" altLang="en-US" smtClean="0"/>
              <a:t>2025/12/1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44729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6" r:id="rId1"/>
    <p:sldLayoutId id="2147483877" r:id="rId2"/>
    <p:sldLayoutId id="2147483878" r:id="rId3"/>
    <p:sldLayoutId id="2147483879" r:id="rId4"/>
    <p:sldLayoutId id="2147483880" r:id="rId5"/>
    <p:sldLayoutId id="2147483881" r:id="rId6"/>
    <p:sldLayoutId id="2147483882" r:id="rId7"/>
    <p:sldLayoutId id="2147483883" r:id="rId8"/>
    <p:sldLayoutId id="2147483884" r:id="rId9"/>
    <p:sldLayoutId id="2147483885" r:id="rId10"/>
    <p:sldLayoutId id="2147483886" r:id="rId11"/>
    <p:sldLayoutId id="2147483887" r:id="rId12"/>
    <p:sldLayoutId id="2147483888" r:id="rId13"/>
    <p:sldLayoutId id="2147483889" r:id="rId14"/>
    <p:sldLayoutId id="2147483890" r:id="rId15"/>
    <p:sldLayoutId id="214748389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ny.gov/Human-Services/Patient-Characteristics-Survey-PCS-2019/urn3-ezfe/about_data" TargetMode="External"/><Relationship Id="rId2" Type="http://schemas.openxmlformats.org/officeDocument/2006/relationships/hyperlink" Target="https://github.com/daniasalman6/Project-Data-Mining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3EA046-62E9-874E-BEE2-11E963BA9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1612054"/>
            <a:ext cx="7766936" cy="1646302"/>
          </a:xfrm>
        </p:spPr>
        <p:txBody>
          <a:bodyPr/>
          <a:lstStyle/>
          <a:p>
            <a:pPr algn="l"/>
            <a:r>
              <a:rPr lang="en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Mental Health Patterns and Living Situations in New York State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16BB889-F454-2CB7-2E78-AAB5EBDED7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3806231"/>
            <a:ext cx="7766936" cy="1646302"/>
          </a:xfrm>
        </p:spPr>
        <p:txBody>
          <a:bodyPr>
            <a:normAutofit/>
          </a:bodyPr>
          <a:lstStyle/>
          <a:p>
            <a:pPr algn="ctr"/>
            <a:r>
              <a:rPr lang="en-IN" altLang="zh-TW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Dania Salman</a:t>
            </a:r>
          </a:p>
          <a:p>
            <a:pPr algn="ctr"/>
            <a:r>
              <a:rPr lang="en-IN" altLang="zh-TW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HENG-JUI CHU</a:t>
            </a:r>
          </a:p>
          <a:p>
            <a:pPr algn="ctr"/>
            <a:r>
              <a:rPr lang="en-IN" altLang="zh-TW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Emma Francis</a:t>
            </a:r>
          </a:p>
          <a:p>
            <a:pPr algn="ctr"/>
            <a:endParaRPr kumimoji="1" lang="zh-TW" alt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357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891BC3-7AFE-2384-DEB3-129363961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 Links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B474D46-9BC6-2BDD-7BA8-C30AE216F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Hub:</a:t>
            </a:r>
          </a:p>
          <a:p>
            <a:pPr marL="0" indent="0">
              <a:buNone/>
            </a:pPr>
            <a:r>
              <a:rPr kumimoji="1" lang="en-US" altLang="zh-TW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https://github.com/daniasalman6/Project-Data-Mining</a:t>
            </a:r>
            <a:endParaRPr kumimoji="1"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kumimoji="1"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Link:</a:t>
            </a:r>
          </a:p>
          <a:p>
            <a:pPr marL="0" indent="0">
              <a:buNone/>
            </a:pPr>
            <a:r>
              <a:rPr kumimoji="1" lang="en-US" altLang="zh-TW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https://data.ny.gov/Human-Services/Patient-Characteristics-Survey-PCS-2019/urn3-ezfe/about_data</a:t>
            </a:r>
            <a:endParaRPr kumimoji="1"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PCS 2019 dataset provides comprehensive information on mental health services and client characteristics across New York State.</a:t>
            </a:r>
          </a:p>
          <a:p>
            <a:pPr marL="0" indent="0">
              <a:buNone/>
            </a:pP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kumimoji="1"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53650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CD19F-E01E-3D48-753B-9D656EBDA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FB6820-A860-9329-7C80-A2FDFE346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55CBFD-61CB-C6F0-4B9F-8C78BD30C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/>
          </a:bodyPr>
          <a:lstStyle/>
          <a:p>
            <a:r>
              <a:rPr lang="en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 “Unknown” to missing values</a:t>
            </a:r>
          </a:p>
          <a:p>
            <a:r>
              <a:rPr kumimoji="1" lang="en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 missing values</a:t>
            </a:r>
            <a:endParaRPr kumimoji="1" lang="en-US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kumimoji="1"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146737 observations after data cleaning</a:t>
            </a:r>
            <a:endParaRPr kumimoji="1" lang="en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6725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14A05-4AD5-A7DA-D25B-F3B6AAC29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0FFB76-1144-302C-02EB-F44BA8505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1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089B9FB-E92A-1D10-614D-C2AA1F187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kumimoji="1"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511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C9559-9D56-282D-1248-6382FA80B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AC2D4F-2869-59AF-3DA2-1A234C52C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2</a:t>
            </a:r>
            <a:b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ADB854-6B60-B180-740D-C54E8522B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" altLang="zh-TW" sz="2800" dirty="0"/>
          </a:p>
        </p:txBody>
      </p:sp>
    </p:spTree>
    <p:extLst>
      <p:ext uri="{BB962C8B-B14F-4D97-AF65-F5344CB8AC3E}">
        <p14:creationId xmlns:p14="http://schemas.microsoft.com/office/powerpoint/2010/main" val="3758931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60669-C47B-CB10-3FF9-03E3FC00E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89DB35-23E6-6A55-8D66-90AB7C06F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3</a:t>
            </a:r>
            <a:b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DC3A38-28DE-0E20-B548-F87A7A94D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effectively can employment and related socioeconomic variables predict an individual’s living situation category in New York State using PCS 2019?</a:t>
            </a:r>
          </a:p>
          <a:p>
            <a:pPr marL="0" indent="0">
              <a:buNone/>
            </a:pPr>
            <a:endParaRPr kumimoji="1" lang="en-US" altLang="zh-TW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1850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E5E5E-07B2-D377-D854-81E9DF0E7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1FA20D-D7F1-50C5-8DC1-5FAFA1B36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Variables Description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A18CA6-AF8F-CCA2-0BD8-5B3B34C64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9399" y="1595120"/>
            <a:ext cx="999066" cy="335280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kumimoji="1"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2AF84E7-EFBA-4B16-45AA-A50BE317BE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79" y="1972363"/>
            <a:ext cx="2665306" cy="943557"/>
          </a:xfrm>
          <a:prstGeom prst="rect">
            <a:avLst/>
          </a:prstGeom>
        </p:spPr>
      </p:pic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D74894E3-5B07-678F-8B1A-37B2A888AC22}"/>
              </a:ext>
            </a:extLst>
          </p:cNvPr>
          <p:cNvSpPr txBox="1">
            <a:spLocks/>
          </p:cNvSpPr>
          <p:nvPr/>
        </p:nvSpPr>
        <p:spPr>
          <a:xfrm>
            <a:off x="6572212" y="1595120"/>
            <a:ext cx="999066" cy="33528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kumimoji="1"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52AD969-0B16-562F-A9DF-5DF90A372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127" y="1972363"/>
            <a:ext cx="3707506" cy="448056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843048C3-76C1-256F-BA0F-A5572DBA1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2163" y="1972363"/>
            <a:ext cx="2097155" cy="3976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2854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04ACE-F3C8-1924-D512-35FECEE3A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A2FCE7-440D-D78F-2BFB-3B4F294C0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Correlation Test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35D44388-AC52-05E3-0AC5-AF25388483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0833" y="1259840"/>
            <a:ext cx="5293229" cy="5424739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5475E61-2D98-9978-6D9E-86293C90327C}"/>
              </a:ext>
            </a:extLst>
          </p:cNvPr>
          <p:cNvSpPr txBox="1"/>
          <p:nvPr/>
        </p:nvSpPr>
        <p:spPr>
          <a:xfrm>
            <a:off x="6004062" y="2844224"/>
            <a:ext cx="4025204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 Group with Education Status: 0.6</a:t>
            </a:r>
          </a:p>
          <a:p>
            <a:endParaRPr kumimoji="1"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kumimoji="1"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Medicaid Insurance with Private Insurance: 0.58</a:t>
            </a:r>
          </a:p>
          <a:p>
            <a:endParaRPr kumimoji="1"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kumimoji="1"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Medicare Insurance with SSDI Cash Assistance: 0.52</a:t>
            </a:r>
            <a:endParaRPr kumimoji="1" lang="zh-TW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00374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D3DD9-D89A-F2EB-6919-CE70849E1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1FFC7-C6FB-AC05-5AD6-BB620C7C5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B212666-7B97-BEEF-8789-AE8AD0413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930400"/>
            <a:ext cx="3897575" cy="13208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ABA0DA9-BC6F-433C-91E9-85C81D3D6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4598" y="1272628"/>
            <a:ext cx="4559300" cy="3911600"/>
          </a:xfrm>
          <a:prstGeom prst="rect">
            <a:avLst/>
          </a:prstGeom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94B32B22-CEAC-BE90-A16C-B177269632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148" y="5186571"/>
            <a:ext cx="9360255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F1-score (0.58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Overall performance remains limited under imbalance.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nstitutional Setting: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Precision very low (0.02), showing poor identification of this minority class.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Living Situation: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Recall moderate (0.52) but precision low (0.27).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Private Residence: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Precision high (0.93) but recall only moderate (0.48).</a:t>
            </a:r>
          </a:p>
        </p:txBody>
      </p:sp>
    </p:spTree>
    <p:extLst>
      <p:ext uri="{BB962C8B-B14F-4D97-AF65-F5344CB8AC3E}">
        <p14:creationId xmlns:p14="http://schemas.microsoft.com/office/powerpoint/2010/main" val="462338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282A0-C32F-8BDA-F2DC-9F9846A68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2AA46E-1690-E21E-13FB-BEC4044F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685D053-CCC1-5835-7C39-C526DEA0D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617980"/>
            <a:ext cx="3945466" cy="1905289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ED3A259-C8DF-4798-953E-818189938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151" y="856922"/>
            <a:ext cx="4744720" cy="4070679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F7FFD6E1-5870-B0FF-7B4C-EF8F100CD1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872" y="5204360"/>
            <a:ext cx="856106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F1-score (0.62) </a:t>
            </a:r>
            <a:r>
              <a:rPr lang="en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 performance improves but is still limited by imbalance.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nstitutional Setting: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Precision extremely low (0.02) despite higher recall (0.58).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Living Situation: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Recall strong (0.70) but precision moderate (0.33).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Private Residence: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Precision very high (0.94) with moderate recall (0.51).</a:t>
            </a:r>
          </a:p>
        </p:txBody>
      </p:sp>
    </p:spTree>
    <p:extLst>
      <p:ext uri="{BB962C8B-B14F-4D97-AF65-F5344CB8AC3E}">
        <p14:creationId xmlns:p14="http://schemas.microsoft.com/office/powerpoint/2010/main" val="1315603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E4377-4642-9750-1645-C98DF315F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47D5DD-8C31-C84D-0F33-BDD8180D5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SMOTE + Random Forest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34A3F98-B750-D33A-27B1-436185CE0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460" y="1930400"/>
            <a:ext cx="2514600" cy="252730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A2235663-5921-5F74-DAA0-74B3D65800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440" y="2057400"/>
            <a:ext cx="6045200" cy="227330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96A93556-3242-BFBD-630F-6CABBBFA571F}"/>
              </a:ext>
            </a:extLst>
          </p:cNvPr>
          <p:cNvSpPr txBox="1"/>
          <p:nvPr/>
        </p:nvSpPr>
        <p:spPr>
          <a:xfrm>
            <a:off x="510988" y="4759823"/>
            <a:ext cx="981635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F1-score(0.63) </a:t>
            </a:r>
            <a:r>
              <a:rPr lang="en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model shows improved and more balanced performance after applying SMOTE.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Institutional Setting: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Recall improves to 0.52, though precision remains low (0.02).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Living Situation: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Solid performance with recall at 0.69 and precision at 0.33.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Private Residence: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Strong results with precision of 0.93 and improved recall of 0.53.</a:t>
            </a:r>
          </a:p>
          <a:p>
            <a:br>
              <a:rPr lang="en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1697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AE12B-733A-1C1D-B923-4E7016BF4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943BF-601C-F585-CC08-A5026AA67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SMOTE + Random Forest - </a:t>
            </a:r>
            <a:r>
              <a:rPr kumimoji="1" lang="en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Importance</a:t>
            </a:r>
            <a:br>
              <a:rPr lang="en" altLang="zh-TW" dirty="0"/>
            </a:b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3226CEE-ACEC-4D1E-1992-318343AEF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910" y="1351281"/>
            <a:ext cx="8948677" cy="357632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AC5FA890-7A04-6DE7-BCC0-3F168FC55782}"/>
              </a:ext>
            </a:extLst>
          </p:cNvPr>
          <p:cNvSpPr txBox="1"/>
          <p:nvPr/>
        </p:nvSpPr>
        <p:spPr>
          <a:xfrm>
            <a:off x="1327896" y="5207617"/>
            <a:ext cx="83001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Employment status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is the strongest predictor.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Insurance coverage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cash assistance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also rank highly.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Age</a:t>
            </a:r>
            <a:r>
              <a:rPr kumimoji="0" lang="zh-TW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(Child)</a:t>
            </a: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and education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contribute smaller but meaningful signals.</a:t>
            </a:r>
          </a:p>
        </p:txBody>
      </p:sp>
    </p:spTree>
    <p:extLst>
      <p:ext uri="{BB962C8B-B14F-4D97-AF65-F5344CB8AC3E}">
        <p14:creationId xmlns:p14="http://schemas.microsoft.com/office/powerpoint/2010/main" val="36395626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3DD6C-74B6-A2ED-4EEE-80D97A224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61185C-DEE3-C661-0CB7-2BDF7166C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3241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F745E-B205-9F11-6706-58E4491B2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B93F13-6275-0C9C-4211-C9C1A60D9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 and Next Step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B0C8911-6D1C-98C7-13E7-CEEB063867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 lnSpcReduction="10000"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Severe class imbalance makes minority groups hard to model.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Only categorical variables with many small levels increase overfitting risk.</a:t>
            </a:r>
          </a:p>
          <a:p>
            <a:pPr>
              <a:buFont typeface="Wingdings" pitchFamily="2" charset="2"/>
              <a:buChar char="p"/>
            </a:pPr>
            <a:endParaRPr kumimoji="1" lang="en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en-US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Remove imbalance data or </a:t>
            </a:r>
            <a:r>
              <a:rPr lang="en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try</a:t>
            </a:r>
            <a:r>
              <a:rPr lang="zh-TW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 advanced imbalance methods like Balanced RF or XGBoost with weights.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Add continuous variables to strengthen </a:t>
            </a:r>
            <a:r>
              <a:rPr lang="en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the predictive</a:t>
            </a:r>
            <a:r>
              <a:rPr lang="zh-TW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 signal.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Analyze minority groups separately to avoid majority-class dominance.</a:t>
            </a:r>
          </a:p>
          <a:p>
            <a:pPr>
              <a:buFont typeface="Wingdings" pitchFamily="2" charset="2"/>
              <a:buChar char="p"/>
            </a:pPr>
            <a:endParaRPr kumimoji="1" lang="en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97F64AAF-60DB-C701-C50F-3CBCB4E9F6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60400EEE-D63B-3003-13CA-1BB8118BC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07969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0CC05016-0DCB-5FFB-772D-EFC3DD0D1957}"/>
              </a:ext>
            </a:extLst>
          </p:cNvPr>
          <p:cNvSpPr txBox="1"/>
          <p:nvPr/>
        </p:nvSpPr>
        <p:spPr>
          <a:xfrm>
            <a:off x="2246587" y="2321004"/>
            <a:ext cx="6101254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1" lang="en-US" altLang="zh-TW" sz="13800" b="1" dirty="0">
                <a:solidFill>
                  <a:schemeClr val="accent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END</a:t>
            </a:r>
            <a:endParaRPr kumimoji="1" lang="en" altLang="zh-TW" sz="13800" b="1" dirty="0">
              <a:solidFill>
                <a:schemeClr val="accent1"/>
              </a:solidFill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538148"/>
      </p:ext>
    </p:extLst>
  </p:cSld>
  <p:clrMapOvr>
    <a:masterClrMapping/>
  </p:clrMapOvr>
</p:sld>
</file>

<file path=ppt/theme/theme1.xml><?xml version="1.0" encoding="utf-8"?>
<a:theme xmlns:a="http://schemas.openxmlformats.org/drawingml/2006/main" name="多面向">
  <a:themeElements>
    <a:clrScheme name="多面向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多面向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多面向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{0FFBD485-89BE-4C40-BD94-5869DE7AD0FA}tf10001060</Template>
  <TotalTime>176</TotalTime>
  <Words>446</Words>
  <Application>Microsoft Macintosh PowerPoint</Application>
  <PresentationFormat>寬螢幕</PresentationFormat>
  <Paragraphs>60</Paragraphs>
  <Slides>15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1" baseType="lpstr">
      <vt:lpstr>Arial</vt:lpstr>
      <vt:lpstr>Times New Roman</vt:lpstr>
      <vt:lpstr>Trebuchet MS</vt:lpstr>
      <vt:lpstr>Wingdings</vt:lpstr>
      <vt:lpstr>Wingdings 3</vt:lpstr>
      <vt:lpstr>多面向</vt:lpstr>
      <vt:lpstr>Mental Health Patterns and Living Situations in New York State</vt:lpstr>
      <vt:lpstr>Source Links</vt:lpstr>
      <vt:lpstr>Data cleaning</vt:lpstr>
      <vt:lpstr>Smart Question 1</vt:lpstr>
      <vt:lpstr>Smart Question 2 </vt:lpstr>
      <vt:lpstr>Smart Question 3 </vt:lpstr>
      <vt:lpstr>Variables Description</vt:lpstr>
      <vt:lpstr>Correlation Test</vt:lpstr>
      <vt:lpstr>Logistic Regression</vt:lpstr>
      <vt:lpstr>Random Forest</vt:lpstr>
      <vt:lpstr>SMOTE + Random Forest</vt:lpstr>
      <vt:lpstr>SMOTE + Random Forest - Feature Importance </vt:lpstr>
      <vt:lpstr>Conclusion</vt:lpstr>
      <vt:lpstr>Limitations and Next Step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恒瑞 朱</dc:creator>
  <cp:lastModifiedBy>恒瑞 朱</cp:lastModifiedBy>
  <cp:revision>1</cp:revision>
  <dcterms:created xsi:type="dcterms:W3CDTF">2025-12-02T00:53:55Z</dcterms:created>
  <dcterms:modified xsi:type="dcterms:W3CDTF">2025-12-02T03:50:48Z</dcterms:modified>
</cp:coreProperties>
</file>