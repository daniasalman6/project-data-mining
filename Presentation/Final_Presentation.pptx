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5" r:id="rId1"/>
  </p:sldMasterIdLst>
  <p:notesMasterIdLst>
    <p:notesMasterId r:id="rId33"/>
  </p:notesMasterIdLst>
  <p:sldIdLst>
    <p:sldId id="256" r:id="rId2"/>
    <p:sldId id="257" r:id="rId3"/>
    <p:sldId id="270" r:id="rId4"/>
    <p:sldId id="276" r:id="rId5"/>
    <p:sldId id="258" r:id="rId6"/>
    <p:sldId id="277" r:id="rId7"/>
    <p:sldId id="286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68" r:id="rId17"/>
    <p:sldId id="264" r:id="rId18"/>
    <p:sldId id="287" r:id="rId19"/>
    <p:sldId id="288" r:id="rId20"/>
    <p:sldId id="289" r:id="rId21"/>
    <p:sldId id="290" r:id="rId22"/>
    <p:sldId id="291" r:id="rId23"/>
    <p:sldId id="263" r:id="rId24"/>
    <p:sldId id="265" r:id="rId25"/>
    <p:sldId id="260" r:id="rId26"/>
    <p:sldId id="261" r:id="rId27"/>
    <p:sldId id="266" r:id="rId28"/>
    <p:sldId id="267" r:id="rId29"/>
    <p:sldId id="273" r:id="rId30"/>
    <p:sldId id="269" r:id="rId31"/>
    <p:sldId id="275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1A290C-676C-8658-1848-ABDED01A3298}" v="161" dt="2025-12-04T04:30:01.922"/>
    <p1510:client id="{69717D19-0AEE-0EFE-62AC-6A715FBD96BB}" v="1059" dt="2025-12-03T19:26:52.822"/>
    <p1510:client id="{B7D17B82-5527-4661-8B13-DC96109D97FA}" v="23" dt="2025-12-04T04:37:01.4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 Francis" userId="1a28f87ee4f117f1" providerId="LiveId" clId="{41D06EC1-1E87-41B1-83A3-CDDFA7DD00B1}"/>
    <pc:docChg chg="addSld delSld modSld sldOrd">
      <pc:chgData name="Emma Francis" userId="1a28f87ee4f117f1" providerId="LiveId" clId="{41D06EC1-1E87-41B1-83A3-CDDFA7DD00B1}" dt="2025-12-04T04:37:09.196" v="34" actId="1076"/>
      <pc:docMkLst>
        <pc:docMk/>
      </pc:docMkLst>
      <pc:sldChg chg="ord">
        <pc:chgData name="Emma Francis" userId="1a28f87ee4f117f1" providerId="LiveId" clId="{41D06EC1-1E87-41B1-83A3-CDDFA7DD00B1}" dt="2025-12-04T04:35:10.749" v="1"/>
        <pc:sldMkLst>
          <pc:docMk/>
          <pc:sldMk cId="4124866369" sldId="276"/>
        </pc:sldMkLst>
      </pc:sldChg>
      <pc:sldChg chg="addSp modSp mod">
        <pc:chgData name="Emma Francis" userId="1a28f87ee4f117f1" providerId="LiveId" clId="{41D06EC1-1E87-41B1-83A3-CDDFA7DD00B1}" dt="2025-12-04T04:36:24.454" v="18" actId="1076"/>
        <pc:sldMkLst>
          <pc:docMk/>
          <pc:sldMk cId="1919978328" sldId="278"/>
        </pc:sldMkLst>
        <pc:spChg chg="add mod">
          <ac:chgData name="Emma Francis" userId="1a28f87ee4f117f1" providerId="LiveId" clId="{41D06EC1-1E87-41B1-83A3-CDDFA7DD00B1}" dt="2025-12-04T04:36:24.454" v="18" actId="1076"/>
          <ac:spMkLst>
            <pc:docMk/>
            <pc:sldMk cId="1919978328" sldId="278"/>
            <ac:spMk id="3" creationId="{227C44DD-CFC5-3227-55FE-A98F29178CAE}"/>
          </ac:spMkLst>
        </pc:spChg>
      </pc:sldChg>
      <pc:sldChg chg="addSp modSp mod">
        <pc:chgData name="Emma Francis" userId="1a28f87ee4f117f1" providerId="LiveId" clId="{41D06EC1-1E87-41B1-83A3-CDDFA7DD00B1}" dt="2025-12-04T04:36:37.893" v="24" actId="1076"/>
        <pc:sldMkLst>
          <pc:docMk/>
          <pc:sldMk cId="628236639" sldId="280"/>
        </pc:sldMkLst>
        <pc:spChg chg="add mod">
          <ac:chgData name="Emma Francis" userId="1a28f87ee4f117f1" providerId="LiveId" clId="{41D06EC1-1E87-41B1-83A3-CDDFA7DD00B1}" dt="2025-12-04T04:36:37.893" v="24" actId="1076"/>
          <ac:spMkLst>
            <pc:docMk/>
            <pc:sldMk cId="628236639" sldId="280"/>
            <ac:spMk id="3" creationId="{706C2A66-8250-DEC4-A22C-9E38B5FD9BD2}"/>
          </ac:spMkLst>
        </pc:spChg>
      </pc:sldChg>
      <pc:sldChg chg="addSp modSp mod">
        <pc:chgData name="Emma Francis" userId="1a28f87ee4f117f1" providerId="LiveId" clId="{41D06EC1-1E87-41B1-83A3-CDDFA7DD00B1}" dt="2025-12-04T04:36:45.262" v="26" actId="1076"/>
        <pc:sldMkLst>
          <pc:docMk/>
          <pc:sldMk cId="4272821383" sldId="282"/>
        </pc:sldMkLst>
        <pc:spChg chg="add mod">
          <ac:chgData name="Emma Francis" userId="1a28f87ee4f117f1" providerId="LiveId" clId="{41D06EC1-1E87-41B1-83A3-CDDFA7DD00B1}" dt="2025-12-04T04:36:45.262" v="26" actId="1076"/>
          <ac:spMkLst>
            <pc:docMk/>
            <pc:sldMk cId="4272821383" sldId="282"/>
            <ac:spMk id="3" creationId="{9B45FEDF-8BD1-1FB8-D2F4-4294987249EC}"/>
          </ac:spMkLst>
        </pc:spChg>
      </pc:sldChg>
      <pc:sldChg chg="addSp modSp mod">
        <pc:chgData name="Emma Francis" userId="1a28f87ee4f117f1" providerId="LiveId" clId="{41D06EC1-1E87-41B1-83A3-CDDFA7DD00B1}" dt="2025-12-04T04:37:09.196" v="34" actId="1076"/>
        <pc:sldMkLst>
          <pc:docMk/>
          <pc:sldMk cId="2298523515" sldId="284"/>
        </pc:sldMkLst>
        <pc:spChg chg="add mod">
          <ac:chgData name="Emma Francis" userId="1a28f87ee4f117f1" providerId="LiveId" clId="{41D06EC1-1E87-41B1-83A3-CDDFA7DD00B1}" dt="2025-12-04T04:37:09.196" v="34" actId="1076"/>
          <ac:spMkLst>
            <pc:docMk/>
            <pc:sldMk cId="2298523515" sldId="284"/>
            <ac:spMk id="3" creationId="{4C7EEB31-7267-0573-02A1-149D77746ECC}"/>
          </ac:spMkLst>
        </pc:spChg>
      </pc:sldChg>
      <pc:sldChg chg="ord">
        <pc:chgData name="Emma Francis" userId="1a28f87ee4f117f1" providerId="LiveId" clId="{41D06EC1-1E87-41B1-83A3-CDDFA7DD00B1}" dt="2025-12-04T04:35:21.461" v="3"/>
        <pc:sldMkLst>
          <pc:docMk/>
          <pc:sldMk cId="1748006529" sldId="286"/>
        </pc:sldMkLst>
      </pc:sldChg>
      <pc:sldChg chg="add del">
        <pc:chgData name="Emma Francis" userId="1a28f87ee4f117f1" providerId="LiveId" clId="{41D06EC1-1E87-41B1-83A3-CDDFA7DD00B1}" dt="2025-12-04T04:36:52.636" v="28"/>
        <pc:sldMkLst>
          <pc:docMk/>
          <pc:sldMk cId="2949452965" sldId="2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F179CE-8438-496C-8BC1-59B621BFFEB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5E0D09-A73B-45C7-9595-EA62676DC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8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 correlation is above 0.51, so I do not think multicollinearity needs to be addressed.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5417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logistic regression highlights the class imbalance of the data. The accuracy of the model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appears to be 97%. However, the model does not identify those who do not have a mental illness.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AUC of 0.67 demonstrates that the logistic regression had modest discriminative ability.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current model is not suitable for the data due to the class imbalance.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966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independent/demographic variables do not explain sufficient variation in mental illness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prevalence. This model does not predict those without mental illness since there is significant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class imbalance. 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3872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When class imbalance is accounted for, a decent amount of individuals who do not have a mental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illness are identified. The model accuracy is now 76%, but identifies those without a mental illness.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demographic/independent variables have modest predictive power now. 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32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improved logistic regression suggests that being older decreases the chance of having a mental illness, cohabitating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with others and substance use minimally increases the risk of having a mental illness. All demographic variables have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small impacts on mental illnesses.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33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Random Forest model also had an accuracy of 97% and an AUC of 0.69, again having some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discriminative ability. This model also suffers from the class imbalance, having a recall of 0.04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for individuals without a mental illness. This model is extremely biased toward those who do have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 mental illness.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462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random forest model demonstrates that region served, education status, and race are the most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significant predictors of mental illness. Sexual orientation, household composition, and age group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have some importance on the model. Sex, alcohol related disorder, drug substance disorder, and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veteran status do not contribute much to the model's predictions. 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723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When the class is balanced, the random forest model had a 75% accuracy and an AUC of 0.68.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recall for those without a mental illness is 0.55 which improved from 0.04.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1309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Region served, education status, and age group are the most influential predictors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of mental illness. Race, sexual orientation, and household consumption have some importance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on predicting mental illness. Sex, </a:t>
            </a:r>
            <a:r>
              <a:rPr lang="en-US" sz="1200" b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alchohol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related disorder, drug substance disorder, and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veteran status did not contribute much to the model.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2547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The model accuracy is 76%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The demographic variables have modest predictive power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664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3880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647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0778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7821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17698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4513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4930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54702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4133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89601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66709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7992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8035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933228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733760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83720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44729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6" r:id="rId1"/>
    <p:sldLayoutId id="2147483877" r:id="rId2"/>
    <p:sldLayoutId id="2147483878" r:id="rId3"/>
    <p:sldLayoutId id="2147483879" r:id="rId4"/>
    <p:sldLayoutId id="2147483880" r:id="rId5"/>
    <p:sldLayoutId id="2147483881" r:id="rId6"/>
    <p:sldLayoutId id="2147483882" r:id="rId7"/>
    <p:sldLayoutId id="2147483883" r:id="rId8"/>
    <p:sldLayoutId id="2147483884" r:id="rId9"/>
    <p:sldLayoutId id="2147483885" r:id="rId10"/>
    <p:sldLayoutId id="2147483886" r:id="rId11"/>
    <p:sldLayoutId id="2147483887" r:id="rId12"/>
    <p:sldLayoutId id="2147483888" r:id="rId13"/>
    <p:sldLayoutId id="2147483889" r:id="rId14"/>
    <p:sldLayoutId id="2147483890" r:id="rId15"/>
    <p:sldLayoutId id="214748389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ny.gov/Human-Services/Patient-Characteristics-Survey-PCS-2019/urn3-ezfe/about_data" TargetMode="External"/><Relationship Id="rId2" Type="http://schemas.openxmlformats.org/officeDocument/2006/relationships/hyperlink" Target="https://github.com/daniasalman6/Project-Data-Minin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3EA046-62E9-874E-BEE2-11E963BA9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1612054"/>
            <a:ext cx="7766936" cy="1646302"/>
          </a:xfrm>
        </p:spPr>
        <p:txBody>
          <a:bodyPr/>
          <a:lstStyle/>
          <a:p>
            <a:pPr algn="l"/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Mental Health Patterns and Living Situations in New York State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BB889-F454-2CB7-2E78-AAB5EBDED7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3806231"/>
            <a:ext cx="7766936" cy="1646302"/>
          </a:xfrm>
        </p:spPr>
        <p:txBody>
          <a:bodyPr>
            <a:normAutofit/>
          </a:bodyPr>
          <a:lstStyle/>
          <a:p>
            <a:pPr algn="ctr"/>
            <a:r>
              <a:rPr lang="en-IN" altLang="zh-TW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Dania Salman</a:t>
            </a:r>
          </a:p>
          <a:p>
            <a:pPr algn="ctr"/>
            <a:r>
              <a:rPr lang="en-IN" altLang="zh-TW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HENG-JUI CHU</a:t>
            </a:r>
          </a:p>
          <a:p>
            <a:pPr algn="ctr"/>
            <a:r>
              <a:rPr lang="en-IN" altLang="zh-TW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Emma Francis</a:t>
            </a:r>
          </a:p>
          <a:p>
            <a:pPr algn="ctr"/>
            <a:endParaRPr kumimoji="1" lang="zh-TW" altLang="en-US" sz="2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57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891BC3-7AFE-2384-DEB3-12936396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Source Links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474D46-9BC6-2BDD-7BA8-C30AE216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Git Hub:</a:t>
            </a:r>
          </a:p>
          <a:p>
            <a:pPr marL="0" indent="0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https://github.com/daniasalman6/Project-Data-Mining</a:t>
            </a:r>
            <a:endParaRPr kumimoji="1"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kumimoji="1"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Dataset Link:</a:t>
            </a:r>
          </a:p>
          <a:p>
            <a:pPr marL="0" indent="0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https://data.ny.gov/Human-Services/Patient-Characteristics-Survey-PCS-2019/urn3-ezfe/about_data</a:t>
            </a:r>
            <a:endParaRPr kumimoji="1"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The PCS 2019 dataset provides comprehensive information on mental health services and client characteristics across New York State.</a:t>
            </a:r>
          </a:p>
          <a:p>
            <a:pPr marL="0" indent="0">
              <a:buNone/>
            </a:pPr>
            <a:endParaRPr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3650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CD19F-E01E-3D48-753B-9D656EBDA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FB6820-A860-9329-7C80-A2FDFE346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55CBFD-61CB-C6F0-4B9F-8C78BD30C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8993363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" altLang="zh-TW" sz="2400">
                <a:latin typeface="Times New Roman"/>
                <a:ea typeface="微軟正黑體"/>
                <a:cs typeface="Times New Roman"/>
              </a:rPr>
              <a:t>Subset and filter data using column names and specific conditions</a:t>
            </a:r>
          </a:p>
          <a:p>
            <a:r>
              <a:rPr lang="en" altLang="zh-TW" sz="2400">
                <a:latin typeface="Times New Roman"/>
                <a:ea typeface="微軟正黑體"/>
                <a:cs typeface="Times New Roman"/>
              </a:rPr>
              <a:t>Convert “Unknown” to missing values in some cases</a:t>
            </a:r>
            <a:endParaRPr lang="en">
              <a:latin typeface="Times New Roman"/>
              <a:ea typeface="微軟正黑體"/>
              <a:cs typeface="Times New Roman"/>
            </a:endParaRPr>
          </a:p>
          <a:p>
            <a:r>
              <a:rPr kumimoji="1" lang="en" altLang="zh-TW" sz="2400">
                <a:latin typeface="Times New Roman" panose="02020603050405020304" pitchFamily="18" charset="0"/>
                <a:cs typeface="Times New Roman" panose="02020603050405020304" pitchFamily="18" charset="0"/>
              </a:rPr>
              <a:t>Remove missing values</a:t>
            </a:r>
            <a:endParaRPr kumimoji="1" lang="en-US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" altLang="zh-TW" sz="2400">
                <a:latin typeface="Times New Roman"/>
                <a:ea typeface="微軟正黑體"/>
                <a:cs typeface="Times New Roman"/>
              </a:rPr>
              <a:t>Encode Categorical variables </a:t>
            </a:r>
            <a:endParaRPr kumimoji="1" lang="en" altLang="zh-TW" sz="2400">
              <a:latin typeface="Times New Roman"/>
              <a:ea typeface="微軟正黑體"/>
              <a:cs typeface="Times New Roman"/>
            </a:endParaRPr>
          </a:p>
          <a:p>
            <a:r>
              <a:rPr kumimoji="1" lang="en-US" altLang="zh-TW" sz="2400">
                <a:latin typeface="Times New Roman" panose="02020603050405020304" pitchFamily="18" charset="0"/>
                <a:cs typeface="Times New Roman" panose="02020603050405020304" pitchFamily="18" charset="0"/>
              </a:rPr>
              <a:t>146737 observations after data cleaning</a:t>
            </a:r>
            <a:endParaRPr kumimoji="1" lang="en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6725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27BB7-7700-3D3C-64FD-707B00D5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200"/>
              <a:t>Class Imbalance: Over 90% of individuals in New York reported having a mental illness</a:t>
            </a:r>
            <a:br>
              <a:rPr lang="en-US"/>
            </a:b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62CCF8-A433-07DB-ED3B-BD2CB394B8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4880" y="1373652"/>
            <a:ext cx="6461760" cy="518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866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14A05-4AD5-A7DA-D25B-F3B6AAC29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0FFB76-1144-302C-02EB-F44BA8505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1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089B9FB-E92A-1D10-614D-C2AA1F187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sz="3200">
                <a:latin typeface="Times New Roman" panose="02020603050405020304" pitchFamily="18" charset="0"/>
                <a:cs typeface="Times New Roman" panose="02020603050405020304" pitchFamily="18" charset="0"/>
              </a:rPr>
              <a:t>How well can demographic characteristics predict whether an adult has a diagnosed mental illness in New York State using PCS 2019 data?</a:t>
            </a:r>
          </a:p>
        </p:txBody>
      </p:sp>
    </p:spTree>
    <p:extLst>
      <p:ext uri="{BB962C8B-B14F-4D97-AF65-F5344CB8AC3E}">
        <p14:creationId xmlns:p14="http://schemas.microsoft.com/office/powerpoint/2010/main" val="240251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A0C91-67B7-9BF3-A388-D2A6F4CBE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/>
              <a:t>Mental health prevalence is roughly the same among all races and genders…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60255A-83AF-CB26-4852-8EDB51759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709" y="1270000"/>
            <a:ext cx="5217331" cy="258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B1002A-E251-CE79-4D06-07F0DA0A91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87709" y="3956951"/>
            <a:ext cx="5217331" cy="257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3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013A9-5EAC-67F8-2AEA-9F6F1D190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Correlation Matrix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E2A1D-A53E-06D7-EDD9-1E2AC1ED4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643247"/>
            <a:ext cx="5982962" cy="47067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B88395-FC3E-6AB9-8BAF-C89469E40847}"/>
              </a:ext>
            </a:extLst>
          </p:cNvPr>
          <p:cNvSpPr txBox="1"/>
          <p:nvPr/>
        </p:nvSpPr>
        <p:spPr>
          <a:xfrm>
            <a:off x="6660296" y="3630585"/>
            <a:ext cx="337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*No correlation is above 0.51</a:t>
            </a:r>
          </a:p>
        </p:txBody>
      </p:sp>
    </p:spTree>
    <p:extLst>
      <p:ext uri="{BB962C8B-B14F-4D97-AF65-F5344CB8AC3E}">
        <p14:creationId xmlns:p14="http://schemas.microsoft.com/office/powerpoint/2010/main" val="1748006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DCDDC-DB85-6D2E-64B2-5B81F71B9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Logistic Regression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FEF64C-D530-53AF-577C-C65696F6E1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12279" y="2011415"/>
            <a:ext cx="5726441" cy="45766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7C44DD-CFC5-3227-55FE-A98F29178CAE}"/>
              </a:ext>
            </a:extLst>
          </p:cNvPr>
          <p:cNvSpPr txBox="1"/>
          <p:nvPr/>
        </p:nvSpPr>
        <p:spPr>
          <a:xfrm>
            <a:off x="7894320" y="3630137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Accuracy: 97%</a:t>
            </a:r>
          </a:p>
        </p:txBody>
      </p:sp>
    </p:spTree>
    <p:extLst>
      <p:ext uri="{BB962C8B-B14F-4D97-AF65-F5344CB8AC3E}">
        <p14:creationId xmlns:p14="http://schemas.microsoft.com/office/powerpoint/2010/main" val="1919978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1BAB6-0B04-D715-99C2-1AFB743CE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Odds Ratios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8C5190-1805-5094-9D9D-9C8E03AE3D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60439" y="1353525"/>
            <a:ext cx="6813561" cy="500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419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975E-D18A-6B2A-1347-5BACF48D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C982DC-7FC2-867A-9BAB-B4010AC66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0" y="1439494"/>
            <a:ext cx="6380479" cy="50668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6C2A66-8250-DEC4-A22C-9E38B5FD9BD2}"/>
              </a:ext>
            </a:extLst>
          </p:cNvPr>
          <p:cNvSpPr txBox="1"/>
          <p:nvPr/>
        </p:nvSpPr>
        <p:spPr>
          <a:xfrm>
            <a:off x="7945120" y="3244334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Accuracy: 76%</a:t>
            </a:r>
          </a:p>
        </p:txBody>
      </p:sp>
    </p:spTree>
    <p:extLst>
      <p:ext uri="{BB962C8B-B14F-4D97-AF65-F5344CB8AC3E}">
        <p14:creationId xmlns:p14="http://schemas.microsoft.com/office/powerpoint/2010/main" val="628236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8A902-CF16-A61A-0690-1B7ACCF4C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9A78-C6B1-5533-116D-FE6F07F91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6934" y="1615440"/>
            <a:ext cx="6804928" cy="439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116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1F03-27C7-7A86-6708-56650C6F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Forest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38CA9-7D50-672F-032C-FFF4B2120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31" y="1399942"/>
            <a:ext cx="6325129" cy="50378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45FEDF-8BD1-1FB8-D2F4-4294987249EC}"/>
              </a:ext>
            </a:extLst>
          </p:cNvPr>
          <p:cNvSpPr txBox="1"/>
          <p:nvPr/>
        </p:nvSpPr>
        <p:spPr>
          <a:xfrm>
            <a:off x="7843520" y="3244334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Accuracy: 97%</a:t>
            </a:r>
          </a:p>
        </p:txBody>
      </p:sp>
    </p:spTree>
    <p:extLst>
      <p:ext uri="{BB962C8B-B14F-4D97-AF65-F5344CB8AC3E}">
        <p14:creationId xmlns:p14="http://schemas.microsoft.com/office/powerpoint/2010/main" val="4272821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D1739-4829-45AD-3772-5319F6DBE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Forest Feature Importance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FF9ADA-1530-8537-FCD6-F1B5C01A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51" y="1975517"/>
            <a:ext cx="6809909" cy="427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791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13804-F293-6675-AB48-9152B9EDB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65BCD-CD3F-5FEE-3149-3A909EDBF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550536"/>
            <a:ext cx="6350169" cy="5023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7EEB31-7267-0573-02A1-149D77746ECC}"/>
              </a:ext>
            </a:extLst>
          </p:cNvPr>
          <p:cNvSpPr txBox="1"/>
          <p:nvPr/>
        </p:nvSpPr>
        <p:spPr>
          <a:xfrm>
            <a:off x="7701280" y="3429000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Accuracy: 75%</a:t>
            </a:r>
          </a:p>
        </p:txBody>
      </p:sp>
    </p:spTree>
    <p:extLst>
      <p:ext uri="{BB962C8B-B14F-4D97-AF65-F5344CB8AC3E}">
        <p14:creationId xmlns:p14="http://schemas.microsoft.com/office/powerpoint/2010/main" val="2298523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29C68-6E2D-3D66-5693-B6937605D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56EF4C-B635-0B93-75A9-06CA26DE9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930400"/>
            <a:ext cx="6907118" cy="4141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34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3DD6C-74B6-A2ED-4EEE-80D97A224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61185C-DEE3-C661-0CB7-2BDF7166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– SMART Question 1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97D33B-F738-EFE3-8C42-11B0BEF144FC}"/>
              </a:ext>
            </a:extLst>
          </p:cNvPr>
          <p:cNvSpPr txBox="1"/>
          <p:nvPr/>
        </p:nvSpPr>
        <p:spPr>
          <a:xfrm>
            <a:off x="677334" y="1503680"/>
            <a:ext cx="85966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 When class imbalance is accounted for, a decent amount of individuals who do not have a mental illness are identified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Being older decreases the chance of having a mental illness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Cohabitating with others and substance use minimally increases the risk of having a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All demographic variables have small impacts on mental illnesses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Region served, education status, and age group are the most influential predictors of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Race, sexual orientation, and household consumption have some importance on predicting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Sex, alcohol related disorder, drug substance disorder, and veteran status did not contribute much to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lang="en-US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24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9559-9D56-282D-1248-6382FA80B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AC2D4F-2869-59AF-3DA2-1A234C52C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2</a:t>
            </a:r>
            <a:b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174D1-B207-D13F-C0A6-49F3B7E25FF7}"/>
              </a:ext>
            </a:extLst>
          </p:cNvPr>
          <p:cNvSpPr txBox="1"/>
          <p:nvPr/>
        </p:nvSpPr>
        <p:spPr>
          <a:xfrm>
            <a:off x="678756" y="1482378"/>
            <a:ext cx="8183495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404040"/>
                </a:solidFill>
                <a:latin typeface="Times New Roman"/>
                <a:ea typeface="Segoe UI"/>
                <a:cs typeface="Segoe UI"/>
              </a:rPr>
              <a:t>To what extent can socio-economic factors, particularly educational attainment, predict mental health diagnosis among adults in New York State using PCS 2019, and which variables are the strongest predictors</a:t>
            </a:r>
            <a:endParaRPr lang="en-US" sz="2800">
              <a:solidFill>
                <a:srgbClr val="000000"/>
              </a:solidFill>
              <a:latin typeface="Times New Roman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758931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A56F5-E9DA-22D3-7160-C8BBE58D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D4444B-6C92-0A0D-7B5F-BF47F3CE9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2</a:t>
            </a:r>
            <a:b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94D341-047D-D9A2-4411-F1B983A5FAB7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AAFF9-3629-F1D8-D86A-FA61CE257D13}"/>
              </a:ext>
            </a:extLst>
          </p:cNvPr>
          <p:cNvSpPr txBox="1"/>
          <p:nvPr/>
        </p:nvSpPr>
        <p:spPr>
          <a:xfrm>
            <a:off x="678756" y="141194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Target Variable:</a:t>
            </a:r>
            <a:r>
              <a:rPr lang="en-US" sz="2800">
                <a:solidFill>
                  <a:srgbClr val="404040"/>
                </a:solidFill>
                <a:latin typeface="Times New Roman"/>
              </a:rPr>
              <a:t> Mental Illness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1FA099-114E-3978-A21B-191D2A994995}"/>
              </a:ext>
            </a:extLst>
          </p:cNvPr>
          <p:cNvSpPr txBox="1"/>
          <p:nvPr/>
        </p:nvSpPr>
        <p:spPr>
          <a:xfrm>
            <a:off x="678756" y="2302009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rgbClr val="2E83C3"/>
                </a:solidFill>
                <a:latin typeface="Times New Roman"/>
              </a:rPr>
              <a:t>Distribution:</a:t>
            </a:r>
            <a:r>
              <a:rPr lang="en-US" sz="2800" baseline="0">
                <a:solidFill>
                  <a:srgbClr val="404040"/>
                </a:solidFill>
                <a:latin typeface="Times New Roman"/>
              </a:rPr>
              <a:t> </a:t>
            </a:r>
            <a:r>
              <a:rPr lang="en-US" sz="2800">
                <a:solidFill>
                  <a:srgbClr val="404040"/>
                </a:solidFill>
                <a:latin typeface="Times New Roman"/>
              </a:rPr>
              <a:t>Yes (148046), No (2936)</a:t>
            </a:r>
            <a:endParaRPr lang="en-US" sz="2800">
              <a:latin typeface="Times New Roman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864F7F-0475-992C-E5D7-BA305867D0C5}"/>
              </a:ext>
            </a:extLst>
          </p:cNvPr>
          <p:cNvSpPr txBox="1"/>
          <p:nvPr/>
        </p:nvSpPr>
        <p:spPr>
          <a:xfrm>
            <a:off x="678756" y="3160059"/>
            <a:ext cx="10219763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rgbClr val="2E83C3"/>
                </a:solidFill>
                <a:latin typeface="Times New Roman"/>
              </a:rPr>
              <a:t>Reformat using distribution for predicting columns</a:t>
            </a:r>
            <a:r>
              <a:rPr lang="en-US" sz="2800" b="1" baseline="0">
                <a:solidFill>
                  <a:srgbClr val="2E83C3"/>
                </a:solidFill>
                <a:latin typeface="Times New Roman"/>
              </a:rPr>
              <a:t>:</a:t>
            </a:r>
            <a:r>
              <a:rPr lang="en-US" sz="2800" baseline="0">
                <a:solidFill>
                  <a:srgbClr val="404040"/>
                </a:solidFill>
                <a:latin typeface="Times New Roman"/>
              </a:rPr>
              <a:t> </a:t>
            </a:r>
            <a:r>
              <a:rPr lang="en-US" sz="2800">
                <a:solidFill>
                  <a:srgbClr val="404040"/>
                </a:solidFill>
                <a:latin typeface="Times New Roman"/>
              </a:rPr>
              <a:t>Dropping columns with no predictive power and merging rare categories</a:t>
            </a:r>
            <a:endParaRPr lang="en-US" sz="2800" baseline="0">
              <a:solidFill>
                <a:srgbClr val="404040"/>
              </a:solidFill>
              <a:latin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8410F5-5E30-255C-C416-F4E125BBD0A5}"/>
              </a:ext>
            </a:extLst>
          </p:cNvPr>
          <p:cNvSpPr txBox="1"/>
          <p:nvPr/>
        </p:nvSpPr>
        <p:spPr>
          <a:xfrm>
            <a:off x="678756" y="4363891"/>
            <a:ext cx="9297680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rgbClr val="2E83C3"/>
                </a:solidFill>
                <a:latin typeface="Times New Roman"/>
                <a:ea typeface="Segoe UI"/>
                <a:cs typeface="Segoe UI"/>
              </a:rPr>
              <a:t>Running chi-square tests to check independence </a:t>
            </a:r>
            <a:r>
              <a:rPr lang="en-US" sz="2800" b="1" baseline="0">
                <a:solidFill>
                  <a:srgbClr val="2E83C3"/>
                </a:solidFill>
                <a:latin typeface="Times New Roman"/>
                <a:ea typeface="Segoe UI"/>
                <a:cs typeface="Segoe UI"/>
              </a:rPr>
              <a:t>:</a:t>
            </a:r>
            <a:r>
              <a:rPr lang="en-US" sz="2800" baseline="0">
                <a:solidFill>
                  <a:srgbClr val="404040"/>
                </a:solidFill>
                <a:latin typeface="Times New Roman"/>
                <a:ea typeface="Segoe UI"/>
                <a:cs typeface="Segoe UI"/>
              </a:rPr>
              <a:t> </a:t>
            </a:r>
            <a:r>
              <a:rPr lang="en-US" sz="2800">
                <a:solidFill>
                  <a:srgbClr val="404040"/>
                </a:solidFill>
                <a:latin typeface="Times New Roman"/>
                <a:ea typeface="Segoe UI"/>
                <a:cs typeface="Segoe UI"/>
              </a:rPr>
              <a:t>Dropping columns where p-values are not significant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011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EB61C-3762-DE99-B012-54D65915A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1B5AB5-5812-A881-A60E-23045A468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A99-34D6-21C6-CFA2-04E7B3C750D7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966EFA-22F0-B25D-4A7B-5593F33630F2}"/>
              </a:ext>
            </a:extLst>
          </p:cNvPr>
          <p:cNvSpPr txBox="1"/>
          <p:nvPr/>
        </p:nvSpPr>
        <p:spPr>
          <a:xfrm>
            <a:off x="678756" y="429472"/>
            <a:ext cx="3984555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Check for correlation between predictors:</a:t>
            </a:r>
            <a:endParaRPr lang="en-US" sz="2800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pic>
        <p:nvPicPr>
          <p:cNvPr id="3" name="Picture 2" descr="A screenshot of a graph">
            <a:extLst>
              <a:ext uri="{FF2B5EF4-FFF2-40B4-BE49-F238E27FC236}">
                <a16:creationId xmlns:a16="http://schemas.microsoft.com/office/drawing/2014/main" id="{48A4800A-E7F3-1CFC-07F7-EF12F70A5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2" y="105271"/>
            <a:ext cx="6498083" cy="665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4B2176-FBF1-3E5F-3477-77567DD83FA6}"/>
              </a:ext>
            </a:extLst>
          </p:cNvPr>
          <p:cNvSpPr txBox="1"/>
          <p:nvPr/>
        </p:nvSpPr>
        <p:spPr>
          <a:xfrm>
            <a:off x="678757" y="1572025"/>
            <a:ext cx="4610419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The highly correlated variables are: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Household Composition and Living Situation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Employment Status and Working Status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Other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Private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Medicaid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Unknown Insurance Coverage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Unknown Insurance Coverage and Medicaid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Insurance and No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Managed Insurance and Medicaid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Private Insurance and Other Insurance"""</a:t>
            </a: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r>
              <a:rPr lang="en-US" sz="1200" err="1">
                <a:solidFill>
                  <a:srgbClr val="9CDCFE"/>
                </a:solidFill>
                <a:latin typeface="Menlo"/>
                <a:ea typeface="Menlo"/>
                <a:cs typeface="Menlo"/>
              </a:rPr>
              <a:t>drop_cols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 </a:t>
            </a:r>
            <a:r>
              <a:rPr lang="en-US" sz="1200">
                <a:solidFill>
                  <a:srgbClr val="D4D4D4"/>
                </a:solidFill>
                <a:latin typeface="Menlo"/>
                <a:ea typeface="Menlo"/>
                <a:cs typeface="Menlo"/>
              </a:rPr>
              <a:t>=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 [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"Household Composition"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"Employment Status"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"Other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"Private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"Medicaid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"Unknown Insurance </a:t>
            </a:r>
            <a:r>
              <a:rPr lang="en-US" sz="1200" err="1">
                <a:solidFill>
                  <a:srgbClr val="CE9178"/>
                </a:solidFill>
                <a:latin typeface="Menlo"/>
                <a:ea typeface="Menlo"/>
                <a:cs typeface="Menlo"/>
              </a:rPr>
              <a:t>Coverage"</a:t>
            </a:r>
            <a:r>
              <a:rPr lang="en-US" sz="1200" err="1">
                <a:solidFill>
                  <a:srgbClr val="CCCCCC"/>
                </a:solidFill>
                <a:latin typeface="Menlo"/>
                <a:ea typeface="Menlo"/>
                <a:cs typeface="Menlo"/>
              </a:rPr>
              <a:t>,</a:t>
            </a:r>
            <a:r>
              <a:rPr lang="en-US" sz="1200" err="1">
                <a:solidFill>
                  <a:srgbClr val="CE9178"/>
                </a:solidFill>
                <a:latin typeface="Menlo"/>
                <a:ea typeface="Menlo"/>
                <a:cs typeface="Menlo"/>
              </a:rPr>
              <a:t>"No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]</a:t>
            </a:r>
            <a:endParaRPr lang="en-US" sz="1200">
              <a:solidFill>
                <a:srgbClr val="000000"/>
              </a:solidFill>
              <a:latin typeface="Menlo"/>
              <a:ea typeface="Menlo"/>
              <a:cs typeface="Menlo"/>
            </a:endParaRP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br>
              <a:rPr lang="en-US" sz="1200">
                <a:latin typeface="Menlo"/>
                <a:ea typeface="Menlo"/>
                <a:cs typeface="Menlo"/>
              </a:rPr>
            </a:br>
            <a:endParaRPr lang="en-US" sz="1200">
              <a:solidFill>
                <a:srgbClr val="CCCCCC"/>
              </a:solidFill>
              <a:latin typeface="Menlo"/>
              <a:ea typeface="Menlo"/>
              <a:cs typeface="Menlo"/>
            </a:endParaRPr>
          </a:p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819997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825F-044E-7EF6-13A8-3E49CCC00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4BD626-2C41-00EA-70DC-C517C73CC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767748-BEDC-C78F-1A3D-0D751282D2AF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2546C2-34AE-C111-0340-AF0621B3DB0C}"/>
              </a:ext>
            </a:extLst>
          </p:cNvPr>
          <p:cNvSpPr txBox="1"/>
          <p:nvPr/>
        </p:nvSpPr>
        <p:spPr>
          <a:xfrm>
            <a:off x="678756" y="429472"/>
            <a:ext cx="626415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Running Logistic Regression Model</a:t>
            </a:r>
            <a:endParaRPr lang="en-US" sz="2800" b="1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19ABB35-F99B-41FD-328C-5BE91C9E82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2540369"/>
              </p:ext>
            </p:extLst>
          </p:nvPr>
        </p:nvGraphicFramePr>
        <p:xfrm>
          <a:off x="770805" y="1200390"/>
          <a:ext cx="8191500" cy="222885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1790942301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418275724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578412498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336470674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792266020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Precision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Recall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F1-Score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Support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7706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881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728259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1.0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0.99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44414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453748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Accuracy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9644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Macro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0.51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0.42</a:t>
                      </a:r>
                      <a:endParaRPr lang="en-US">
                        <a:solidFill>
                          <a:srgbClr val="2E83C3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512022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Weighted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0.76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325317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F29EE18-DBA9-264F-1A56-E3FC5E2B44B0}"/>
              </a:ext>
            </a:extLst>
          </p:cNvPr>
          <p:cNvSpPr txBox="1"/>
          <p:nvPr/>
        </p:nvSpPr>
        <p:spPr>
          <a:xfrm>
            <a:off x="536231" y="3670327"/>
            <a:ext cx="987648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Strong performance on majority class (1.0): Precision 0.99, Recall 0.63 → model is almost always correct when predicting “1.”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Weak performance on minority class (0.0): Precision 0.04 and F1-score 0.07 → most predicted “0” values are wrong.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Overall accuracy (0.63) is misleading because it is driven almost entirely by the majority class.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Logistic regression struggles to learn the minority class due to the extreme imbalance in the data.</a:t>
            </a:r>
          </a:p>
          <a:p>
            <a:pPr marL="228600" indent="-228600">
              <a:buFont typeface="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775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549DB-B7BD-05EF-A6E0-46D434FB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06E549-EB85-1B37-4D77-4E87BFEA8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377D0-3F3B-9405-AB4B-1046218901A3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BBFE24-7ED7-FB7C-1158-6C123572C39E}"/>
              </a:ext>
            </a:extLst>
          </p:cNvPr>
          <p:cNvSpPr txBox="1"/>
          <p:nvPr/>
        </p:nvSpPr>
        <p:spPr>
          <a:xfrm>
            <a:off x="678756" y="429472"/>
            <a:ext cx="626415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Running Random Forest Model</a:t>
            </a:r>
            <a:endParaRPr lang="en-US" sz="2800" b="1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F8D609-4C15-DD6D-C5EE-17FDABCDA04E}"/>
              </a:ext>
            </a:extLst>
          </p:cNvPr>
          <p:cNvSpPr txBox="1"/>
          <p:nvPr/>
        </p:nvSpPr>
        <p:spPr>
          <a:xfrm>
            <a:off x="768403" y="3813202"/>
            <a:ext cx="9287124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Random Forest improves over logistic regression, especially for the majority class, with precision at 0.99 and higher recall (0.72).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Minority class (0.0) performance remains weak: recall drops to 0.58 and precision stays low (0.04) due to very small support.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Overall accuracy increases to 0.72, showing better learning of nonlinear patterns.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2EF35F2-2060-7363-C3B7-823A85667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746861"/>
              </p:ext>
            </p:extLst>
          </p:nvPr>
        </p:nvGraphicFramePr>
        <p:xfrm>
          <a:off x="770805" y="1200390"/>
          <a:ext cx="8191500" cy="222885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929918575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819119858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579301004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053465693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4047924729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Precision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Recall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F1-Score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Support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989862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0.57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881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8366957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1.0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0.99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44414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1804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Accuracy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827481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Macro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0.51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0.45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5277067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Weighted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0.82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1959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6551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606E-C98A-C321-6C7B-7543BA795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E8BD04-0923-E7E0-99E1-208BF04A2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DD0D26-F8EA-7202-1FD1-DD50654737B4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3224B-35BD-0CE4-3945-661436AC5A2F}"/>
              </a:ext>
            </a:extLst>
          </p:cNvPr>
          <p:cNvSpPr txBox="1"/>
          <p:nvPr/>
        </p:nvSpPr>
        <p:spPr>
          <a:xfrm>
            <a:off x="678756" y="834285"/>
            <a:ext cx="626415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b="1" dirty="0">
                <a:solidFill>
                  <a:schemeClr val="accent2"/>
                </a:solidFill>
                <a:latin typeface="Times New Roman"/>
              </a:rPr>
              <a:t>Conclusion for Q2</a:t>
            </a:r>
            <a:endParaRPr lang="en-US" sz="3600" b="1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85254D-8581-C82B-F5AA-EBEFBBC93372}"/>
              </a:ext>
            </a:extLst>
          </p:cNvPr>
          <p:cNvSpPr txBox="1"/>
          <p:nvPr/>
        </p:nvSpPr>
        <p:spPr>
          <a:xfrm>
            <a:off x="673153" y="1741514"/>
            <a:ext cx="9299030" cy="37809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Socioeconomic factors do provide meaningful predictive signal for mental health diagnosis.</a:t>
            </a:r>
            <a:endParaRPr lang="en-US"/>
          </a:p>
          <a:p>
            <a:pPr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Severe class imbalance limited both models’ ability to identify the minority group accurately.</a:t>
            </a:r>
          </a:p>
          <a:p>
            <a:pPr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The factors help predict outcomes but are not strong enough alone to fully separate or explain mental health differences.</a:t>
            </a:r>
          </a:p>
          <a:p>
            <a:pPr>
              <a:lnSpc>
                <a:spcPct val="150000"/>
              </a:lnSpc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4987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60669-C47B-CB10-3FF9-03E3FC00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89DB35-23E6-6A55-8D66-90AB7C06F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3</a:t>
            </a:r>
            <a:b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DC3A38-28DE-0E20-B548-F87A7A94D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zh-TW" sz="2800">
                <a:latin typeface="Times New Roman" panose="02020603050405020304" pitchFamily="18" charset="0"/>
                <a:cs typeface="Times New Roman" panose="02020603050405020304" pitchFamily="18" charset="0"/>
              </a:rPr>
              <a:t>How effectively can employment and related socioeconomic variables predict an individual’s living situation category in New York State using PCS 2019?</a:t>
            </a:r>
          </a:p>
          <a:p>
            <a:pPr marL="0" indent="0">
              <a:buNone/>
            </a:pPr>
            <a:endParaRPr kumimoji="1" lang="en-US" altLang="zh-TW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8501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E5E5E-07B2-D377-D854-81E9DF0E7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1FA20D-D7F1-50C5-8DC1-5FAFA1B36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Variables Description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A18CA6-AF8F-CCA2-0BD8-5B3B34C64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399" y="1595120"/>
            <a:ext cx="999066" cy="33528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AF84E7-EFBA-4B16-45AA-A50BE317B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79" y="1972363"/>
            <a:ext cx="2665306" cy="943557"/>
          </a:xfrm>
          <a:prstGeom prst="rect">
            <a:avLst/>
          </a:prstGeom>
        </p:spPr>
      </p:pic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D74894E3-5B07-678F-8B1A-37B2A888AC22}"/>
              </a:ext>
            </a:extLst>
          </p:cNvPr>
          <p:cNvSpPr txBox="1">
            <a:spLocks/>
          </p:cNvSpPr>
          <p:nvPr/>
        </p:nvSpPr>
        <p:spPr>
          <a:xfrm>
            <a:off x="6572212" y="1595120"/>
            <a:ext cx="999066" cy="3352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52AD969-0B16-562F-A9DF-5DF90A372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127" y="1972363"/>
            <a:ext cx="3707506" cy="448056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843048C3-76C1-256F-BA0F-A5572DBA1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163" y="1972363"/>
            <a:ext cx="2097155" cy="397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285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4ACE-F3C8-1924-D512-35FECEE3A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A2FCE7-440D-D78F-2BFB-3B4F294C0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Test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35D44388-AC52-05E3-0AC5-AF25388483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0833" y="1259840"/>
            <a:ext cx="5293229" cy="542473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5475E61-2D98-9978-6D9E-86293C90327C}"/>
              </a:ext>
            </a:extLst>
          </p:cNvPr>
          <p:cNvSpPr txBox="1"/>
          <p:nvPr/>
        </p:nvSpPr>
        <p:spPr>
          <a:xfrm>
            <a:off x="6004062" y="2844224"/>
            <a:ext cx="402520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400">
                <a:latin typeface="Times New Roman" panose="02020603050405020304" pitchFamily="18" charset="0"/>
                <a:cs typeface="Times New Roman" panose="02020603050405020304" pitchFamily="18" charset="0"/>
              </a:rPr>
              <a:t>Age Group with Education Status: 0.6</a:t>
            </a:r>
          </a:p>
          <a:p>
            <a:endParaRPr kumimoji="1" lang="en-US" altLang="zh-TW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>
                <a:latin typeface="Times New Roman" panose="02020603050405020304" pitchFamily="18" charset="0"/>
                <a:cs typeface="Times New Roman" panose="02020603050405020304" pitchFamily="18" charset="0"/>
              </a:rPr>
              <a:t>Medicaid Insurance with Private Insurance: 0.58</a:t>
            </a:r>
          </a:p>
          <a:p>
            <a:endParaRPr kumimoji="1" lang="en-US" altLang="zh-TW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>
                <a:latin typeface="Times New Roman" panose="02020603050405020304" pitchFamily="18" charset="0"/>
                <a:cs typeface="Times New Roman" panose="02020603050405020304" pitchFamily="18" charset="0"/>
              </a:rPr>
              <a:t>Medicare Insurance with SSDI Cash Assistance: 0.52</a:t>
            </a:r>
            <a:endParaRPr kumimoji="1" lang="zh-TW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0374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D3DD9-D89A-F2EB-6919-CE70849E1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1FFC7-C6FB-AC05-5AD6-BB620C7C5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B212666-7B97-BEEF-8789-AE8AD0413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930400"/>
            <a:ext cx="3897575" cy="13208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ABA0DA9-BC6F-433C-91E9-85C81D3D6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598" y="1272628"/>
            <a:ext cx="4559300" cy="3911600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94B32B22-CEAC-BE90-A16C-B177269632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148" y="5186571"/>
            <a:ext cx="936025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(0.58</a:t>
            </a:r>
            <a:r>
              <a:rPr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Overall performance remains limited under imbalance.</a:t>
            </a:r>
            <a:endParaRPr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low (0.02), showing poor identification of this minority class.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Recall moderate (0.52) but precision low (0.27).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high (0.93) but recall only moderate (0.48).</a:t>
            </a:r>
          </a:p>
        </p:txBody>
      </p:sp>
    </p:spTree>
    <p:extLst>
      <p:ext uri="{BB962C8B-B14F-4D97-AF65-F5344CB8AC3E}">
        <p14:creationId xmlns:p14="http://schemas.microsoft.com/office/powerpoint/2010/main" val="4623381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282A0-C32F-8BDA-F2DC-9F9846A68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2AA46E-1690-E21E-13FB-BEC4044F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85D053-CCC1-5835-7C39-C526DEA0D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617980"/>
            <a:ext cx="3945466" cy="190528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ED3A259-C8DF-4798-953E-818189938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151" y="856922"/>
            <a:ext cx="4744720" cy="4070679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7FFD6E1-5870-B0FF-7B4C-EF8F100CD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872" y="5204360"/>
            <a:ext cx="856106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(0.62) </a:t>
            </a: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Overall performance improves but is still limited by imbalance.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extremely low (0.02) despite higher recall (0.58).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Recall strong (0.70) but precision moderate (0.33).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high (0.94) with moderate recall (0.51).</a:t>
            </a:r>
          </a:p>
        </p:txBody>
      </p:sp>
    </p:spTree>
    <p:extLst>
      <p:ext uri="{BB962C8B-B14F-4D97-AF65-F5344CB8AC3E}">
        <p14:creationId xmlns:p14="http://schemas.microsoft.com/office/powerpoint/2010/main" val="13156031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E4377-4642-9750-1645-C98DF315F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47D5DD-8C31-C84D-0F33-BDD8180D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34A3F98-B750-D33A-27B1-436185CE0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460" y="1930400"/>
            <a:ext cx="2514600" cy="25273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A2235663-5921-5F74-DAA0-74B3D6580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40" y="2057400"/>
            <a:ext cx="6045200" cy="227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6A93556-3242-BFBD-630F-6CABBBFA571F}"/>
              </a:ext>
            </a:extLst>
          </p:cNvPr>
          <p:cNvSpPr txBox="1"/>
          <p:nvPr/>
        </p:nvSpPr>
        <p:spPr>
          <a:xfrm>
            <a:off x="510988" y="4759823"/>
            <a:ext cx="981635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F1-score(0.63) </a:t>
            </a: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The model shows improved and more balanced performance after applying SMOTE.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Institutional Setting: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Recall improves to 0.52, though precision remains low (0.02).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Solid performance with recall at 0.69 and precision at 0.33.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Strong results with precision of 0.93 and improved recall of 0.53.</a:t>
            </a:r>
          </a:p>
          <a:p>
            <a:b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1697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AE12B-733A-1C1D-B923-4E7016BF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943BF-601C-F585-CC08-A5026AA6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 - </a:t>
            </a:r>
            <a:r>
              <a:rPr kumimoji="1"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</a:t>
            </a:r>
            <a:br>
              <a:rPr lang="en" altLang="zh-TW"/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3226CEE-ACEC-4D1E-1992-318343AE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10" y="1351281"/>
            <a:ext cx="8948677" cy="357632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C5FA890-7A04-6DE7-BCC0-3F168FC55782}"/>
              </a:ext>
            </a:extLst>
          </p:cNvPr>
          <p:cNvSpPr txBox="1"/>
          <p:nvPr/>
        </p:nvSpPr>
        <p:spPr>
          <a:xfrm>
            <a:off x="1327896" y="5207617"/>
            <a:ext cx="83001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Employment status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the strongest predictor.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Insurance coverage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cash assistance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also rank highly.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kumimoji="0" lang="zh-TW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(Child)</a:t>
            </a: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education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contribute smaller but meaningful signals.</a:t>
            </a:r>
          </a:p>
        </p:txBody>
      </p:sp>
    </p:spTree>
    <p:extLst>
      <p:ext uri="{BB962C8B-B14F-4D97-AF65-F5344CB8AC3E}">
        <p14:creationId xmlns:p14="http://schemas.microsoft.com/office/powerpoint/2010/main" val="36395626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745E-B205-9F11-6706-58E4491B2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B93F13-6275-0C9C-4211-C9C1A60D9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and Next Step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B0C8911-6D1C-98C7-13E7-CEEB06386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lnSpcReduction="10000"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Severe class imbalance makes minority groups hard to model.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Only categorical variables with many small levels increase overfitting risk.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en-US" altLang="zh-TW" sz="2400">
                <a:solidFill>
                  <a:schemeClr val="tx1"/>
                </a:solidFill>
                <a:latin typeface="Arial" panose="020B0604020202020204" pitchFamily="34" charset="0"/>
              </a:rPr>
              <a:t>Remove imbalance data or </a:t>
            </a:r>
            <a:r>
              <a:rPr lang="en" altLang="zh-TW" sz="2400">
                <a:solidFill>
                  <a:schemeClr val="tx1"/>
                </a:solidFill>
                <a:latin typeface="Arial" panose="020B0604020202020204" pitchFamily="34" charset="0"/>
              </a:rPr>
              <a:t>try</a:t>
            </a: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 advanced imbalance methods like Balanced RF or XGBoost with weights.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Add continuous variables to strengthen </a:t>
            </a:r>
            <a:r>
              <a:rPr lang="en" altLang="zh-TW" sz="2400">
                <a:solidFill>
                  <a:schemeClr val="tx1"/>
                </a:solidFill>
                <a:latin typeface="Arial" panose="020B0604020202020204" pitchFamily="34" charset="0"/>
              </a:rPr>
              <a:t>the predictive</a:t>
            </a: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 signal.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Analyze minority groups separately to avoid majority-class dominance.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97F64AAF-60DB-C701-C50F-3CBCB4E9F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60400EEE-D63B-3003-13CA-1BB8118BC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07969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0CC05016-0DCB-5FFB-772D-EFC3DD0D1957}"/>
              </a:ext>
            </a:extLst>
          </p:cNvPr>
          <p:cNvSpPr txBox="1"/>
          <p:nvPr/>
        </p:nvSpPr>
        <p:spPr>
          <a:xfrm>
            <a:off x="2246587" y="2321004"/>
            <a:ext cx="6101254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1" lang="en-US" altLang="zh-TW" sz="13800" b="1">
                <a:solidFill>
                  <a:schemeClr val="accent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END</a:t>
            </a:r>
            <a:endParaRPr kumimoji="1" lang="en" altLang="zh-TW" sz="13800" b="1">
              <a:solidFill>
                <a:schemeClr val="accent1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38148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{0FFBD485-89BE-4C40-BD94-5869DE7AD0FA}tf10001060</Template>
  <TotalTime>0</TotalTime>
  <Words>2445</Words>
  <Application>Microsoft Office PowerPoint</Application>
  <PresentationFormat>Widescreen</PresentationFormat>
  <Paragraphs>223</Paragraphs>
  <Slides>31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Microsoft JhengHei</vt:lpstr>
      <vt:lpstr>Aptos</vt:lpstr>
      <vt:lpstr>Arial</vt:lpstr>
      <vt:lpstr>Menlo</vt:lpstr>
      <vt:lpstr>Times New Roman</vt:lpstr>
      <vt:lpstr>Trebuchet MS</vt:lpstr>
      <vt:lpstr>Wingdings</vt:lpstr>
      <vt:lpstr>Wingdings 3</vt:lpstr>
      <vt:lpstr>多面向</vt:lpstr>
      <vt:lpstr>Mental Health Patterns and Living Situations in New York State</vt:lpstr>
      <vt:lpstr>Source Links</vt:lpstr>
      <vt:lpstr>Data cleaning</vt:lpstr>
      <vt:lpstr>Class Imbalance: Over 90% of individuals in New York reported having a mental illness </vt:lpstr>
      <vt:lpstr>Smart Question 1</vt:lpstr>
      <vt:lpstr>Mental health prevalence is roughly the same among all races and genders…</vt:lpstr>
      <vt:lpstr>Correlation Matrix</vt:lpstr>
      <vt:lpstr>Logistic Regression</vt:lpstr>
      <vt:lpstr>Odds Ratios</vt:lpstr>
      <vt:lpstr>Balancing Class Weight</vt:lpstr>
      <vt:lpstr>Balancing Class Weight</vt:lpstr>
      <vt:lpstr>Random Forest Model</vt:lpstr>
      <vt:lpstr>Random Forest Feature Importance</vt:lpstr>
      <vt:lpstr>Balancing Class Weight</vt:lpstr>
      <vt:lpstr>Balancing Class Weight</vt:lpstr>
      <vt:lpstr>Conclusions – SMART Question 1</vt:lpstr>
      <vt:lpstr>Smart Question 2 </vt:lpstr>
      <vt:lpstr>Smart Question 2 </vt:lpstr>
      <vt:lpstr> </vt:lpstr>
      <vt:lpstr> </vt:lpstr>
      <vt:lpstr> </vt:lpstr>
      <vt:lpstr> </vt:lpstr>
      <vt:lpstr>Smart Question 3 </vt:lpstr>
      <vt:lpstr>Variables Description</vt:lpstr>
      <vt:lpstr>Correlation Test</vt:lpstr>
      <vt:lpstr>Logistic Regression</vt:lpstr>
      <vt:lpstr>Random Forest</vt:lpstr>
      <vt:lpstr>SMOTE + Random Forest</vt:lpstr>
      <vt:lpstr>SMOTE + Random Forest - Feature Importance </vt:lpstr>
      <vt:lpstr>Limitations and Next Step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恒瑞 朱</dc:creator>
  <cp:lastModifiedBy>Emma Francis</cp:lastModifiedBy>
  <cp:revision>18</cp:revision>
  <dcterms:created xsi:type="dcterms:W3CDTF">2025-12-02T00:53:55Z</dcterms:created>
  <dcterms:modified xsi:type="dcterms:W3CDTF">2025-12-04T04:37:15Z</dcterms:modified>
</cp:coreProperties>
</file>