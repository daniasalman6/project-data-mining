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5" r:id="rId1"/>
  </p:sldMasterIdLst>
  <p:notesMasterIdLst>
    <p:notesMasterId r:id="rId33"/>
  </p:notesMasterIdLst>
  <p:sldIdLst>
    <p:sldId id="256" r:id="rId2"/>
    <p:sldId id="257" r:id="rId3"/>
    <p:sldId id="270" r:id="rId4"/>
    <p:sldId id="258" r:id="rId5"/>
    <p:sldId id="276" r:id="rId6"/>
    <p:sldId id="277" r:id="rId7"/>
    <p:sldId id="278" r:id="rId8"/>
    <p:sldId id="279" r:id="rId9"/>
    <p:sldId id="280" r:id="rId10"/>
    <p:sldId id="281" r:id="rId11"/>
    <p:sldId id="282" r:id="rId12"/>
    <p:sldId id="283" r:id="rId13"/>
    <p:sldId id="284" r:id="rId14"/>
    <p:sldId id="285" r:id="rId15"/>
    <p:sldId id="286" r:id="rId16"/>
    <p:sldId id="268" r:id="rId17"/>
    <p:sldId id="264" r:id="rId18"/>
    <p:sldId id="287" r:id="rId19"/>
    <p:sldId id="288" r:id="rId20"/>
    <p:sldId id="289" r:id="rId21"/>
    <p:sldId id="290" r:id="rId22"/>
    <p:sldId id="291" r:id="rId23"/>
    <p:sldId id="263" r:id="rId24"/>
    <p:sldId id="265" r:id="rId25"/>
    <p:sldId id="260" r:id="rId26"/>
    <p:sldId id="261" r:id="rId27"/>
    <p:sldId id="266" r:id="rId28"/>
    <p:sldId id="267" r:id="rId29"/>
    <p:sldId id="273" r:id="rId30"/>
    <p:sldId id="269" r:id="rId31"/>
    <p:sldId id="275"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717D19-0AEE-0EFE-62AC-6A715FBD96BB}" v="1059" dt="2025-12-03T19:26:52.822"/>
    <p1510:client id="{B7D17B82-5527-4661-8B13-DC96109D97FA}" v="17" dt="2025-12-03T05:43:29.74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4684"/>
  </p:normalViewPr>
  <p:slideViewPr>
    <p:cSldViewPr snapToGrid="0">
      <p:cViewPr varScale="1">
        <p:scale>
          <a:sx n="75" d="100"/>
          <a:sy n="75" d="100"/>
        </p:scale>
        <p:origin x="830" y="48"/>
      </p:cViewPr>
      <p:guideLst/>
    </p:cSldViewPr>
  </p:slideViewPr>
  <p:notesTextViewPr>
    <p:cViewPr>
      <p:scale>
        <a:sx n="1" d="1"/>
        <a:sy n="1" d="1"/>
      </p:scale>
      <p:origin x="0" y="-72"/>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F179CE-8438-496C-8BC1-59B621BFFEBB}" type="datetimeFigureOut">
              <a:rPr lang="en-US" smtClean="0"/>
              <a:t>12/3/2025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5E0D09-A73B-45C7-9595-EA62676DC56E}" type="slidenum">
              <a:rPr lang="en-US" smtClean="0"/>
              <a:t>‹#›</a:t>
            </a:fld>
            <a:endParaRPr lang="en-US"/>
          </a:p>
        </p:txBody>
      </p:sp>
    </p:spTree>
    <p:extLst>
      <p:ext uri="{BB962C8B-B14F-4D97-AF65-F5344CB8AC3E}">
        <p14:creationId xmlns:p14="http://schemas.microsoft.com/office/powerpoint/2010/main" val="4033681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 The logistic regression highlights the class imbalance of the data. The accuracy of the model</a:t>
            </a:r>
          </a:p>
          <a:p>
            <a:r>
              <a:rPr lang="en-US" sz="1200" b="0" kern="1200" dirty="0">
                <a:solidFill>
                  <a:schemeClr val="tx1"/>
                </a:solidFill>
                <a:effectLst/>
                <a:latin typeface="+mn-lt"/>
                <a:ea typeface="+mn-ea"/>
                <a:cs typeface="+mn-cs"/>
              </a:rPr>
              <a:t># appears to be 97%. However, the model does not identify those who do not have a mental illness.</a:t>
            </a:r>
          </a:p>
          <a:p>
            <a:r>
              <a:rPr lang="en-US" sz="1200" b="0" kern="1200" dirty="0">
                <a:solidFill>
                  <a:schemeClr val="tx1"/>
                </a:solidFill>
                <a:effectLst/>
                <a:latin typeface="+mn-lt"/>
                <a:ea typeface="+mn-ea"/>
                <a:cs typeface="+mn-cs"/>
              </a:rPr>
              <a:t># The AUC of 0.67 demonstrates that the logistic regression had modest discriminative ability. </a:t>
            </a:r>
          </a:p>
          <a:p>
            <a:r>
              <a:rPr lang="en-US" sz="1200" b="0" kern="1200" dirty="0">
                <a:solidFill>
                  <a:schemeClr val="tx1"/>
                </a:solidFill>
                <a:effectLst/>
                <a:latin typeface="+mn-lt"/>
                <a:ea typeface="+mn-ea"/>
                <a:cs typeface="+mn-cs"/>
              </a:rPr>
              <a:t># The current model is not suitable for the data due to the class imbalance.</a:t>
            </a:r>
          </a:p>
          <a:p>
            <a:endParaRPr lang="en-US" dirty="0"/>
          </a:p>
        </p:txBody>
      </p:sp>
      <p:sp>
        <p:nvSpPr>
          <p:cNvPr id="4" name="Slide Number Placeholder 3"/>
          <p:cNvSpPr>
            <a:spLocks noGrp="1"/>
          </p:cNvSpPr>
          <p:nvPr>
            <p:ph type="sldNum" sz="quarter" idx="5"/>
          </p:nvPr>
        </p:nvSpPr>
        <p:spPr/>
        <p:txBody>
          <a:bodyPr/>
          <a:lstStyle/>
          <a:p>
            <a:fld id="{225E0D09-A73B-45C7-9595-EA62676DC56E}" type="slidenum">
              <a:rPr lang="en-US" smtClean="0"/>
              <a:t>7</a:t>
            </a:fld>
            <a:endParaRPr lang="en-US"/>
          </a:p>
        </p:txBody>
      </p:sp>
    </p:spTree>
    <p:extLst>
      <p:ext uri="{BB962C8B-B14F-4D97-AF65-F5344CB8AC3E}">
        <p14:creationId xmlns:p14="http://schemas.microsoft.com/office/powerpoint/2010/main" val="20669966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 The independent/demographic variables do not explain sufficient variation in mental illness </a:t>
            </a:r>
          </a:p>
          <a:p>
            <a:r>
              <a:rPr lang="en-US" sz="1200" b="0" kern="1200" dirty="0">
                <a:solidFill>
                  <a:schemeClr val="tx1"/>
                </a:solidFill>
                <a:effectLst/>
                <a:latin typeface="+mn-lt"/>
                <a:ea typeface="+mn-ea"/>
                <a:cs typeface="+mn-cs"/>
              </a:rPr>
              <a:t># prevalence. This model does not predict those without mental illness since there is significant </a:t>
            </a:r>
          </a:p>
          <a:p>
            <a:r>
              <a:rPr lang="en-US" sz="1200" b="0" kern="1200" dirty="0">
                <a:solidFill>
                  <a:schemeClr val="tx1"/>
                </a:solidFill>
                <a:effectLst/>
                <a:latin typeface="+mn-lt"/>
                <a:ea typeface="+mn-ea"/>
                <a:cs typeface="+mn-cs"/>
              </a:rPr>
              <a:t># class imbalance. </a:t>
            </a:r>
          </a:p>
          <a:p>
            <a:endParaRPr lang="en-US" dirty="0"/>
          </a:p>
        </p:txBody>
      </p:sp>
      <p:sp>
        <p:nvSpPr>
          <p:cNvPr id="4" name="Slide Number Placeholder 3"/>
          <p:cNvSpPr>
            <a:spLocks noGrp="1"/>
          </p:cNvSpPr>
          <p:nvPr>
            <p:ph type="sldNum" sz="quarter" idx="5"/>
          </p:nvPr>
        </p:nvSpPr>
        <p:spPr/>
        <p:txBody>
          <a:bodyPr/>
          <a:lstStyle/>
          <a:p>
            <a:fld id="{225E0D09-A73B-45C7-9595-EA62676DC56E}" type="slidenum">
              <a:rPr lang="en-US" smtClean="0"/>
              <a:t>8</a:t>
            </a:fld>
            <a:endParaRPr lang="en-US"/>
          </a:p>
        </p:txBody>
      </p:sp>
    </p:spTree>
    <p:extLst>
      <p:ext uri="{BB962C8B-B14F-4D97-AF65-F5344CB8AC3E}">
        <p14:creationId xmlns:p14="http://schemas.microsoft.com/office/powerpoint/2010/main" val="32543872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 When class imbalance is accounted for, a decent amount of individuals who do not have a mental </a:t>
            </a:r>
          </a:p>
          <a:p>
            <a:r>
              <a:rPr lang="en-US" sz="1200" b="0" kern="1200" dirty="0">
                <a:solidFill>
                  <a:schemeClr val="tx1"/>
                </a:solidFill>
                <a:effectLst/>
                <a:latin typeface="+mn-lt"/>
                <a:ea typeface="+mn-ea"/>
                <a:cs typeface="+mn-cs"/>
              </a:rPr>
              <a:t># illness are identified. The model accuracy is now 76%, but identifies those without a mental illness. </a:t>
            </a:r>
          </a:p>
          <a:p>
            <a:r>
              <a:rPr lang="en-US" sz="1200" b="0" kern="1200" dirty="0">
                <a:solidFill>
                  <a:schemeClr val="tx1"/>
                </a:solidFill>
                <a:effectLst/>
                <a:latin typeface="+mn-lt"/>
                <a:ea typeface="+mn-ea"/>
                <a:cs typeface="+mn-cs"/>
              </a:rPr>
              <a:t># The demographic/independent variables have modest predictive power now. </a:t>
            </a:r>
          </a:p>
          <a:p>
            <a:endParaRPr lang="en-US" dirty="0"/>
          </a:p>
        </p:txBody>
      </p:sp>
      <p:sp>
        <p:nvSpPr>
          <p:cNvPr id="4" name="Slide Number Placeholder 3"/>
          <p:cNvSpPr>
            <a:spLocks noGrp="1"/>
          </p:cNvSpPr>
          <p:nvPr>
            <p:ph type="sldNum" sz="quarter" idx="5"/>
          </p:nvPr>
        </p:nvSpPr>
        <p:spPr/>
        <p:txBody>
          <a:bodyPr/>
          <a:lstStyle/>
          <a:p>
            <a:fld id="{225E0D09-A73B-45C7-9595-EA62676DC56E}" type="slidenum">
              <a:rPr lang="en-US" smtClean="0"/>
              <a:t>9</a:t>
            </a:fld>
            <a:endParaRPr lang="en-US"/>
          </a:p>
        </p:txBody>
      </p:sp>
    </p:spTree>
    <p:extLst>
      <p:ext uri="{BB962C8B-B14F-4D97-AF65-F5344CB8AC3E}">
        <p14:creationId xmlns:p14="http://schemas.microsoft.com/office/powerpoint/2010/main" val="9185232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 The improved logistic regression suggests that being older decreases the chance of having a mental illness, cohabitating</a:t>
            </a:r>
          </a:p>
          <a:p>
            <a:r>
              <a:rPr lang="en-US" sz="1200" b="0" kern="1200" dirty="0">
                <a:solidFill>
                  <a:schemeClr val="tx1"/>
                </a:solidFill>
                <a:effectLst/>
                <a:latin typeface="+mn-lt"/>
                <a:ea typeface="+mn-ea"/>
                <a:cs typeface="+mn-cs"/>
              </a:rPr>
              <a:t># with others and substance use minimally increases the risk of having a mental illness. All demographic variables have </a:t>
            </a:r>
          </a:p>
          <a:p>
            <a:r>
              <a:rPr lang="en-US" sz="1200" b="0" kern="1200" dirty="0">
                <a:solidFill>
                  <a:schemeClr val="tx1"/>
                </a:solidFill>
                <a:effectLst/>
                <a:latin typeface="+mn-lt"/>
                <a:ea typeface="+mn-ea"/>
                <a:cs typeface="+mn-cs"/>
              </a:rPr>
              <a:t># small impacts on mental illnesses.</a:t>
            </a:r>
          </a:p>
          <a:p>
            <a:endParaRPr lang="en-US" dirty="0"/>
          </a:p>
        </p:txBody>
      </p:sp>
      <p:sp>
        <p:nvSpPr>
          <p:cNvPr id="4" name="Slide Number Placeholder 3"/>
          <p:cNvSpPr>
            <a:spLocks noGrp="1"/>
          </p:cNvSpPr>
          <p:nvPr>
            <p:ph type="sldNum" sz="quarter" idx="5"/>
          </p:nvPr>
        </p:nvSpPr>
        <p:spPr/>
        <p:txBody>
          <a:bodyPr/>
          <a:lstStyle/>
          <a:p>
            <a:fld id="{225E0D09-A73B-45C7-9595-EA62676DC56E}" type="slidenum">
              <a:rPr lang="en-US" smtClean="0"/>
              <a:t>10</a:t>
            </a:fld>
            <a:endParaRPr lang="en-US"/>
          </a:p>
        </p:txBody>
      </p:sp>
    </p:spTree>
    <p:extLst>
      <p:ext uri="{BB962C8B-B14F-4D97-AF65-F5344CB8AC3E}">
        <p14:creationId xmlns:p14="http://schemas.microsoft.com/office/powerpoint/2010/main" val="12467334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 The Random Forest model also had an accuracy of 97% and an AUC of 0.69, again having some </a:t>
            </a:r>
          </a:p>
          <a:p>
            <a:r>
              <a:rPr lang="en-US" sz="1200" b="0" kern="1200" dirty="0">
                <a:solidFill>
                  <a:schemeClr val="tx1"/>
                </a:solidFill>
                <a:effectLst/>
                <a:latin typeface="+mn-lt"/>
                <a:ea typeface="+mn-ea"/>
                <a:cs typeface="+mn-cs"/>
              </a:rPr>
              <a:t># discriminative ability. This model also suffers from the class imbalance, having a recall of 0.04</a:t>
            </a:r>
          </a:p>
          <a:p>
            <a:r>
              <a:rPr lang="en-US" sz="1200" b="0" kern="1200" dirty="0">
                <a:solidFill>
                  <a:schemeClr val="tx1"/>
                </a:solidFill>
                <a:effectLst/>
                <a:latin typeface="+mn-lt"/>
                <a:ea typeface="+mn-ea"/>
                <a:cs typeface="+mn-cs"/>
              </a:rPr>
              <a:t># for individuals without a mental illness. This model is extremely biased toward those who do have</a:t>
            </a:r>
          </a:p>
          <a:p>
            <a:r>
              <a:rPr lang="en-US" sz="1200" b="0" kern="1200" dirty="0">
                <a:solidFill>
                  <a:schemeClr val="tx1"/>
                </a:solidFill>
                <a:effectLst/>
                <a:latin typeface="+mn-lt"/>
                <a:ea typeface="+mn-ea"/>
                <a:cs typeface="+mn-cs"/>
              </a:rPr>
              <a:t># a mental illness.</a:t>
            </a:r>
          </a:p>
          <a:p>
            <a:endParaRPr lang="en-US" dirty="0"/>
          </a:p>
        </p:txBody>
      </p:sp>
      <p:sp>
        <p:nvSpPr>
          <p:cNvPr id="4" name="Slide Number Placeholder 3"/>
          <p:cNvSpPr>
            <a:spLocks noGrp="1"/>
          </p:cNvSpPr>
          <p:nvPr>
            <p:ph type="sldNum" sz="quarter" idx="5"/>
          </p:nvPr>
        </p:nvSpPr>
        <p:spPr/>
        <p:txBody>
          <a:bodyPr/>
          <a:lstStyle/>
          <a:p>
            <a:fld id="{225E0D09-A73B-45C7-9595-EA62676DC56E}" type="slidenum">
              <a:rPr lang="en-US" smtClean="0"/>
              <a:t>11</a:t>
            </a:fld>
            <a:endParaRPr lang="en-US"/>
          </a:p>
        </p:txBody>
      </p:sp>
    </p:spTree>
    <p:extLst>
      <p:ext uri="{BB962C8B-B14F-4D97-AF65-F5344CB8AC3E}">
        <p14:creationId xmlns:p14="http://schemas.microsoft.com/office/powerpoint/2010/main" val="24544622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 The random forest model demonstrates that region served, education status, and race are the most </a:t>
            </a:r>
          </a:p>
          <a:p>
            <a:r>
              <a:rPr lang="en-US" sz="1200" b="0" kern="1200" dirty="0">
                <a:solidFill>
                  <a:schemeClr val="tx1"/>
                </a:solidFill>
                <a:effectLst/>
                <a:latin typeface="+mn-lt"/>
                <a:ea typeface="+mn-ea"/>
                <a:cs typeface="+mn-cs"/>
              </a:rPr>
              <a:t># significant predictors of mental illness. Sexual orientation, household composition, and age group </a:t>
            </a:r>
          </a:p>
          <a:p>
            <a:r>
              <a:rPr lang="en-US" sz="1200" b="0" kern="1200" dirty="0">
                <a:solidFill>
                  <a:schemeClr val="tx1"/>
                </a:solidFill>
                <a:effectLst/>
                <a:latin typeface="+mn-lt"/>
                <a:ea typeface="+mn-ea"/>
                <a:cs typeface="+mn-cs"/>
              </a:rPr>
              <a:t># have some importance on the model. Sex, alcohol related disorder, drug substance disorder, and </a:t>
            </a:r>
          </a:p>
          <a:p>
            <a:r>
              <a:rPr lang="en-US" sz="1200" b="0" kern="1200" dirty="0">
                <a:solidFill>
                  <a:schemeClr val="tx1"/>
                </a:solidFill>
                <a:effectLst/>
                <a:latin typeface="+mn-lt"/>
                <a:ea typeface="+mn-ea"/>
                <a:cs typeface="+mn-cs"/>
              </a:rPr>
              <a:t># veteran status do not contribute much to the model's predictions. </a:t>
            </a:r>
          </a:p>
          <a:p>
            <a:endParaRPr lang="en-US" dirty="0"/>
          </a:p>
        </p:txBody>
      </p:sp>
      <p:sp>
        <p:nvSpPr>
          <p:cNvPr id="4" name="Slide Number Placeholder 3"/>
          <p:cNvSpPr>
            <a:spLocks noGrp="1"/>
          </p:cNvSpPr>
          <p:nvPr>
            <p:ph type="sldNum" sz="quarter" idx="5"/>
          </p:nvPr>
        </p:nvSpPr>
        <p:spPr/>
        <p:txBody>
          <a:bodyPr/>
          <a:lstStyle/>
          <a:p>
            <a:fld id="{225E0D09-A73B-45C7-9595-EA62676DC56E}" type="slidenum">
              <a:rPr lang="en-US" smtClean="0"/>
              <a:t>12</a:t>
            </a:fld>
            <a:endParaRPr lang="en-US"/>
          </a:p>
        </p:txBody>
      </p:sp>
    </p:spTree>
    <p:extLst>
      <p:ext uri="{BB962C8B-B14F-4D97-AF65-F5344CB8AC3E}">
        <p14:creationId xmlns:p14="http://schemas.microsoft.com/office/powerpoint/2010/main" val="305172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 When the class is balanced, the random forest model had a 75% accuracy and an AUC of 0.68.</a:t>
            </a:r>
          </a:p>
          <a:p>
            <a:r>
              <a:rPr lang="en-US" sz="1200" b="0" kern="1200" dirty="0">
                <a:solidFill>
                  <a:schemeClr val="tx1"/>
                </a:solidFill>
                <a:effectLst/>
                <a:latin typeface="+mn-lt"/>
                <a:ea typeface="+mn-ea"/>
                <a:cs typeface="+mn-cs"/>
              </a:rPr>
              <a:t># The recall for those without a mental illness is 0.55 which improved from 0.04.</a:t>
            </a:r>
          </a:p>
          <a:p>
            <a:endParaRPr lang="en-US" dirty="0"/>
          </a:p>
        </p:txBody>
      </p:sp>
      <p:sp>
        <p:nvSpPr>
          <p:cNvPr id="4" name="Slide Number Placeholder 3"/>
          <p:cNvSpPr>
            <a:spLocks noGrp="1"/>
          </p:cNvSpPr>
          <p:nvPr>
            <p:ph type="sldNum" sz="quarter" idx="5"/>
          </p:nvPr>
        </p:nvSpPr>
        <p:spPr/>
        <p:txBody>
          <a:bodyPr/>
          <a:lstStyle/>
          <a:p>
            <a:fld id="{225E0D09-A73B-45C7-9595-EA62676DC56E}" type="slidenum">
              <a:rPr lang="en-US" smtClean="0"/>
              <a:t>13</a:t>
            </a:fld>
            <a:endParaRPr lang="en-US"/>
          </a:p>
        </p:txBody>
      </p:sp>
    </p:spTree>
    <p:extLst>
      <p:ext uri="{BB962C8B-B14F-4D97-AF65-F5344CB8AC3E}">
        <p14:creationId xmlns:p14="http://schemas.microsoft.com/office/powerpoint/2010/main" val="39831309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 Region served, education status, and age group are the most influential predictors</a:t>
            </a:r>
          </a:p>
          <a:p>
            <a:r>
              <a:rPr lang="en-US" sz="1200" b="0" kern="1200" dirty="0">
                <a:solidFill>
                  <a:schemeClr val="tx1"/>
                </a:solidFill>
                <a:effectLst/>
                <a:latin typeface="+mn-lt"/>
                <a:ea typeface="+mn-ea"/>
                <a:cs typeface="+mn-cs"/>
              </a:rPr>
              <a:t># of mental illness. Race, sexual orientation, and household consumption have some importance</a:t>
            </a:r>
          </a:p>
          <a:p>
            <a:r>
              <a:rPr lang="en-US" sz="1200" b="0" kern="1200" dirty="0">
                <a:solidFill>
                  <a:schemeClr val="tx1"/>
                </a:solidFill>
                <a:effectLst/>
                <a:latin typeface="+mn-lt"/>
                <a:ea typeface="+mn-ea"/>
                <a:cs typeface="+mn-cs"/>
              </a:rPr>
              <a:t># on predicting mental illness. Sex, </a:t>
            </a:r>
            <a:r>
              <a:rPr lang="en-US" sz="1200" b="0" kern="1200" dirty="0" err="1">
                <a:solidFill>
                  <a:schemeClr val="tx1"/>
                </a:solidFill>
                <a:effectLst/>
                <a:latin typeface="+mn-lt"/>
                <a:ea typeface="+mn-ea"/>
                <a:cs typeface="+mn-cs"/>
              </a:rPr>
              <a:t>alchohol</a:t>
            </a:r>
            <a:r>
              <a:rPr lang="en-US" sz="1200" b="0" kern="1200" dirty="0">
                <a:solidFill>
                  <a:schemeClr val="tx1"/>
                </a:solidFill>
                <a:effectLst/>
                <a:latin typeface="+mn-lt"/>
                <a:ea typeface="+mn-ea"/>
                <a:cs typeface="+mn-cs"/>
              </a:rPr>
              <a:t> related disorder, drug substance disorder, and</a:t>
            </a:r>
          </a:p>
          <a:p>
            <a:r>
              <a:rPr lang="en-US" sz="1200" b="0" kern="1200" dirty="0">
                <a:solidFill>
                  <a:schemeClr val="tx1"/>
                </a:solidFill>
                <a:effectLst/>
                <a:latin typeface="+mn-lt"/>
                <a:ea typeface="+mn-ea"/>
                <a:cs typeface="+mn-cs"/>
              </a:rPr>
              <a:t># veteran status did not contribute much to the model.</a:t>
            </a:r>
          </a:p>
          <a:p>
            <a:endParaRPr lang="en-US" dirty="0"/>
          </a:p>
        </p:txBody>
      </p:sp>
      <p:sp>
        <p:nvSpPr>
          <p:cNvPr id="4" name="Slide Number Placeholder 3"/>
          <p:cNvSpPr>
            <a:spLocks noGrp="1"/>
          </p:cNvSpPr>
          <p:nvPr>
            <p:ph type="sldNum" sz="quarter" idx="5"/>
          </p:nvPr>
        </p:nvSpPr>
        <p:spPr/>
        <p:txBody>
          <a:bodyPr/>
          <a:lstStyle/>
          <a:p>
            <a:fld id="{225E0D09-A73B-45C7-9595-EA62676DC56E}" type="slidenum">
              <a:rPr lang="en-US" smtClean="0"/>
              <a:t>14</a:t>
            </a:fld>
            <a:endParaRPr lang="en-US"/>
          </a:p>
        </p:txBody>
      </p:sp>
    </p:spTree>
    <p:extLst>
      <p:ext uri="{BB962C8B-B14F-4D97-AF65-F5344CB8AC3E}">
        <p14:creationId xmlns:p14="http://schemas.microsoft.com/office/powerpoint/2010/main" val="33182547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 No correlation is above 0.51, so I do not think multicollinearity needs to be addressed.</a:t>
            </a:r>
          </a:p>
          <a:p>
            <a:endParaRPr lang="en-US" dirty="0"/>
          </a:p>
        </p:txBody>
      </p:sp>
      <p:sp>
        <p:nvSpPr>
          <p:cNvPr id="4" name="Slide Number Placeholder 3"/>
          <p:cNvSpPr>
            <a:spLocks noGrp="1"/>
          </p:cNvSpPr>
          <p:nvPr>
            <p:ph type="sldNum" sz="quarter" idx="5"/>
          </p:nvPr>
        </p:nvSpPr>
        <p:spPr/>
        <p:txBody>
          <a:bodyPr/>
          <a:lstStyle/>
          <a:p>
            <a:fld id="{225E0D09-A73B-45C7-9595-EA62676DC56E}" type="slidenum">
              <a:rPr lang="en-US" smtClean="0"/>
              <a:t>15</a:t>
            </a:fld>
            <a:endParaRPr lang="en-US"/>
          </a:p>
        </p:txBody>
      </p:sp>
    </p:spTree>
    <p:extLst>
      <p:ext uri="{BB962C8B-B14F-4D97-AF65-F5344CB8AC3E}">
        <p14:creationId xmlns:p14="http://schemas.microsoft.com/office/powerpoint/2010/main" val="40205417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Microsoft JhengHei" panose="020B0604030504040204" pitchFamily="34" charset="-120"/>
                <a:ea typeface="Microsoft JhengHei" panose="020B0604030504040204" pitchFamily="34" charset="-120"/>
              </a:rPr>
              <a:t>The model accuracy is 76%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Microsoft JhengHei" panose="020B0604030504040204" pitchFamily="34" charset="-120"/>
                <a:ea typeface="Microsoft JhengHei" panose="020B0604030504040204" pitchFamily="34" charset="-120"/>
              </a:rPr>
              <a:t>The demographic variables have modest predictive power</a:t>
            </a:r>
          </a:p>
          <a:p>
            <a:endParaRPr lang="en-US" dirty="0"/>
          </a:p>
        </p:txBody>
      </p:sp>
      <p:sp>
        <p:nvSpPr>
          <p:cNvPr id="4" name="Slide Number Placeholder 3"/>
          <p:cNvSpPr>
            <a:spLocks noGrp="1"/>
          </p:cNvSpPr>
          <p:nvPr>
            <p:ph type="sldNum" sz="quarter" idx="5"/>
          </p:nvPr>
        </p:nvSpPr>
        <p:spPr/>
        <p:txBody>
          <a:bodyPr/>
          <a:lstStyle/>
          <a:p>
            <a:fld id="{225E0D09-A73B-45C7-9595-EA62676DC56E}" type="slidenum">
              <a:rPr lang="en-US" smtClean="0"/>
              <a:t>16</a:t>
            </a:fld>
            <a:endParaRPr lang="en-US"/>
          </a:p>
        </p:txBody>
      </p:sp>
    </p:spTree>
    <p:extLst>
      <p:ext uri="{BB962C8B-B14F-4D97-AF65-F5344CB8AC3E}">
        <p14:creationId xmlns:p14="http://schemas.microsoft.com/office/powerpoint/2010/main" val="39186643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zh-TW" altLang="en-US"/>
              <a:t>按一下以編輯母片標題樣式</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10038803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2606470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zh-TW" altLang="en-US"/>
              <a:t>按一下以編輯母片標題樣式</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1810778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Date Placeholder 4"/>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21782123"/>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zh-TW" altLang="en-US"/>
              <a:t>按一下以編輯母片標題樣式</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7" name="Date Placeholder 6"/>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8" name="Footer Placeholder 7"/>
          <p:cNvSpPr>
            <a:spLocks noGrp="1"/>
          </p:cNvSpPr>
          <p:nvPr>
            <p:ph type="ftr" sz="quarter" idx="11"/>
          </p:nvPr>
        </p:nvSpPr>
        <p:spPr/>
        <p:txBody>
          <a:bodyPr/>
          <a:lstStyle/>
          <a:p>
            <a:endParaRPr kumimoji="1" lang="zh-TW" altLang="en-US"/>
          </a:p>
        </p:txBody>
      </p:sp>
      <p:sp>
        <p:nvSpPr>
          <p:cNvPr id="9" name="Slide Number Placeholder 8"/>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411769871"/>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zh-TW" altLang="en-US"/>
              <a:t>按一下以編輯母片標題樣式</a:t>
            </a:r>
            <a:endParaRPr lang="en-US" dirty="0"/>
          </a:p>
        </p:txBody>
      </p:sp>
      <p:sp>
        <p:nvSpPr>
          <p:cNvPr id="3" name="Date Placeholder 2"/>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4" name="Footer Placeholder 3"/>
          <p:cNvSpPr>
            <a:spLocks noGrp="1"/>
          </p:cNvSpPr>
          <p:nvPr>
            <p:ph type="ftr" sz="quarter" idx="11"/>
          </p:nvPr>
        </p:nvSpPr>
        <p:spPr/>
        <p:txBody>
          <a:bodyPr/>
          <a:lstStyle/>
          <a:p>
            <a:endParaRPr kumimoji="1" lang="zh-TW" altLang="en-US"/>
          </a:p>
        </p:txBody>
      </p:sp>
      <p:sp>
        <p:nvSpPr>
          <p:cNvPr id="5" name="Slide Number Placeholder 4"/>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23945137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3" name="Footer Placeholder 2"/>
          <p:cNvSpPr>
            <a:spLocks noGrp="1"/>
          </p:cNvSpPr>
          <p:nvPr>
            <p:ph type="ftr" sz="quarter" idx="11"/>
          </p:nvPr>
        </p:nvSpPr>
        <p:spPr/>
        <p:txBody>
          <a:bodyPr/>
          <a:lstStyle/>
          <a:p>
            <a:endParaRPr kumimoji="1" lang="zh-TW" altLang="en-US"/>
          </a:p>
        </p:txBody>
      </p:sp>
      <p:sp>
        <p:nvSpPr>
          <p:cNvPr id="4" name="Slide Number Placeholder 3"/>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1744930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zh-TW" altLang="en-US"/>
              <a:t>按一下以編輯母片標題樣式</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268547029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zh-TW" altLang="en-US"/>
              <a:t>按一下以編輯母片標題樣式</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zh-TW" altLang="en-US"/>
              <a:t>按一下圖示以新增圖片</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
        <p:nvSpPr>
          <p:cNvPr id="5" name="Date Placeholder 4"/>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Tree>
    <p:extLst>
      <p:ext uri="{BB962C8B-B14F-4D97-AF65-F5344CB8AC3E}">
        <p14:creationId xmlns:p14="http://schemas.microsoft.com/office/powerpoint/2010/main" val="1774133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標題與輔助字幕">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zh-TW" altLang="en-US"/>
              <a:t>按一下以編輯母片標題樣式</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32896012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引述 (含輔助字幕)">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zh-TW" altLang="en-US"/>
              <a:t>按一下以編輯母片標題樣式</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zh-TW" altLang="en-US"/>
              <a:t>按一下以編輯母片文字樣式</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266709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名片">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zh-TW" altLang="en-US"/>
              <a:t>按一下以編輯母片標題樣式</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34379925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引述名片">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zh-TW" altLang="en-US"/>
              <a:t>按一下以編輯母片標題樣式</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zh-TW" altLang="en-US"/>
              <a:t>按一下以編輯母片文字樣式</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180354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是非題">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zh-TW" altLang="en-US"/>
              <a:t>按一下以編輯母片標題樣式</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zh-TW" altLang="en-US"/>
              <a:t>按一下以編輯母片文字樣式</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5933228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Vertical Text Placeholder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35733760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zh-TW" altLang="en-US"/>
              <a:t>按一下以編輯母片標題樣式</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C7CB63CC-3986-A348-B522-7E03CA4B0442}" type="datetimeFigureOut">
              <a:rPr kumimoji="1" lang="zh-TW" altLang="en-US" smtClean="0"/>
              <a:t>2025/12/3</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8837201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7CB63CC-3986-A348-B522-7E03CA4B0442}" type="datetimeFigureOut">
              <a:rPr kumimoji="1" lang="zh-TW" altLang="en-US" smtClean="0"/>
              <a:t>2025/12/3</a:t>
            </a:fld>
            <a:endParaRPr kumimoji="1" lang="zh-TW" alt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kumimoji="1" lang="zh-TW" alt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2E92510-1395-B646-8064-93ECB20E51C9}" type="slidenum">
              <a:rPr kumimoji="1" lang="zh-TW" altLang="en-US" smtClean="0"/>
              <a:t>‹#›</a:t>
            </a:fld>
            <a:endParaRPr kumimoji="1" lang="zh-TW" altLang="en-US"/>
          </a:p>
        </p:txBody>
      </p:sp>
    </p:spTree>
    <p:extLst>
      <p:ext uri="{BB962C8B-B14F-4D97-AF65-F5344CB8AC3E}">
        <p14:creationId xmlns:p14="http://schemas.microsoft.com/office/powerpoint/2010/main" val="4244729012"/>
      </p:ext>
    </p:extLst>
  </p:cSld>
  <p:clrMap bg1="lt1" tx1="dk1" bg2="lt2" tx2="dk2" accent1="accent1" accent2="accent2" accent3="accent3" accent4="accent4" accent5="accent5" accent6="accent6" hlink="hlink" folHlink="folHlink"/>
  <p:sldLayoutIdLst>
    <p:sldLayoutId id="2147483876" r:id="rId1"/>
    <p:sldLayoutId id="2147483877" r:id="rId2"/>
    <p:sldLayoutId id="2147483878" r:id="rId3"/>
    <p:sldLayoutId id="2147483879" r:id="rId4"/>
    <p:sldLayoutId id="2147483880" r:id="rId5"/>
    <p:sldLayoutId id="2147483881" r:id="rId6"/>
    <p:sldLayoutId id="2147483882" r:id="rId7"/>
    <p:sldLayoutId id="2147483883" r:id="rId8"/>
    <p:sldLayoutId id="2147483884" r:id="rId9"/>
    <p:sldLayoutId id="2147483885" r:id="rId10"/>
    <p:sldLayoutId id="2147483886" r:id="rId11"/>
    <p:sldLayoutId id="2147483887" r:id="rId12"/>
    <p:sldLayoutId id="2147483888" r:id="rId13"/>
    <p:sldLayoutId id="2147483889" r:id="rId14"/>
    <p:sldLayoutId id="2147483890" r:id="rId15"/>
    <p:sldLayoutId id="2147483891"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data.ny.gov/Human-Services/Patient-Characteristics-Survey-PCS-2019/urn3-ezfe/about_data" TargetMode="External"/><Relationship Id="rId2" Type="http://schemas.openxmlformats.org/officeDocument/2006/relationships/hyperlink" Target="https://github.com/daniasalman6/Project-Data-Mining"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83EA046-62E9-874E-BEE2-11E963BA91DC}"/>
              </a:ext>
            </a:extLst>
          </p:cNvPr>
          <p:cNvSpPr>
            <a:spLocks noGrp="1"/>
          </p:cNvSpPr>
          <p:nvPr>
            <p:ph type="ctrTitle"/>
          </p:nvPr>
        </p:nvSpPr>
        <p:spPr>
          <a:xfrm>
            <a:off x="1507067" y="1612054"/>
            <a:ext cx="7766936" cy="1646302"/>
          </a:xfrm>
        </p:spPr>
        <p:txBody>
          <a:bodyPr/>
          <a:lstStyle/>
          <a:p>
            <a:pPr algn="l"/>
            <a:r>
              <a:rPr lang="en" altLang="zh-TW" b="1" dirty="0">
                <a:latin typeface="Times New Roman" panose="02020603050405020304" pitchFamily="18" charset="0"/>
                <a:cs typeface="Times New Roman" panose="02020603050405020304" pitchFamily="18" charset="0"/>
              </a:rPr>
              <a:t>Mental Health Patterns and Living Situations in New York State</a:t>
            </a:r>
            <a:endParaRPr kumimoji="1" lang="zh-TW" altLang="en-US" b="1" dirty="0">
              <a:latin typeface="Times New Roman" panose="02020603050405020304" pitchFamily="18" charset="0"/>
              <a:cs typeface="Times New Roman" panose="02020603050405020304" pitchFamily="18" charset="0"/>
            </a:endParaRPr>
          </a:p>
        </p:txBody>
      </p:sp>
      <p:sp>
        <p:nvSpPr>
          <p:cNvPr id="3" name="副標題 2">
            <a:extLst>
              <a:ext uri="{FF2B5EF4-FFF2-40B4-BE49-F238E27FC236}">
                <a16:creationId xmlns:a16="http://schemas.microsoft.com/office/drawing/2014/main" id="{D16BB889-F454-2CB7-2E78-AAB5EBDED72C}"/>
              </a:ext>
            </a:extLst>
          </p:cNvPr>
          <p:cNvSpPr>
            <a:spLocks noGrp="1"/>
          </p:cNvSpPr>
          <p:nvPr>
            <p:ph type="subTitle" idx="1"/>
          </p:nvPr>
        </p:nvSpPr>
        <p:spPr>
          <a:xfrm>
            <a:off x="1507067" y="3806231"/>
            <a:ext cx="7766936" cy="1646302"/>
          </a:xfrm>
        </p:spPr>
        <p:txBody>
          <a:bodyPr>
            <a:normAutofit/>
          </a:bodyPr>
          <a:lstStyle/>
          <a:p>
            <a:pPr algn="ctr"/>
            <a:r>
              <a:rPr lang="en-IN" altLang="zh-TW" sz="2000" dirty="0">
                <a:solidFill>
                  <a:schemeClr val="tx1"/>
                </a:solidFill>
                <a:latin typeface="Times New Roman" panose="02020603050405020304" pitchFamily="18" charset="0"/>
                <a:cs typeface="Times New Roman" panose="02020603050405020304" pitchFamily="18" charset="0"/>
              </a:rPr>
              <a:t>Dania Salman</a:t>
            </a:r>
          </a:p>
          <a:p>
            <a:pPr algn="ctr"/>
            <a:r>
              <a:rPr lang="en-IN" altLang="zh-TW" sz="2000" dirty="0">
                <a:solidFill>
                  <a:schemeClr val="tx1"/>
                </a:solidFill>
                <a:latin typeface="Times New Roman" panose="02020603050405020304" pitchFamily="18" charset="0"/>
                <a:cs typeface="Times New Roman" panose="02020603050405020304" pitchFamily="18" charset="0"/>
              </a:rPr>
              <a:t>HENG-JUI CHU</a:t>
            </a:r>
          </a:p>
          <a:p>
            <a:pPr algn="ctr"/>
            <a:r>
              <a:rPr lang="en-IN" altLang="zh-TW" sz="2000" dirty="0">
                <a:solidFill>
                  <a:schemeClr val="tx1"/>
                </a:solidFill>
                <a:latin typeface="Times New Roman" panose="02020603050405020304" pitchFamily="18" charset="0"/>
                <a:cs typeface="Times New Roman" panose="02020603050405020304" pitchFamily="18" charset="0"/>
              </a:rPr>
              <a:t>Emma Francis</a:t>
            </a:r>
          </a:p>
          <a:p>
            <a:pPr algn="ctr"/>
            <a:endParaRPr kumimoji="1" lang="zh-TW" altLang="en-US" sz="20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13571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2891BC3-7AFE-2384-DEB3-129363961C22}"/>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Source Links</a:t>
            </a:r>
            <a:endParaRPr kumimoji="1" lang="zh-TW" altLang="en-US" b="1" dirty="0">
              <a:latin typeface="Times New Roman" panose="02020603050405020304" pitchFamily="18" charset="0"/>
              <a:cs typeface="Times New Roman" panose="02020603050405020304" pitchFamily="18" charset="0"/>
            </a:endParaRPr>
          </a:p>
        </p:txBody>
      </p:sp>
      <p:sp>
        <p:nvSpPr>
          <p:cNvPr id="3" name="內容版面配置區 2">
            <a:extLst>
              <a:ext uri="{FF2B5EF4-FFF2-40B4-BE49-F238E27FC236}">
                <a16:creationId xmlns:a16="http://schemas.microsoft.com/office/drawing/2014/main" id="{7B474D46-9BC6-2BDD-7BA8-C30AE216FBCE}"/>
              </a:ext>
            </a:extLst>
          </p:cNvPr>
          <p:cNvSpPr>
            <a:spLocks noGrp="1"/>
          </p:cNvSpPr>
          <p:nvPr>
            <p:ph idx="1"/>
          </p:nvPr>
        </p:nvSpPr>
        <p:spPr>
          <a:xfrm>
            <a:off x="677334" y="1930400"/>
            <a:ext cx="7968826" cy="3880773"/>
          </a:xfrm>
        </p:spPr>
        <p:txBody>
          <a:bodyPr>
            <a:normAutofit fontScale="92500" lnSpcReduction="10000"/>
          </a:bodyPr>
          <a:lstStyle/>
          <a:p>
            <a:pPr marL="0" indent="0">
              <a:buNone/>
            </a:pPr>
            <a:r>
              <a:rPr kumimoji="1" lang="en-US" altLang="zh-TW" b="1" dirty="0">
                <a:latin typeface="Times New Roman" panose="02020603050405020304" pitchFamily="18" charset="0"/>
                <a:cs typeface="Times New Roman" panose="02020603050405020304" pitchFamily="18" charset="0"/>
              </a:rPr>
              <a:t>Git Hub:</a:t>
            </a:r>
          </a:p>
          <a:p>
            <a:pPr marL="0" indent="0">
              <a:buNone/>
            </a:pPr>
            <a:r>
              <a:rPr kumimoji="1" lang="en-US" altLang="zh-TW" dirty="0">
                <a:latin typeface="Times New Roman" panose="02020603050405020304" pitchFamily="18" charset="0"/>
                <a:cs typeface="Times New Roman" panose="02020603050405020304" pitchFamily="18" charset="0"/>
                <a:hlinkClick r:id="rId2"/>
              </a:rPr>
              <a:t>https://github.com/daniasalman6/Project-Data-Mining</a:t>
            </a:r>
            <a:endParaRPr kumimoji="1" lang="en-US" altLang="zh-TW" dirty="0">
              <a:latin typeface="Times New Roman" panose="02020603050405020304" pitchFamily="18" charset="0"/>
              <a:cs typeface="Times New Roman" panose="02020603050405020304" pitchFamily="18" charset="0"/>
            </a:endParaRPr>
          </a:p>
          <a:p>
            <a:pPr marL="0" indent="0">
              <a:buNone/>
            </a:pPr>
            <a:endParaRPr kumimoji="1" lang="en-US" altLang="zh-TW" dirty="0">
              <a:latin typeface="Times New Roman" panose="02020603050405020304" pitchFamily="18" charset="0"/>
              <a:cs typeface="Times New Roman" panose="02020603050405020304" pitchFamily="18" charset="0"/>
            </a:endParaRPr>
          </a:p>
          <a:p>
            <a:pPr marL="0" indent="0">
              <a:buNone/>
            </a:pPr>
            <a:r>
              <a:rPr lang="en-US" altLang="zh-TW" b="1" dirty="0">
                <a:latin typeface="Times New Roman" panose="02020603050405020304" pitchFamily="18" charset="0"/>
                <a:cs typeface="Times New Roman" panose="02020603050405020304" pitchFamily="18" charset="0"/>
              </a:rPr>
              <a:t>Dataset Link:</a:t>
            </a:r>
          </a:p>
          <a:p>
            <a:pPr marL="0" indent="0">
              <a:buNone/>
            </a:pPr>
            <a:r>
              <a:rPr kumimoji="1" lang="en-US" altLang="zh-TW" dirty="0">
                <a:latin typeface="Times New Roman" panose="02020603050405020304" pitchFamily="18" charset="0"/>
                <a:cs typeface="Times New Roman" panose="02020603050405020304" pitchFamily="18" charset="0"/>
                <a:hlinkClick r:id="rId3"/>
              </a:rPr>
              <a:t>https://data.ny.gov/Human-Services/Patient-Characteristics-Survey-PCS-2019/urn3-ezfe/about_data</a:t>
            </a:r>
            <a:endParaRPr kumimoji="1" lang="en-US" altLang="zh-TW" dirty="0">
              <a:latin typeface="Times New Roman" panose="02020603050405020304" pitchFamily="18" charset="0"/>
              <a:cs typeface="Times New Roman" panose="02020603050405020304" pitchFamily="18" charset="0"/>
            </a:endParaRPr>
          </a:p>
          <a:p>
            <a:pPr marL="0" indent="0">
              <a:buNone/>
            </a:pPr>
            <a:endParaRPr lang="en-US" altLang="zh-TW" dirty="0">
              <a:latin typeface="Times New Roman" panose="02020603050405020304" pitchFamily="18" charset="0"/>
              <a:cs typeface="Times New Roman" panose="02020603050405020304" pitchFamily="18" charset="0"/>
            </a:endParaRPr>
          </a:p>
          <a:p>
            <a:pPr marL="0" indent="0">
              <a:buNone/>
            </a:pPr>
            <a:r>
              <a:rPr lang="en" altLang="zh-TW" dirty="0">
                <a:latin typeface="Times New Roman" panose="02020603050405020304" pitchFamily="18" charset="0"/>
                <a:cs typeface="Times New Roman" panose="02020603050405020304" pitchFamily="18" charset="0"/>
              </a:rPr>
              <a:t>The PCS 2019 dataset provides comprehensive information on mental health services and client characteristics across New York State.</a:t>
            </a:r>
          </a:p>
          <a:p>
            <a:pPr marL="0" indent="0">
              <a:buNone/>
            </a:pPr>
            <a:endParaRPr lang="en-US" altLang="zh-TW" dirty="0">
              <a:latin typeface="Times New Roman" panose="02020603050405020304" pitchFamily="18" charset="0"/>
              <a:cs typeface="Times New Roman" panose="02020603050405020304" pitchFamily="18" charset="0"/>
            </a:endParaRPr>
          </a:p>
          <a:p>
            <a:pPr marL="0" indent="0">
              <a:buNone/>
            </a:pPr>
            <a:r>
              <a:rPr kumimoji="1" lang="en-US" altLang="zh-TW"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453650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CD19F-E01E-3D48-753B-9D656EBDAEE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FFB6820-A860-9329-7C80-A2FDFE3462CC}"/>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Data cleaning</a:t>
            </a:r>
            <a:endParaRPr kumimoji="1" lang="zh-TW" altLang="en-US" b="1" dirty="0">
              <a:latin typeface="Times New Roman" panose="02020603050405020304" pitchFamily="18" charset="0"/>
              <a:cs typeface="Times New Roman" panose="02020603050405020304" pitchFamily="18" charset="0"/>
            </a:endParaRPr>
          </a:p>
        </p:txBody>
      </p:sp>
      <p:sp>
        <p:nvSpPr>
          <p:cNvPr id="3" name="內容版面配置區 2">
            <a:extLst>
              <a:ext uri="{FF2B5EF4-FFF2-40B4-BE49-F238E27FC236}">
                <a16:creationId xmlns:a16="http://schemas.microsoft.com/office/drawing/2014/main" id="{CA55CBFD-61CB-C6F0-4B9F-8C78BD30C22A}"/>
              </a:ext>
            </a:extLst>
          </p:cNvPr>
          <p:cNvSpPr>
            <a:spLocks noGrp="1"/>
          </p:cNvSpPr>
          <p:nvPr>
            <p:ph idx="1"/>
          </p:nvPr>
        </p:nvSpPr>
        <p:spPr>
          <a:xfrm>
            <a:off x="677334" y="1930400"/>
            <a:ext cx="8993363" cy="3880773"/>
          </a:xfrm>
        </p:spPr>
        <p:txBody>
          <a:bodyPr vert="horz" lIns="91440" tIns="45720" rIns="91440" bIns="45720" rtlCol="0" anchor="t">
            <a:normAutofit/>
          </a:bodyPr>
          <a:lstStyle/>
          <a:p>
            <a:r>
              <a:rPr lang="en" altLang="zh-TW" sz="2400" dirty="0">
                <a:latin typeface="Times New Roman"/>
                <a:ea typeface="微軟正黑體"/>
                <a:cs typeface="Times New Roman"/>
              </a:rPr>
              <a:t>Subset and filter data using column names and specific conditions</a:t>
            </a:r>
          </a:p>
          <a:p>
            <a:r>
              <a:rPr lang="en" altLang="zh-TW" sz="2400" dirty="0">
                <a:latin typeface="Times New Roman"/>
                <a:ea typeface="微軟正黑體"/>
                <a:cs typeface="Times New Roman"/>
              </a:rPr>
              <a:t>Convert “Unknown” to missing values in some cases</a:t>
            </a:r>
            <a:endParaRPr lang="en" dirty="0">
              <a:latin typeface="Times New Roman"/>
              <a:ea typeface="微軟正黑體"/>
              <a:cs typeface="Times New Roman"/>
            </a:endParaRPr>
          </a:p>
          <a:p>
            <a:r>
              <a:rPr kumimoji="1" lang="en" altLang="zh-TW" sz="2400" dirty="0">
                <a:latin typeface="Times New Roman" panose="02020603050405020304" pitchFamily="18" charset="0"/>
                <a:cs typeface="Times New Roman" panose="02020603050405020304" pitchFamily="18" charset="0"/>
              </a:rPr>
              <a:t>Remove missing values</a:t>
            </a:r>
            <a:endParaRPr kumimoji="1" lang="en-US" altLang="zh-TW" sz="2400" dirty="0">
              <a:latin typeface="Times New Roman" panose="02020603050405020304" pitchFamily="18" charset="0"/>
              <a:cs typeface="Times New Roman" panose="02020603050405020304" pitchFamily="18" charset="0"/>
            </a:endParaRPr>
          </a:p>
          <a:p>
            <a:r>
              <a:rPr lang="en" altLang="zh-TW" sz="2400" dirty="0">
                <a:latin typeface="Times New Roman"/>
                <a:ea typeface="微軟正黑體"/>
                <a:cs typeface="Times New Roman"/>
              </a:rPr>
              <a:t>Encode Categorical variables </a:t>
            </a:r>
            <a:endParaRPr kumimoji="1" lang="en" altLang="zh-TW" sz="2400" dirty="0">
              <a:latin typeface="Times New Roman"/>
              <a:ea typeface="微軟正黑體"/>
              <a:cs typeface="Times New Roman"/>
            </a:endParaRPr>
          </a:p>
          <a:p>
            <a:r>
              <a:rPr kumimoji="1" lang="en-US" altLang="zh-TW" sz="2400" dirty="0">
                <a:latin typeface="Times New Roman" panose="02020603050405020304" pitchFamily="18" charset="0"/>
                <a:cs typeface="Times New Roman" panose="02020603050405020304" pitchFamily="18" charset="0"/>
              </a:rPr>
              <a:t>146737 observations after data cleaning</a:t>
            </a:r>
            <a:endParaRPr kumimoji="1" lang="en" altLang="zh-TW"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067252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14A05-4AD5-A7DA-D25B-F3B6AAC296F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60FFB76-1144-302C-02EB-F44BA8505B42}"/>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Smart Question 1</a:t>
            </a:r>
            <a:endParaRPr kumimoji="1" lang="zh-TW" altLang="en-US" b="1" dirty="0">
              <a:latin typeface="Times New Roman" panose="02020603050405020304" pitchFamily="18" charset="0"/>
              <a:cs typeface="Times New Roman" panose="02020603050405020304" pitchFamily="18" charset="0"/>
            </a:endParaRPr>
          </a:p>
        </p:txBody>
      </p:sp>
      <p:sp>
        <p:nvSpPr>
          <p:cNvPr id="3" name="內容版面配置區 2">
            <a:extLst>
              <a:ext uri="{FF2B5EF4-FFF2-40B4-BE49-F238E27FC236}">
                <a16:creationId xmlns:a16="http://schemas.microsoft.com/office/drawing/2014/main" id="{C089B9FB-E92A-1D10-614D-C2AA1F1879FD}"/>
              </a:ext>
            </a:extLst>
          </p:cNvPr>
          <p:cNvSpPr>
            <a:spLocks noGrp="1"/>
          </p:cNvSpPr>
          <p:nvPr>
            <p:ph idx="1"/>
          </p:nvPr>
        </p:nvSpPr>
        <p:spPr>
          <a:xfrm>
            <a:off x="677334" y="1930400"/>
            <a:ext cx="7968826" cy="3880773"/>
          </a:xfrm>
        </p:spPr>
        <p:txBody>
          <a:bodyPr>
            <a:normAutofit/>
          </a:bodyPr>
          <a:lstStyle/>
          <a:p>
            <a:pPr marL="0" indent="0">
              <a:buNone/>
            </a:pPr>
            <a:r>
              <a:rPr kumimoji="1" lang="en-US" altLang="zh-TW" sz="3200" dirty="0">
                <a:latin typeface="Times New Roman" panose="02020603050405020304" pitchFamily="18" charset="0"/>
                <a:cs typeface="Times New Roman" panose="02020603050405020304" pitchFamily="18" charset="0"/>
              </a:rPr>
              <a:t>How well can demographic characteristics predict whether an adult has a diagnosed mental illness in New York State using PCS 2019 data?</a:t>
            </a:r>
          </a:p>
        </p:txBody>
      </p:sp>
    </p:spTree>
    <p:extLst>
      <p:ext uri="{BB962C8B-B14F-4D97-AF65-F5344CB8AC3E}">
        <p14:creationId xmlns:p14="http://schemas.microsoft.com/office/powerpoint/2010/main" val="2402511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27BB7-7700-3D3C-64FD-707B00D57277}"/>
              </a:ext>
            </a:extLst>
          </p:cNvPr>
          <p:cNvSpPr>
            <a:spLocks noGrp="1"/>
          </p:cNvSpPr>
          <p:nvPr>
            <p:ph type="title"/>
          </p:nvPr>
        </p:nvSpPr>
        <p:spPr/>
        <p:txBody>
          <a:bodyPr>
            <a:normAutofit/>
          </a:bodyPr>
          <a:lstStyle/>
          <a:p>
            <a:r>
              <a:rPr lang="en-US" sz="2200" dirty="0"/>
              <a:t>Class Imbalance: Over 90% of individuals in New York reported having a mental illness</a:t>
            </a:r>
            <a:br>
              <a:rPr lang="en-US" dirty="0"/>
            </a:br>
            <a:endParaRPr lang="en-US" dirty="0"/>
          </a:p>
        </p:txBody>
      </p:sp>
      <p:pic>
        <p:nvPicPr>
          <p:cNvPr id="5" name="Content Placeholder 4">
            <a:extLst>
              <a:ext uri="{FF2B5EF4-FFF2-40B4-BE49-F238E27FC236}">
                <a16:creationId xmlns:a16="http://schemas.microsoft.com/office/drawing/2014/main" id="{B462CCF8-A433-07DB-ED3B-BD2CB394B8DE}"/>
              </a:ext>
            </a:extLst>
          </p:cNvPr>
          <p:cNvPicPr>
            <a:picLocks noGrp="1" noChangeAspect="1"/>
          </p:cNvPicPr>
          <p:nvPr>
            <p:ph idx="1"/>
          </p:nvPr>
        </p:nvPicPr>
        <p:blipFill>
          <a:blip r:embed="rId2"/>
          <a:stretch>
            <a:fillRect/>
          </a:stretch>
        </p:blipFill>
        <p:spPr>
          <a:xfrm>
            <a:off x="944880" y="1373652"/>
            <a:ext cx="6461760" cy="5187740"/>
          </a:xfrm>
          <a:prstGeom prst="rect">
            <a:avLst/>
          </a:prstGeom>
        </p:spPr>
      </p:pic>
    </p:spTree>
    <p:extLst>
      <p:ext uri="{BB962C8B-B14F-4D97-AF65-F5344CB8AC3E}">
        <p14:creationId xmlns:p14="http://schemas.microsoft.com/office/powerpoint/2010/main" val="41248663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A0C91-67B7-9BF3-A388-D2A6F4CBE3AD}"/>
              </a:ext>
            </a:extLst>
          </p:cNvPr>
          <p:cNvSpPr>
            <a:spLocks noGrp="1"/>
          </p:cNvSpPr>
          <p:nvPr>
            <p:ph type="title"/>
          </p:nvPr>
        </p:nvSpPr>
        <p:spPr/>
        <p:txBody>
          <a:bodyPr>
            <a:normAutofit/>
          </a:bodyPr>
          <a:lstStyle/>
          <a:p>
            <a:r>
              <a:rPr lang="en-US" sz="2000" dirty="0"/>
              <a:t>Mental health prevalence is roughly the same among all races and genders…</a:t>
            </a:r>
          </a:p>
        </p:txBody>
      </p:sp>
      <p:pic>
        <p:nvPicPr>
          <p:cNvPr id="5" name="Picture 4">
            <a:extLst>
              <a:ext uri="{FF2B5EF4-FFF2-40B4-BE49-F238E27FC236}">
                <a16:creationId xmlns:a16="http://schemas.microsoft.com/office/drawing/2014/main" id="{E960255A-83AF-CB26-4852-8EDB51759804}"/>
              </a:ext>
            </a:extLst>
          </p:cNvPr>
          <p:cNvPicPr>
            <a:picLocks noChangeAspect="1"/>
          </p:cNvPicPr>
          <p:nvPr/>
        </p:nvPicPr>
        <p:blipFill>
          <a:blip r:embed="rId2"/>
          <a:stretch>
            <a:fillRect/>
          </a:stretch>
        </p:blipFill>
        <p:spPr>
          <a:xfrm>
            <a:off x="2087709" y="1270000"/>
            <a:ext cx="5217331" cy="2588443"/>
          </a:xfrm>
          <a:prstGeom prst="rect">
            <a:avLst/>
          </a:prstGeom>
        </p:spPr>
      </p:pic>
      <p:pic>
        <p:nvPicPr>
          <p:cNvPr id="7" name="Picture 6">
            <a:extLst>
              <a:ext uri="{FF2B5EF4-FFF2-40B4-BE49-F238E27FC236}">
                <a16:creationId xmlns:a16="http://schemas.microsoft.com/office/drawing/2014/main" id="{14B1002A-E251-CE79-4D06-07F0DA0A915D}"/>
              </a:ext>
            </a:extLst>
          </p:cNvPr>
          <p:cNvPicPr>
            <a:picLocks noChangeAspect="1"/>
          </p:cNvPicPr>
          <p:nvPr/>
        </p:nvPicPr>
        <p:blipFill>
          <a:blip r:embed="rId3"/>
          <a:srcRect/>
          <a:stretch>
            <a:fillRect/>
          </a:stretch>
        </p:blipFill>
        <p:spPr>
          <a:xfrm>
            <a:off x="2087709" y="3956951"/>
            <a:ext cx="5217331" cy="2573345"/>
          </a:xfrm>
          <a:prstGeom prst="rect">
            <a:avLst/>
          </a:prstGeom>
        </p:spPr>
      </p:pic>
    </p:spTree>
    <p:extLst>
      <p:ext uri="{BB962C8B-B14F-4D97-AF65-F5344CB8AC3E}">
        <p14:creationId xmlns:p14="http://schemas.microsoft.com/office/powerpoint/2010/main" val="31271385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CDDC-DB85-6D2E-64B2-5B81F71B92A8}"/>
              </a:ext>
            </a:extLst>
          </p:cNvPr>
          <p:cNvSpPr>
            <a:spLocks noGrp="1"/>
          </p:cNvSpPr>
          <p:nvPr>
            <p:ph type="title"/>
          </p:nvPr>
        </p:nvSpPr>
        <p:spPr/>
        <p:txBody>
          <a:bodyPr/>
          <a:lstStyle/>
          <a:p>
            <a:r>
              <a:rPr lang="en-US" dirty="0"/>
              <a:t>Logistic Regression</a:t>
            </a:r>
          </a:p>
        </p:txBody>
      </p:sp>
      <p:pic>
        <p:nvPicPr>
          <p:cNvPr id="5" name="Content Placeholder 4">
            <a:extLst>
              <a:ext uri="{FF2B5EF4-FFF2-40B4-BE49-F238E27FC236}">
                <a16:creationId xmlns:a16="http://schemas.microsoft.com/office/drawing/2014/main" id="{1CFEF64C-D530-53AF-577C-C65696F6E1DA}"/>
              </a:ext>
            </a:extLst>
          </p:cNvPr>
          <p:cNvPicPr>
            <a:picLocks noGrp="1" noChangeAspect="1"/>
          </p:cNvPicPr>
          <p:nvPr>
            <p:ph idx="1"/>
          </p:nvPr>
        </p:nvPicPr>
        <p:blipFill>
          <a:blip r:embed="rId3"/>
          <a:stretch>
            <a:fillRect/>
          </a:stretch>
        </p:blipFill>
        <p:spPr>
          <a:xfrm>
            <a:off x="1812279" y="2011415"/>
            <a:ext cx="5726441" cy="4576688"/>
          </a:xfrm>
          <a:prstGeom prst="rect">
            <a:avLst/>
          </a:prstGeom>
        </p:spPr>
      </p:pic>
    </p:spTree>
    <p:extLst>
      <p:ext uri="{BB962C8B-B14F-4D97-AF65-F5344CB8AC3E}">
        <p14:creationId xmlns:p14="http://schemas.microsoft.com/office/powerpoint/2010/main" val="19199783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1BAB6-0B04-D715-99C2-1AFB743CE449}"/>
              </a:ext>
            </a:extLst>
          </p:cNvPr>
          <p:cNvSpPr>
            <a:spLocks noGrp="1"/>
          </p:cNvSpPr>
          <p:nvPr>
            <p:ph type="title"/>
          </p:nvPr>
        </p:nvSpPr>
        <p:spPr/>
        <p:txBody>
          <a:bodyPr/>
          <a:lstStyle/>
          <a:p>
            <a:r>
              <a:rPr lang="en-US" dirty="0"/>
              <a:t>Odds Ratios</a:t>
            </a:r>
          </a:p>
        </p:txBody>
      </p:sp>
      <p:pic>
        <p:nvPicPr>
          <p:cNvPr id="5" name="Content Placeholder 4">
            <a:extLst>
              <a:ext uri="{FF2B5EF4-FFF2-40B4-BE49-F238E27FC236}">
                <a16:creationId xmlns:a16="http://schemas.microsoft.com/office/drawing/2014/main" id="{588C5190-1805-5094-9D9D-9C8E03AE3D4B}"/>
              </a:ext>
            </a:extLst>
          </p:cNvPr>
          <p:cNvPicPr>
            <a:picLocks noGrp="1" noChangeAspect="1"/>
          </p:cNvPicPr>
          <p:nvPr>
            <p:ph idx="1"/>
          </p:nvPr>
        </p:nvPicPr>
        <p:blipFill>
          <a:blip r:embed="rId3"/>
          <a:stretch>
            <a:fillRect/>
          </a:stretch>
        </p:blipFill>
        <p:spPr>
          <a:xfrm>
            <a:off x="1060439" y="1353525"/>
            <a:ext cx="6813561" cy="5007237"/>
          </a:xfrm>
          <a:prstGeom prst="rect">
            <a:avLst/>
          </a:prstGeom>
        </p:spPr>
      </p:pic>
    </p:spTree>
    <p:extLst>
      <p:ext uri="{BB962C8B-B14F-4D97-AF65-F5344CB8AC3E}">
        <p14:creationId xmlns:p14="http://schemas.microsoft.com/office/powerpoint/2010/main" val="4284419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4975E-D18A-6B2A-1347-5BACF48DEA7D}"/>
              </a:ext>
            </a:extLst>
          </p:cNvPr>
          <p:cNvSpPr>
            <a:spLocks noGrp="1"/>
          </p:cNvSpPr>
          <p:nvPr>
            <p:ph type="title"/>
          </p:nvPr>
        </p:nvSpPr>
        <p:spPr/>
        <p:txBody>
          <a:bodyPr/>
          <a:lstStyle/>
          <a:p>
            <a:r>
              <a:rPr lang="en-US" dirty="0"/>
              <a:t>Balancing Class Weight</a:t>
            </a:r>
          </a:p>
        </p:txBody>
      </p:sp>
      <p:pic>
        <p:nvPicPr>
          <p:cNvPr id="5" name="Picture 4">
            <a:extLst>
              <a:ext uri="{FF2B5EF4-FFF2-40B4-BE49-F238E27FC236}">
                <a16:creationId xmlns:a16="http://schemas.microsoft.com/office/drawing/2014/main" id="{3BC982DC-7FC2-867A-9BAB-B4010AC66475}"/>
              </a:ext>
            </a:extLst>
          </p:cNvPr>
          <p:cNvPicPr>
            <a:picLocks noChangeAspect="1"/>
          </p:cNvPicPr>
          <p:nvPr/>
        </p:nvPicPr>
        <p:blipFill>
          <a:blip r:embed="rId3"/>
          <a:stretch>
            <a:fillRect/>
          </a:stretch>
        </p:blipFill>
        <p:spPr>
          <a:xfrm>
            <a:off x="1320800" y="1439494"/>
            <a:ext cx="6380479" cy="5066850"/>
          </a:xfrm>
          <a:prstGeom prst="rect">
            <a:avLst/>
          </a:prstGeom>
        </p:spPr>
      </p:pic>
    </p:spTree>
    <p:extLst>
      <p:ext uri="{BB962C8B-B14F-4D97-AF65-F5344CB8AC3E}">
        <p14:creationId xmlns:p14="http://schemas.microsoft.com/office/powerpoint/2010/main" val="628236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8A902-CF16-A61A-0690-1B7ACCF4C5F3}"/>
              </a:ext>
            </a:extLst>
          </p:cNvPr>
          <p:cNvSpPr>
            <a:spLocks noGrp="1"/>
          </p:cNvSpPr>
          <p:nvPr>
            <p:ph type="title"/>
          </p:nvPr>
        </p:nvSpPr>
        <p:spPr/>
        <p:txBody>
          <a:bodyPr/>
          <a:lstStyle/>
          <a:p>
            <a:r>
              <a:rPr lang="en-US" dirty="0"/>
              <a:t>Balancing Class Weight</a:t>
            </a:r>
          </a:p>
        </p:txBody>
      </p:sp>
      <p:pic>
        <p:nvPicPr>
          <p:cNvPr id="5" name="Picture 4">
            <a:extLst>
              <a:ext uri="{FF2B5EF4-FFF2-40B4-BE49-F238E27FC236}">
                <a16:creationId xmlns:a16="http://schemas.microsoft.com/office/drawing/2014/main" id="{54A09A78-C6B1-5533-116D-FE6F07F916E2}"/>
              </a:ext>
            </a:extLst>
          </p:cNvPr>
          <p:cNvPicPr>
            <a:picLocks noChangeAspect="1"/>
          </p:cNvPicPr>
          <p:nvPr/>
        </p:nvPicPr>
        <p:blipFill>
          <a:blip r:embed="rId3"/>
          <a:stretch>
            <a:fillRect/>
          </a:stretch>
        </p:blipFill>
        <p:spPr>
          <a:xfrm>
            <a:off x="1286934" y="1615440"/>
            <a:ext cx="6804928" cy="4399281"/>
          </a:xfrm>
          <a:prstGeom prst="rect">
            <a:avLst/>
          </a:prstGeom>
        </p:spPr>
      </p:pic>
    </p:spTree>
    <p:extLst>
      <p:ext uri="{BB962C8B-B14F-4D97-AF65-F5344CB8AC3E}">
        <p14:creationId xmlns:p14="http://schemas.microsoft.com/office/powerpoint/2010/main" val="40024116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41F03-27C7-7A86-6708-56650C6FD952}"/>
              </a:ext>
            </a:extLst>
          </p:cNvPr>
          <p:cNvSpPr>
            <a:spLocks noGrp="1"/>
          </p:cNvSpPr>
          <p:nvPr>
            <p:ph type="title"/>
          </p:nvPr>
        </p:nvSpPr>
        <p:spPr/>
        <p:txBody>
          <a:bodyPr/>
          <a:lstStyle/>
          <a:p>
            <a:r>
              <a:rPr lang="en-US" dirty="0"/>
              <a:t>Random Forest Model</a:t>
            </a:r>
          </a:p>
        </p:txBody>
      </p:sp>
      <p:pic>
        <p:nvPicPr>
          <p:cNvPr id="5" name="Picture 4">
            <a:extLst>
              <a:ext uri="{FF2B5EF4-FFF2-40B4-BE49-F238E27FC236}">
                <a16:creationId xmlns:a16="http://schemas.microsoft.com/office/drawing/2014/main" id="{97338CA9-7D50-672F-032C-FFF4B2120FFD}"/>
              </a:ext>
            </a:extLst>
          </p:cNvPr>
          <p:cNvPicPr>
            <a:picLocks noChangeAspect="1"/>
          </p:cNvPicPr>
          <p:nvPr/>
        </p:nvPicPr>
        <p:blipFill>
          <a:blip r:embed="rId3"/>
          <a:stretch>
            <a:fillRect/>
          </a:stretch>
        </p:blipFill>
        <p:spPr>
          <a:xfrm>
            <a:off x="847831" y="1399942"/>
            <a:ext cx="6325129" cy="5037824"/>
          </a:xfrm>
          <a:prstGeom prst="rect">
            <a:avLst/>
          </a:prstGeom>
        </p:spPr>
      </p:pic>
    </p:spTree>
    <p:extLst>
      <p:ext uri="{BB962C8B-B14F-4D97-AF65-F5344CB8AC3E}">
        <p14:creationId xmlns:p14="http://schemas.microsoft.com/office/powerpoint/2010/main" val="42728213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D1739-4829-45AD-3772-5319F6DBEB55}"/>
              </a:ext>
            </a:extLst>
          </p:cNvPr>
          <p:cNvSpPr>
            <a:spLocks noGrp="1"/>
          </p:cNvSpPr>
          <p:nvPr>
            <p:ph type="title"/>
          </p:nvPr>
        </p:nvSpPr>
        <p:spPr/>
        <p:txBody>
          <a:bodyPr/>
          <a:lstStyle/>
          <a:p>
            <a:r>
              <a:rPr lang="en-US" dirty="0"/>
              <a:t>Random Forest Feature Importance</a:t>
            </a:r>
          </a:p>
        </p:txBody>
      </p:sp>
      <p:pic>
        <p:nvPicPr>
          <p:cNvPr id="5" name="Picture 4">
            <a:extLst>
              <a:ext uri="{FF2B5EF4-FFF2-40B4-BE49-F238E27FC236}">
                <a16:creationId xmlns:a16="http://schemas.microsoft.com/office/drawing/2014/main" id="{19FF9ADA-1530-8537-FCD6-F1B5C01ABA72}"/>
              </a:ext>
            </a:extLst>
          </p:cNvPr>
          <p:cNvPicPr>
            <a:picLocks noChangeAspect="1"/>
          </p:cNvPicPr>
          <p:nvPr/>
        </p:nvPicPr>
        <p:blipFill>
          <a:blip r:embed="rId3"/>
          <a:stretch>
            <a:fillRect/>
          </a:stretch>
        </p:blipFill>
        <p:spPr>
          <a:xfrm>
            <a:off x="820251" y="1975517"/>
            <a:ext cx="6809909" cy="4272883"/>
          </a:xfrm>
          <a:prstGeom prst="rect">
            <a:avLst/>
          </a:prstGeom>
        </p:spPr>
      </p:pic>
    </p:spTree>
    <p:extLst>
      <p:ext uri="{BB962C8B-B14F-4D97-AF65-F5344CB8AC3E}">
        <p14:creationId xmlns:p14="http://schemas.microsoft.com/office/powerpoint/2010/main" val="32157919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13804-F293-6675-AB48-9152B9EDB39E}"/>
              </a:ext>
            </a:extLst>
          </p:cNvPr>
          <p:cNvSpPr>
            <a:spLocks noGrp="1"/>
          </p:cNvSpPr>
          <p:nvPr>
            <p:ph type="title"/>
          </p:nvPr>
        </p:nvSpPr>
        <p:spPr/>
        <p:txBody>
          <a:bodyPr/>
          <a:lstStyle/>
          <a:p>
            <a:r>
              <a:rPr lang="en-US" dirty="0"/>
              <a:t>Balancing Class Weight</a:t>
            </a:r>
          </a:p>
        </p:txBody>
      </p:sp>
      <p:pic>
        <p:nvPicPr>
          <p:cNvPr id="5" name="Picture 4">
            <a:extLst>
              <a:ext uri="{FF2B5EF4-FFF2-40B4-BE49-F238E27FC236}">
                <a16:creationId xmlns:a16="http://schemas.microsoft.com/office/drawing/2014/main" id="{DC165BCD-CD3F-5FEE-3149-3A909EDBF1BA}"/>
              </a:ext>
            </a:extLst>
          </p:cNvPr>
          <p:cNvPicPr>
            <a:picLocks noChangeAspect="1"/>
          </p:cNvPicPr>
          <p:nvPr/>
        </p:nvPicPr>
        <p:blipFill>
          <a:blip r:embed="rId3"/>
          <a:stretch>
            <a:fillRect/>
          </a:stretch>
        </p:blipFill>
        <p:spPr>
          <a:xfrm>
            <a:off x="677334" y="1550536"/>
            <a:ext cx="6350169" cy="5023082"/>
          </a:xfrm>
          <a:prstGeom prst="rect">
            <a:avLst/>
          </a:prstGeom>
        </p:spPr>
      </p:pic>
    </p:spTree>
    <p:extLst>
      <p:ext uri="{BB962C8B-B14F-4D97-AF65-F5344CB8AC3E}">
        <p14:creationId xmlns:p14="http://schemas.microsoft.com/office/powerpoint/2010/main" val="22985235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229C68-6E2D-3D66-5693-B6937605D8F6}"/>
              </a:ext>
            </a:extLst>
          </p:cNvPr>
          <p:cNvSpPr>
            <a:spLocks noGrp="1"/>
          </p:cNvSpPr>
          <p:nvPr>
            <p:ph type="title"/>
          </p:nvPr>
        </p:nvSpPr>
        <p:spPr/>
        <p:txBody>
          <a:bodyPr/>
          <a:lstStyle/>
          <a:p>
            <a:r>
              <a:rPr lang="en-US" dirty="0"/>
              <a:t>Balancing Class Weight</a:t>
            </a:r>
          </a:p>
        </p:txBody>
      </p:sp>
      <p:pic>
        <p:nvPicPr>
          <p:cNvPr id="5" name="Picture 4">
            <a:extLst>
              <a:ext uri="{FF2B5EF4-FFF2-40B4-BE49-F238E27FC236}">
                <a16:creationId xmlns:a16="http://schemas.microsoft.com/office/drawing/2014/main" id="{0956EF4C-B635-0B93-75A9-06CA26DE9441}"/>
              </a:ext>
            </a:extLst>
          </p:cNvPr>
          <p:cNvPicPr>
            <a:picLocks noChangeAspect="1"/>
          </p:cNvPicPr>
          <p:nvPr/>
        </p:nvPicPr>
        <p:blipFill>
          <a:blip r:embed="rId3"/>
          <a:stretch>
            <a:fillRect/>
          </a:stretch>
        </p:blipFill>
        <p:spPr>
          <a:xfrm>
            <a:off x="677334" y="1930400"/>
            <a:ext cx="6907118" cy="4141573"/>
          </a:xfrm>
          <a:prstGeom prst="rect">
            <a:avLst/>
          </a:prstGeom>
        </p:spPr>
      </p:pic>
    </p:spTree>
    <p:extLst>
      <p:ext uri="{BB962C8B-B14F-4D97-AF65-F5344CB8AC3E}">
        <p14:creationId xmlns:p14="http://schemas.microsoft.com/office/powerpoint/2010/main" val="37429346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013A9-5EAC-67F8-2AEA-9F6F1D190EEC}"/>
              </a:ext>
            </a:extLst>
          </p:cNvPr>
          <p:cNvSpPr>
            <a:spLocks noGrp="1"/>
          </p:cNvSpPr>
          <p:nvPr>
            <p:ph type="title"/>
          </p:nvPr>
        </p:nvSpPr>
        <p:spPr/>
        <p:txBody>
          <a:bodyPr/>
          <a:lstStyle/>
          <a:p>
            <a:r>
              <a:rPr lang="en-US" dirty="0"/>
              <a:t>Correlation Matrix</a:t>
            </a:r>
          </a:p>
        </p:txBody>
      </p:sp>
      <p:pic>
        <p:nvPicPr>
          <p:cNvPr id="5" name="Picture 4">
            <a:extLst>
              <a:ext uri="{FF2B5EF4-FFF2-40B4-BE49-F238E27FC236}">
                <a16:creationId xmlns:a16="http://schemas.microsoft.com/office/drawing/2014/main" id="{B6DE2A1D-A53E-06D7-EDD9-1E2AC1ED4FEF}"/>
              </a:ext>
            </a:extLst>
          </p:cNvPr>
          <p:cNvPicPr>
            <a:picLocks noChangeAspect="1"/>
          </p:cNvPicPr>
          <p:nvPr/>
        </p:nvPicPr>
        <p:blipFill>
          <a:blip r:embed="rId3"/>
          <a:stretch>
            <a:fillRect/>
          </a:stretch>
        </p:blipFill>
        <p:spPr>
          <a:xfrm>
            <a:off x="677334" y="1643247"/>
            <a:ext cx="5982962" cy="4706753"/>
          </a:xfrm>
          <a:prstGeom prst="rect">
            <a:avLst/>
          </a:prstGeom>
        </p:spPr>
      </p:pic>
      <p:sp>
        <p:nvSpPr>
          <p:cNvPr id="6" name="TextBox 5">
            <a:extLst>
              <a:ext uri="{FF2B5EF4-FFF2-40B4-BE49-F238E27FC236}">
                <a16:creationId xmlns:a16="http://schemas.microsoft.com/office/drawing/2014/main" id="{39B88395-FC3E-6AB9-8BAF-C89469E40847}"/>
              </a:ext>
            </a:extLst>
          </p:cNvPr>
          <p:cNvSpPr txBox="1"/>
          <p:nvPr/>
        </p:nvSpPr>
        <p:spPr>
          <a:xfrm>
            <a:off x="6660296" y="3630585"/>
            <a:ext cx="3373120" cy="369332"/>
          </a:xfrm>
          <a:prstGeom prst="rect">
            <a:avLst/>
          </a:prstGeom>
          <a:noFill/>
        </p:spPr>
        <p:txBody>
          <a:bodyPr wrap="square" rtlCol="0">
            <a:spAutoFit/>
          </a:bodyPr>
          <a:lstStyle/>
          <a:p>
            <a:r>
              <a:rPr lang="en-US" dirty="0"/>
              <a:t>*No correlation is above 0.51</a:t>
            </a:r>
          </a:p>
        </p:txBody>
      </p:sp>
    </p:spTree>
    <p:extLst>
      <p:ext uri="{BB962C8B-B14F-4D97-AF65-F5344CB8AC3E}">
        <p14:creationId xmlns:p14="http://schemas.microsoft.com/office/powerpoint/2010/main" val="17480065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DD6C-74B6-A2ED-4EEE-80D97A2244B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D61185C-DEE3-C661-0CB7-2BDF7166C9CA}"/>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Conclusions – SMART Question 1</a:t>
            </a:r>
            <a:endParaRPr kumimoji="1" lang="zh-TW" altLang="en-US" b="1"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097D33B-F738-EFE3-8C42-11B0BEF144FC}"/>
              </a:ext>
            </a:extLst>
          </p:cNvPr>
          <p:cNvSpPr txBox="1"/>
          <p:nvPr/>
        </p:nvSpPr>
        <p:spPr>
          <a:xfrm>
            <a:off x="677334" y="1503680"/>
            <a:ext cx="8596668" cy="4524315"/>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Microsoft JhengHei" panose="020B0604030504040204" pitchFamily="34" charset="-120"/>
                <a:ea typeface="Microsoft JhengHei" panose="020B0604030504040204" pitchFamily="34" charset="-120"/>
              </a:rPr>
              <a:t> When class imbalance is accounted for, a decent amount of individuals who do not have a mental illness are identified</a:t>
            </a:r>
          </a:p>
          <a:p>
            <a:pPr marL="285750" indent="-285750">
              <a:buFont typeface="Arial" panose="020B0604020202020204" pitchFamily="34" charset="0"/>
              <a:buChar char="•"/>
            </a:pPr>
            <a:r>
              <a:rPr lang="en-US" dirty="0">
                <a:latin typeface="Microsoft JhengHei" panose="020B0604030504040204" pitchFamily="34" charset="-120"/>
                <a:ea typeface="Microsoft JhengHei" panose="020B0604030504040204" pitchFamily="34" charset="-120"/>
              </a:rPr>
              <a:t>Being older decreases the chance of having a mental illness </a:t>
            </a:r>
          </a:p>
          <a:p>
            <a:pPr marL="285750" indent="-285750">
              <a:buFont typeface="Arial" panose="020B0604020202020204" pitchFamily="34" charset="0"/>
              <a:buChar char="•"/>
            </a:pPr>
            <a:r>
              <a:rPr lang="en-US" dirty="0">
                <a:latin typeface="Microsoft JhengHei" panose="020B0604030504040204" pitchFamily="34" charset="-120"/>
                <a:ea typeface="Microsoft JhengHei" panose="020B0604030504040204" pitchFamily="34" charset="-120"/>
              </a:rPr>
              <a:t>Cohabitating with others and substance use minimally increases the risk of having a mental illness</a:t>
            </a:r>
          </a:p>
          <a:p>
            <a:pPr marL="285750" indent="-285750">
              <a:buFont typeface="Arial" panose="020B0604020202020204" pitchFamily="34" charset="0"/>
              <a:buChar char="•"/>
            </a:pPr>
            <a:r>
              <a:rPr lang="en-US" dirty="0">
                <a:latin typeface="Microsoft JhengHei" panose="020B0604030504040204" pitchFamily="34" charset="-120"/>
                <a:ea typeface="Microsoft JhengHei" panose="020B0604030504040204" pitchFamily="34" charset="-120"/>
              </a:rPr>
              <a:t>All demographic variables have small impacts on mental illnesses</a:t>
            </a:r>
          </a:p>
          <a:p>
            <a:pPr marL="285750" indent="-285750">
              <a:buFont typeface="Arial" panose="020B0604020202020204" pitchFamily="34" charset="0"/>
              <a:buChar char="•"/>
            </a:pPr>
            <a:r>
              <a:rPr lang="en-US" dirty="0">
                <a:latin typeface="Microsoft JhengHei" panose="020B0604030504040204" pitchFamily="34" charset="-120"/>
                <a:ea typeface="Microsoft JhengHei" panose="020B0604030504040204" pitchFamily="34" charset="-120"/>
              </a:rPr>
              <a:t>Region served, education status, and age group are the most influential predictors of mental illness</a:t>
            </a:r>
          </a:p>
          <a:p>
            <a:pPr marL="285750" indent="-285750">
              <a:buFont typeface="Arial" panose="020B0604020202020204" pitchFamily="34" charset="0"/>
              <a:buChar char="•"/>
            </a:pPr>
            <a:r>
              <a:rPr lang="en-US" dirty="0">
                <a:latin typeface="Microsoft JhengHei" panose="020B0604030504040204" pitchFamily="34" charset="-120"/>
                <a:ea typeface="Microsoft JhengHei" panose="020B0604030504040204" pitchFamily="34" charset="-120"/>
              </a:rPr>
              <a:t>Race, sexual orientation, and household consumption have some importance on predicting mental illness</a:t>
            </a:r>
          </a:p>
          <a:p>
            <a:pPr marL="285750" indent="-285750">
              <a:buFont typeface="Arial" panose="020B0604020202020204" pitchFamily="34" charset="0"/>
              <a:buChar char="•"/>
            </a:pPr>
            <a:r>
              <a:rPr lang="en-US" dirty="0">
                <a:latin typeface="Microsoft JhengHei" panose="020B0604030504040204" pitchFamily="34" charset="-120"/>
                <a:ea typeface="Microsoft JhengHei" panose="020B0604030504040204" pitchFamily="34" charset="-120"/>
              </a:rPr>
              <a:t> Sex, alcohol related disorder, drug substance disorder, and veteran status did not contribute much to the model</a:t>
            </a:r>
          </a:p>
          <a:p>
            <a:pPr marL="285750" indent="-285750">
              <a:buFont typeface="Arial" panose="020B0604020202020204" pitchFamily="34" charset="0"/>
              <a:buChar char="•"/>
            </a:pPr>
            <a:endParaRPr lang="en-US" dirty="0">
              <a:latin typeface="Microsoft JhengHei" panose="020B0604030504040204" pitchFamily="34" charset="-120"/>
              <a:ea typeface="Microsoft JhengHei" panose="020B0604030504040204" pitchFamily="34" charset="-120"/>
            </a:endParaRPr>
          </a:p>
          <a:p>
            <a:pPr marL="285750" indent="-285750">
              <a:buFont typeface="Arial" panose="020B0604020202020204" pitchFamily="34" charset="0"/>
              <a:buChar char="•"/>
            </a:pPr>
            <a:endParaRPr lang="en-US" dirty="0">
              <a:latin typeface="Microsoft JhengHei" panose="020B0604030504040204" pitchFamily="34" charset="-120"/>
              <a:ea typeface="Microsoft JhengHei" panose="020B0604030504040204" pitchFamily="34" charset="-120"/>
            </a:endParaRPr>
          </a:p>
          <a:p>
            <a:endParaRPr lang="en-US" dirty="0">
              <a:latin typeface="Microsoft JhengHei" panose="020B0604030504040204" pitchFamily="34" charset="-120"/>
              <a:ea typeface="Microsoft JhengHei" panose="020B0604030504040204" pitchFamily="34" charset="-120"/>
            </a:endParaRPr>
          </a:p>
          <a:p>
            <a:endParaRPr lang="en-US" dirty="0"/>
          </a:p>
        </p:txBody>
      </p:sp>
    </p:spTree>
    <p:extLst>
      <p:ext uri="{BB962C8B-B14F-4D97-AF65-F5344CB8AC3E}">
        <p14:creationId xmlns:p14="http://schemas.microsoft.com/office/powerpoint/2010/main" val="573241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C9559-9D56-282D-1248-6382FA80B13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8AC2D4F-2869-59AF-3DA2-1A234C52CF39}"/>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Smart Question 2</a:t>
            </a:r>
            <a:br>
              <a:rPr kumimoji="1" lang="en-US" altLang="zh-TW" b="1" dirty="0">
                <a:latin typeface="Times New Roman" panose="02020603050405020304" pitchFamily="18" charset="0"/>
                <a:cs typeface="Times New Roman" panose="02020603050405020304" pitchFamily="18" charset="0"/>
              </a:rPr>
            </a:br>
            <a:endParaRPr kumimoji="1" lang="zh-TW" altLang="en-US" b="1"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00C174D1-B207-D13F-C0A6-49F3B7E25FF7}"/>
              </a:ext>
            </a:extLst>
          </p:cNvPr>
          <p:cNvSpPr txBox="1"/>
          <p:nvPr/>
        </p:nvSpPr>
        <p:spPr>
          <a:xfrm>
            <a:off x="678756" y="1482378"/>
            <a:ext cx="8183495"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dirty="0">
                <a:solidFill>
                  <a:srgbClr val="404040"/>
                </a:solidFill>
                <a:latin typeface="Times New Roman"/>
                <a:ea typeface="Segoe UI"/>
                <a:cs typeface="Segoe UI"/>
              </a:rPr>
              <a:t>To what extent can socio-economic factors, particularly educational attainment, predict mental health diagnosis among adults in New York State using PCS 2019, and which variables are the strongest predictors</a:t>
            </a:r>
            <a:endParaRPr lang="en-US" sz="2800" dirty="0">
              <a:solidFill>
                <a:srgbClr val="000000"/>
              </a:solidFill>
              <a:latin typeface="Times New Roman"/>
              <a:ea typeface="Segoe UI"/>
              <a:cs typeface="Segoe UI"/>
            </a:endParaRPr>
          </a:p>
        </p:txBody>
      </p:sp>
    </p:spTree>
    <p:extLst>
      <p:ext uri="{BB962C8B-B14F-4D97-AF65-F5344CB8AC3E}">
        <p14:creationId xmlns:p14="http://schemas.microsoft.com/office/powerpoint/2010/main" val="37589318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A56F5-E9DA-22D3-7160-C8BBE58D3E6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FD4444B-6C92-0A0D-7B5F-BF47F3CE9E20}"/>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Smart Question 2</a:t>
            </a:r>
            <a:br>
              <a:rPr kumimoji="1" lang="en-US" altLang="zh-TW" b="1" dirty="0">
                <a:latin typeface="Times New Roman" panose="02020603050405020304" pitchFamily="18" charset="0"/>
                <a:cs typeface="Times New Roman" panose="02020603050405020304" pitchFamily="18" charset="0"/>
              </a:rPr>
            </a:br>
            <a:endParaRPr kumimoji="1" lang="zh-TW" altLang="en-US" b="1"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AB94D341-047D-D9A2-4411-F1B983A5FAB7}"/>
              </a:ext>
            </a:extLst>
          </p:cNvPr>
          <p:cNvSpPr txBox="1"/>
          <p:nvPr/>
        </p:nvSpPr>
        <p:spPr>
          <a:xfrm>
            <a:off x="678756" y="1482378"/>
            <a:ext cx="818349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sz="2800" dirty="0">
              <a:solidFill>
                <a:srgbClr val="404040"/>
              </a:solidFill>
              <a:latin typeface="Times New Roman"/>
              <a:ea typeface="Segoe UI"/>
              <a:cs typeface="Segoe UI"/>
            </a:endParaRPr>
          </a:p>
        </p:txBody>
      </p:sp>
      <p:sp>
        <p:nvSpPr>
          <p:cNvPr id="4" name="TextBox 3">
            <a:extLst>
              <a:ext uri="{FF2B5EF4-FFF2-40B4-BE49-F238E27FC236}">
                <a16:creationId xmlns:a16="http://schemas.microsoft.com/office/drawing/2014/main" id="{6AAAAFF9-3629-F1D8-D86A-FA61CE257D13}"/>
              </a:ext>
            </a:extLst>
          </p:cNvPr>
          <p:cNvSpPr txBox="1"/>
          <p:nvPr/>
        </p:nvSpPr>
        <p:spPr>
          <a:xfrm>
            <a:off x="678756" y="1411941"/>
            <a:ext cx="6096000"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solidFill>
                  <a:schemeClr val="accent2"/>
                </a:solidFill>
                <a:latin typeface="Times New Roman"/>
              </a:rPr>
              <a:t>Target Variable:</a:t>
            </a:r>
            <a:r>
              <a:rPr lang="en-US" sz="2800" dirty="0">
                <a:solidFill>
                  <a:srgbClr val="404040"/>
                </a:solidFill>
                <a:latin typeface="Times New Roman"/>
              </a:rPr>
              <a:t> Mental Illness</a:t>
            </a:r>
          </a:p>
        </p:txBody>
      </p:sp>
      <p:sp>
        <p:nvSpPr>
          <p:cNvPr id="6" name="TextBox 5">
            <a:extLst>
              <a:ext uri="{FF2B5EF4-FFF2-40B4-BE49-F238E27FC236}">
                <a16:creationId xmlns:a16="http://schemas.microsoft.com/office/drawing/2014/main" id="{A71FA099-114E-3978-A21B-191D2A994995}"/>
              </a:ext>
            </a:extLst>
          </p:cNvPr>
          <p:cNvSpPr txBox="1"/>
          <p:nvPr/>
        </p:nvSpPr>
        <p:spPr>
          <a:xfrm>
            <a:off x="678756" y="2302009"/>
            <a:ext cx="6096000"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solidFill>
                  <a:srgbClr val="2E83C3"/>
                </a:solidFill>
                <a:latin typeface="Times New Roman"/>
              </a:rPr>
              <a:t>Distribution:</a:t>
            </a:r>
            <a:r>
              <a:rPr lang="en-US" sz="2800" baseline="0" dirty="0">
                <a:solidFill>
                  <a:srgbClr val="404040"/>
                </a:solidFill>
                <a:latin typeface="Times New Roman"/>
              </a:rPr>
              <a:t> </a:t>
            </a:r>
            <a:r>
              <a:rPr lang="en-US" sz="2800" dirty="0">
                <a:solidFill>
                  <a:srgbClr val="404040"/>
                </a:solidFill>
                <a:latin typeface="Times New Roman"/>
              </a:rPr>
              <a:t>Yes (148046), No (2936)</a:t>
            </a:r>
            <a:endParaRPr lang="en-US" sz="2800">
              <a:latin typeface="Times New Roman"/>
              <a:cs typeface="Times New Roman"/>
            </a:endParaRPr>
          </a:p>
        </p:txBody>
      </p:sp>
      <p:sp>
        <p:nvSpPr>
          <p:cNvPr id="7" name="TextBox 6">
            <a:extLst>
              <a:ext uri="{FF2B5EF4-FFF2-40B4-BE49-F238E27FC236}">
                <a16:creationId xmlns:a16="http://schemas.microsoft.com/office/drawing/2014/main" id="{E4864F7F-0475-992C-E5D7-BA305867D0C5}"/>
              </a:ext>
            </a:extLst>
          </p:cNvPr>
          <p:cNvSpPr txBox="1"/>
          <p:nvPr/>
        </p:nvSpPr>
        <p:spPr>
          <a:xfrm>
            <a:off x="678756" y="3160059"/>
            <a:ext cx="10219763"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solidFill>
                  <a:srgbClr val="2E83C3"/>
                </a:solidFill>
                <a:latin typeface="Times New Roman"/>
              </a:rPr>
              <a:t>Reformat using distribution for predicting columns</a:t>
            </a:r>
            <a:r>
              <a:rPr lang="en-US" sz="2800" b="1" baseline="0" dirty="0">
                <a:solidFill>
                  <a:srgbClr val="2E83C3"/>
                </a:solidFill>
                <a:latin typeface="Times New Roman"/>
              </a:rPr>
              <a:t>:</a:t>
            </a:r>
            <a:r>
              <a:rPr lang="en-US" sz="2800" baseline="0" dirty="0">
                <a:solidFill>
                  <a:srgbClr val="404040"/>
                </a:solidFill>
                <a:latin typeface="Times New Roman"/>
              </a:rPr>
              <a:t> </a:t>
            </a:r>
            <a:r>
              <a:rPr lang="en-US" sz="2800" dirty="0">
                <a:solidFill>
                  <a:srgbClr val="404040"/>
                </a:solidFill>
                <a:latin typeface="Times New Roman"/>
              </a:rPr>
              <a:t>Dropping columns with no predictive power and merging rare categories</a:t>
            </a:r>
            <a:endParaRPr lang="en-US" sz="2800" baseline="0" dirty="0">
              <a:solidFill>
                <a:srgbClr val="404040"/>
              </a:solidFill>
              <a:latin typeface="Times New Roman"/>
            </a:endParaRPr>
          </a:p>
        </p:txBody>
      </p:sp>
      <p:sp>
        <p:nvSpPr>
          <p:cNvPr id="8" name="TextBox 7">
            <a:extLst>
              <a:ext uri="{FF2B5EF4-FFF2-40B4-BE49-F238E27FC236}">
                <a16:creationId xmlns:a16="http://schemas.microsoft.com/office/drawing/2014/main" id="{C28410F5-5E30-255C-C416-F4E125BBD0A5}"/>
              </a:ext>
            </a:extLst>
          </p:cNvPr>
          <p:cNvSpPr txBox="1"/>
          <p:nvPr/>
        </p:nvSpPr>
        <p:spPr>
          <a:xfrm>
            <a:off x="678756" y="4363891"/>
            <a:ext cx="9297680" cy="123110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solidFill>
                  <a:srgbClr val="2E83C3"/>
                </a:solidFill>
                <a:latin typeface="Times New Roman"/>
                <a:ea typeface="Segoe UI"/>
                <a:cs typeface="Segoe UI"/>
              </a:rPr>
              <a:t>Running chi-square tests to check independence </a:t>
            </a:r>
            <a:r>
              <a:rPr lang="en-US" sz="2800" b="1" baseline="0" dirty="0">
                <a:solidFill>
                  <a:srgbClr val="2E83C3"/>
                </a:solidFill>
                <a:latin typeface="Times New Roman"/>
                <a:ea typeface="Segoe UI"/>
                <a:cs typeface="Segoe UI"/>
              </a:rPr>
              <a:t>:</a:t>
            </a:r>
            <a:r>
              <a:rPr lang="en-US" sz="2800" baseline="0" dirty="0">
                <a:solidFill>
                  <a:srgbClr val="404040"/>
                </a:solidFill>
                <a:latin typeface="Times New Roman"/>
                <a:ea typeface="Segoe UI"/>
                <a:cs typeface="Segoe UI"/>
              </a:rPr>
              <a:t> </a:t>
            </a:r>
            <a:r>
              <a:rPr lang="en-US" sz="2800" dirty="0">
                <a:solidFill>
                  <a:srgbClr val="404040"/>
                </a:solidFill>
                <a:latin typeface="Times New Roman"/>
                <a:ea typeface="Segoe UI"/>
                <a:cs typeface="Segoe UI"/>
              </a:rPr>
              <a:t>Dropping columns where p-values are not significant</a:t>
            </a:r>
            <a:endParaRPr lang="en-US" dirty="0"/>
          </a:p>
          <a:p>
            <a:pPr algn="ctr"/>
            <a:endParaRPr lang="en-US"/>
          </a:p>
        </p:txBody>
      </p:sp>
    </p:spTree>
    <p:extLst>
      <p:ext uri="{BB962C8B-B14F-4D97-AF65-F5344CB8AC3E}">
        <p14:creationId xmlns:p14="http://schemas.microsoft.com/office/powerpoint/2010/main" val="27670110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EB61C-3762-DE99-B012-54D65915A07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801B5AB5-5812-A881-A60E-23045A468975}"/>
              </a:ext>
            </a:extLst>
          </p:cNvPr>
          <p:cNvSpPr>
            <a:spLocks noGrp="1"/>
          </p:cNvSpPr>
          <p:nvPr>
            <p:ph type="title"/>
          </p:nvPr>
        </p:nvSpPr>
        <p:spPr/>
        <p:txBody>
          <a:bodyPr/>
          <a:lstStyle/>
          <a:p>
            <a:br>
              <a:rPr lang="en-US" altLang="zh-TW" b="1" dirty="0">
                <a:latin typeface="Times New Roman" panose="02020603050405020304" pitchFamily="18" charset="0"/>
                <a:cs typeface="Times New Roman" panose="02020603050405020304" pitchFamily="18" charset="0"/>
              </a:rPr>
            </a:br>
            <a:endParaRPr kumimoji="1" lang="zh-TW" altLang="en-US" b="1"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F39E1A99-34D6-21C6-CFA2-04E7B3C750D7}"/>
              </a:ext>
            </a:extLst>
          </p:cNvPr>
          <p:cNvSpPr txBox="1"/>
          <p:nvPr/>
        </p:nvSpPr>
        <p:spPr>
          <a:xfrm>
            <a:off x="678756" y="1482378"/>
            <a:ext cx="818349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sz="2800" dirty="0">
              <a:solidFill>
                <a:srgbClr val="404040"/>
              </a:solidFill>
              <a:latin typeface="Times New Roman"/>
              <a:ea typeface="Segoe UI"/>
              <a:cs typeface="Segoe UI"/>
            </a:endParaRPr>
          </a:p>
        </p:txBody>
      </p:sp>
      <p:sp>
        <p:nvSpPr>
          <p:cNvPr id="4" name="TextBox 3">
            <a:extLst>
              <a:ext uri="{FF2B5EF4-FFF2-40B4-BE49-F238E27FC236}">
                <a16:creationId xmlns:a16="http://schemas.microsoft.com/office/drawing/2014/main" id="{18966EFA-22F0-B25D-4A7B-5593F33630F2}"/>
              </a:ext>
            </a:extLst>
          </p:cNvPr>
          <p:cNvSpPr txBox="1"/>
          <p:nvPr/>
        </p:nvSpPr>
        <p:spPr>
          <a:xfrm>
            <a:off x="678756" y="429472"/>
            <a:ext cx="3984555"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solidFill>
                  <a:schemeClr val="accent2"/>
                </a:solidFill>
                <a:latin typeface="Times New Roman"/>
              </a:rPr>
              <a:t>Check for correlation between predictors:</a:t>
            </a:r>
            <a:endParaRPr lang="en-US" sz="2800" dirty="0">
              <a:solidFill>
                <a:schemeClr val="accent2"/>
              </a:solidFill>
              <a:latin typeface="Times New Roman"/>
              <a:cs typeface="Times New Roman"/>
            </a:endParaRPr>
          </a:p>
        </p:txBody>
      </p:sp>
      <p:pic>
        <p:nvPicPr>
          <p:cNvPr id="3" name="Picture 2" descr="A screenshot of a graph">
            <a:extLst>
              <a:ext uri="{FF2B5EF4-FFF2-40B4-BE49-F238E27FC236}">
                <a16:creationId xmlns:a16="http://schemas.microsoft.com/office/drawing/2014/main" id="{48A4800A-E7F3-1CFC-07F7-EF12F70A5E50}"/>
              </a:ext>
            </a:extLst>
          </p:cNvPr>
          <p:cNvPicPr>
            <a:picLocks noChangeAspect="1"/>
          </p:cNvPicPr>
          <p:nvPr/>
        </p:nvPicPr>
        <p:blipFill>
          <a:blip r:embed="rId2"/>
          <a:stretch>
            <a:fillRect/>
          </a:stretch>
        </p:blipFill>
        <p:spPr>
          <a:xfrm>
            <a:off x="5140962" y="105271"/>
            <a:ext cx="6498083" cy="6653093"/>
          </a:xfrm>
          <a:prstGeom prst="rect">
            <a:avLst/>
          </a:prstGeom>
        </p:spPr>
      </p:pic>
      <p:sp>
        <p:nvSpPr>
          <p:cNvPr id="9" name="TextBox 8">
            <a:extLst>
              <a:ext uri="{FF2B5EF4-FFF2-40B4-BE49-F238E27FC236}">
                <a16:creationId xmlns:a16="http://schemas.microsoft.com/office/drawing/2014/main" id="{D44B2176-FBF1-3E5F-3477-77567DD83FA6}"/>
              </a:ext>
            </a:extLst>
          </p:cNvPr>
          <p:cNvSpPr txBox="1"/>
          <p:nvPr/>
        </p:nvSpPr>
        <p:spPr>
          <a:xfrm>
            <a:off x="678757" y="1572025"/>
            <a:ext cx="4610419" cy="39703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solidFill>
                  <a:srgbClr val="CE9178"/>
                </a:solidFill>
                <a:latin typeface="Menlo"/>
                <a:ea typeface="Menlo"/>
                <a:cs typeface="Menlo"/>
              </a:rPr>
              <a:t>The highly correlated variables are:</a:t>
            </a:r>
          </a:p>
          <a:p>
            <a:r>
              <a:rPr lang="en-US" sz="1200" dirty="0">
                <a:solidFill>
                  <a:srgbClr val="CE9178"/>
                </a:solidFill>
                <a:latin typeface="Menlo"/>
                <a:ea typeface="Menlo"/>
                <a:cs typeface="Menlo"/>
              </a:rPr>
              <a:t>- Household Composition and Living Situation</a:t>
            </a:r>
          </a:p>
          <a:p>
            <a:r>
              <a:rPr lang="en-US" sz="1200" dirty="0">
                <a:solidFill>
                  <a:srgbClr val="CE9178"/>
                </a:solidFill>
                <a:latin typeface="Menlo"/>
                <a:ea typeface="Menlo"/>
                <a:cs typeface="Menlo"/>
              </a:rPr>
              <a:t>- Employment Status and Working Status</a:t>
            </a:r>
          </a:p>
          <a:p>
            <a:r>
              <a:rPr lang="en-US" sz="1200" dirty="0">
                <a:solidFill>
                  <a:srgbClr val="CE9178"/>
                </a:solidFill>
                <a:latin typeface="Menlo"/>
                <a:ea typeface="Menlo"/>
                <a:cs typeface="Menlo"/>
              </a:rPr>
              <a:t>- Medicaid And Medicare Insurance and Other Insurance</a:t>
            </a:r>
          </a:p>
          <a:p>
            <a:r>
              <a:rPr lang="en-US" sz="1200" dirty="0">
                <a:solidFill>
                  <a:srgbClr val="CE9178"/>
                </a:solidFill>
                <a:latin typeface="Menlo"/>
                <a:ea typeface="Menlo"/>
                <a:cs typeface="Menlo"/>
              </a:rPr>
              <a:t>- Medicaid And Medicare Insurance and Private Insurance</a:t>
            </a:r>
          </a:p>
          <a:p>
            <a:r>
              <a:rPr lang="en-US" sz="1200" dirty="0">
                <a:solidFill>
                  <a:srgbClr val="CE9178"/>
                </a:solidFill>
                <a:latin typeface="Menlo"/>
                <a:ea typeface="Menlo"/>
                <a:cs typeface="Menlo"/>
              </a:rPr>
              <a:t>- Medicaid And Medicare Insurance and Medicaid Insurance</a:t>
            </a:r>
          </a:p>
          <a:p>
            <a:r>
              <a:rPr lang="en-US" sz="1200" dirty="0">
                <a:solidFill>
                  <a:srgbClr val="CE9178"/>
                </a:solidFill>
                <a:latin typeface="Menlo"/>
                <a:ea typeface="Menlo"/>
                <a:cs typeface="Menlo"/>
              </a:rPr>
              <a:t>- Medicaid And Medicare Insurance and Unknown Insurance Coverage</a:t>
            </a:r>
          </a:p>
          <a:p>
            <a:r>
              <a:rPr lang="en-US" sz="1200" dirty="0">
                <a:solidFill>
                  <a:srgbClr val="CE9178"/>
                </a:solidFill>
                <a:latin typeface="Menlo"/>
                <a:ea typeface="Menlo"/>
                <a:cs typeface="Menlo"/>
              </a:rPr>
              <a:t>- Unknown Insurance Coverage and Medicaid Insurance</a:t>
            </a:r>
          </a:p>
          <a:p>
            <a:r>
              <a:rPr lang="en-US" sz="1200" dirty="0">
                <a:solidFill>
                  <a:srgbClr val="CE9178"/>
                </a:solidFill>
                <a:latin typeface="Menlo"/>
                <a:ea typeface="Menlo"/>
                <a:cs typeface="Menlo"/>
              </a:rPr>
              <a:t>- Medicaid Insurance and No Insurance</a:t>
            </a:r>
          </a:p>
          <a:p>
            <a:r>
              <a:rPr lang="en-US" sz="1200" dirty="0">
                <a:solidFill>
                  <a:srgbClr val="CE9178"/>
                </a:solidFill>
                <a:latin typeface="Menlo"/>
                <a:ea typeface="Menlo"/>
                <a:cs typeface="Menlo"/>
              </a:rPr>
              <a:t>- Medicaid Managed Insurance and Medicaid Insurance</a:t>
            </a:r>
          </a:p>
          <a:p>
            <a:r>
              <a:rPr lang="en-US" sz="1200" dirty="0">
                <a:solidFill>
                  <a:srgbClr val="CE9178"/>
                </a:solidFill>
                <a:latin typeface="Menlo"/>
                <a:ea typeface="Menlo"/>
                <a:cs typeface="Menlo"/>
              </a:rPr>
              <a:t>- Private Insurance and Other Insurance"""</a:t>
            </a:r>
          </a:p>
          <a:p>
            <a:endParaRPr lang="en-US" sz="1200" dirty="0">
              <a:solidFill>
                <a:srgbClr val="CE9178"/>
              </a:solidFill>
              <a:latin typeface="Menlo"/>
              <a:ea typeface="Menlo"/>
              <a:cs typeface="Menlo"/>
            </a:endParaRPr>
          </a:p>
          <a:p>
            <a:r>
              <a:rPr lang="en-US" sz="1200" dirty="0" err="1">
                <a:solidFill>
                  <a:srgbClr val="9CDCFE"/>
                </a:solidFill>
                <a:latin typeface="Menlo"/>
                <a:ea typeface="Menlo"/>
                <a:cs typeface="Menlo"/>
              </a:rPr>
              <a:t>drop_cols</a:t>
            </a:r>
            <a:r>
              <a:rPr lang="en-US" sz="1200" dirty="0">
                <a:solidFill>
                  <a:srgbClr val="CCCCCC"/>
                </a:solidFill>
                <a:latin typeface="Menlo"/>
                <a:ea typeface="Menlo"/>
                <a:cs typeface="Menlo"/>
              </a:rPr>
              <a:t> </a:t>
            </a:r>
            <a:r>
              <a:rPr lang="en-US" sz="1200" dirty="0">
                <a:solidFill>
                  <a:srgbClr val="D4D4D4"/>
                </a:solidFill>
                <a:latin typeface="Menlo"/>
                <a:ea typeface="Menlo"/>
                <a:cs typeface="Menlo"/>
              </a:rPr>
              <a:t>=</a:t>
            </a:r>
            <a:r>
              <a:rPr lang="en-US" sz="1200" dirty="0">
                <a:solidFill>
                  <a:srgbClr val="CCCCCC"/>
                </a:solidFill>
                <a:latin typeface="Menlo"/>
                <a:ea typeface="Menlo"/>
                <a:cs typeface="Menlo"/>
              </a:rPr>
              <a:t> [</a:t>
            </a:r>
            <a:r>
              <a:rPr lang="en-US" sz="1200" dirty="0">
                <a:solidFill>
                  <a:srgbClr val="CE9178"/>
                </a:solidFill>
                <a:latin typeface="Menlo"/>
                <a:ea typeface="Menlo"/>
                <a:cs typeface="Menlo"/>
              </a:rPr>
              <a:t>"Household Composition"</a:t>
            </a:r>
            <a:r>
              <a:rPr lang="en-US" sz="1200" dirty="0">
                <a:solidFill>
                  <a:srgbClr val="CCCCCC"/>
                </a:solidFill>
                <a:latin typeface="Menlo"/>
                <a:ea typeface="Menlo"/>
                <a:cs typeface="Menlo"/>
              </a:rPr>
              <a:t>, </a:t>
            </a:r>
            <a:r>
              <a:rPr lang="en-US" sz="1200" dirty="0">
                <a:solidFill>
                  <a:srgbClr val="CE9178"/>
                </a:solidFill>
                <a:latin typeface="Menlo"/>
                <a:ea typeface="Menlo"/>
                <a:cs typeface="Menlo"/>
              </a:rPr>
              <a:t>"Employment Status"</a:t>
            </a:r>
            <a:r>
              <a:rPr lang="en-US" sz="1200" dirty="0">
                <a:solidFill>
                  <a:srgbClr val="CCCCCC"/>
                </a:solidFill>
                <a:latin typeface="Menlo"/>
                <a:ea typeface="Menlo"/>
                <a:cs typeface="Menlo"/>
              </a:rPr>
              <a:t>, </a:t>
            </a:r>
            <a:r>
              <a:rPr lang="en-US" sz="1200" dirty="0">
                <a:solidFill>
                  <a:srgbClr val="CE9178"/>
                </a:solidFill>
                <a:latin typeface="Menlo"/>
                <a:ea typeface="Menlo"/>
                <a:cs typeface="Menlo"/>
              </a:rPr>
              <a:t>"Other Insurance"</a:t>
            </a:r>
            <a:r>
              <a:rPr lang="en-US" sz="1200" dirty="0">
                <a:solidFill>
                  <a:srgbClr val="CCCCCC"/>
                </a:solidFill>
                <a:latin typeface="Menlo"/>
                <a:ea typeface="Menlo"/>
                <a:cs typeface="Menlo"/>
              </a:rPr>
              <a:t>, </a:t>
            </a:r>
            <a:r>
              <a:rPr lang="en-US" sz="1200" dirty="0">
                <a:solidFill>
                  <a:srgbClr val="CE9178"/>
                </a:solidFill>
                <a:latin typeface="Menlo"/>
                <a:ea typeface="Menlo"/>
                <a:cs typeface="Menlo"/>
              </a:rPr>
              <a:t>"Private Insurance"</a:t>
            </a:r>
            <a:r>
              <a:rPr lang="en-US" sz="1200" dirty="0">
                <a:solidFill>
                  <a:srgbClr val="CCCCCC"/>
                </a:solidFill>
                <a:latin typeface="Menlo"/>
                <a:ea typeface="Menlo"/>
                <a:cs typeface="Menlo"/>
              </a:rPr>
              <a:t>, </a:t>
            </a:r>
            <a:r>
              <a:rPr lang="en-US" sz="1200" dirty="0">
                <a:solidFill>
                  <a:srgbClr val="CE9178"/>
                </a:solidFill>
                <a:latin typeface="Menlo"/>
                <a:ea typeface="Menlo"/>
                <a:cs typeface="Menlo"/>
              </a:rPr>
              <a:t>"Medicaid Insurance"</a:t>
            </a:r>
            <a:r>
              <a:rPr lang="en-US" sz="1200" dirty="0">
                <a:solidFill>
                  <a:srgbClr val="CCCCCC"/>
                </a:solidFill>
                <a:latin typeface="Menlo"/>
                <a:ea typeface="Menlo"/>
                <a:cs typeface="Menlo"/>
              </a:rPr>
              <a:t>, </a:t>
            </a:r>
            <a:r>
              <a:rPr lang="en-US" sz="1200" dirty="0">
                <a:solidFill>
                  <a:srgbClr val="CE9178"/>
                </a:solidFill>
                <a:latin typeface="Menlo"/>
                <a:ea typeface="Menlo"/>
                <a:cs typeface="Menlo"/>
              </a:rPr>
              <a:t>"Unknown Insurance </a:t>
            </a:r>
            <a:r>
              <a:rPr lang="en-US" sz="1200" dirty="0" err="1">
                <a:solidFill>
                  <a:srgbClr val="CE9178"/>
                </a:solidFill>
                <a:latin typeface="Menlo"/>
                <a:ea typeface="Menlo"/>
                <a:cs typeface="Menlo"/>
              </a:rPr>
              <a:t>Coverage"</a:t>
            </a:r>
            <a:r>
              <a:rPr lang="en-US" sz="1200" dirty="0" err="1">
                <a:solidFill>
                  <a:srgbClr val="CCCCCC"/>
                </a:solidFill>
                <a:latin typeface="Menlo"/>
                <a:ea typeface="Menlo"/>
                <a:cs typeface="Menlo"/>
              </a:rPr>
              <a:t>,</a:t>
            </a:r>
            <a:r>
              <a:rPr lang="en-US" sz="1200" dirty="0" err="1">
                <a:solidFill>
                  <a:srgbClr val="CE9178"/>
                </a:solidFill>
                <a:latin typeface="Menlo"/>
                <a:ea typeface="Menlo"/>
                <a:cs typeface="Menlo"/>
              </a:rPr>
              <a:t>"No</a:t>
            </a:r>
            <a:r>
              <a:rPr lang="en-US" sz="1200" dirty="0">
                <a:solidFill>
                  <a:srgbClr val="CE9178"/>
                </a:solidFill>
                <a:latin typeface="Menlo"/>
                <a:ea typeface="Menlo"/>
                <a:cs typeface="Menlo"/>
              </a:rPr>
              <a:t> Insurance"</a:t>
            </a:r>
            <a:r>
              <a:rPr lang="en-US" sz="1200" dirty="0">
                <a:solidFill>
                  <a:srgbClr val="CCCCCC"/>
                </a:solidFill>
                <a:latin typeface="Menlo"/>
                <a:ea typeface="Menlo"/>
                <a:cs typeface="Menlo"/>
              </a:rPr>
              <a:t>]</a:t>
            </a:r>
            <a:endParaRPr lang="en-US" sz="1200" dirty="0">
              <a:solidFill>
                <a:srgbClr val="000000"/>
              </a:solidFill>
              <a:latin typeface="Menlo"/>
              <a:ea typeface="Menlo"/>
              <a:cs typeface="Menlo"/>
            </a:endParaRPr>
          </a:p>
          <a:p>
            <a:endParaRPr lang="en-US" sz="1200" dirty="0">
              <a:solidFill>
                <a:srgbClr val="CE9178"/>
              </a:solidFill>
              <a:latin typeface="Menlo"/>
              <a:ea typeface="Menlo"/>
              <a:cs typeface="Menlo"/>
            </a:endParaRPr>
          </a:p>
          <a:p>
            <a:endParaRPr lang="en-US" sz="1200" dirty="0">
              <a:solidFill>
                <a:srgbClr val="CE9178"/>
              </a:solidFill>
              <a:latin typeface="Menlo"/>
              <a:ea typeface="Menlo"/>
              <a:cs typeface="Menlo"/>
            </a:endParaRPr>
          </a:p>
          <a:p>
            <a:endParaRPr lang="en-US" sz="1200" dirty="0">
              <a:solidFill>
                <a:srgbClr val="CE9178"/>
              </a:solidFill>
              <a:latin typeface="Menlo"/>
              <a:ea typeface="Menlo"/>
              <a:cs typeface="Menlo"/>
            </a:endParaRPr>
          </a:p>
          <a:p>
            <a:br>
              <a:rPr lang="en-US" sz="1200" dirty="0">
                <a:latin typeface="Menlo"/>
                <a:ea typeface="Menlo"/>
                <a:cs typeface="Menlo"/>
              </a:rPr>
            </a:br>
            <a:endParaRPr lang="en-US" sz="1200">
              <a:solidFill>
                <a:srgbClr val="CCCCCC"/>
              </a:solidFill>
              <a:latin typeface="Menlo"/>
              <a:ea typeface="Menlo"/>
              <a:cs typeface="Menlo"/>
            </a:endParaRPr>
          </a:p>
          <a:p>
            <a:pPr algn="ctr"/>
            <a:endParaRPr lang="en-US" sz="1200" dirty="0"/>
          </a:p>
        </p:txBody>
      </p:sp>
    </p:spTree>
    <p:extLst>
      <p:ext uri="{BB962C8B-B14F-4D97-AF65-F5344CB8AC3E}">
        <p14:creationId xmlns:p14="http://schemas.microsoft.com/office/powerpoint/2010/main" val="10819997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F825F-044E-7EF6-13A8-3E49CCC0057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34BD626-2C41-00EA-70DC-C517C73CC084}"/>
              </a:ext>
            </a:extLst>
          </p:cNvPr>
          <p:cNvSpPr>
            <a:spLocks noGrp="1"/>
          </p:cNvSpPr>
          <p:nvPr>
            <p:ph type="title"/>
          </p:nvPr>
        </p:nvSpPr>
        <p:spPr/>
        <p:txBody>
          <a:bodyPr/>
          <a:lstStyle/>
          <a:p>
            <a:br>
              <a:rPr lang="en-US" altLang="zh-TW" b="1" dirty="0">
                <a:latin typeface="Times New Roman" panose="02020603050405020304" pitchFamily="18" charset="0"/>
                <a:cs typeface="Times New Roman" panose="02020603050405020304" pitchFamily="18" charset="0"/>
              </a:rPr>
            </a:br>
            <a:endParaRPr kumimoji="1" lang="zh-TW" altLang="en-US" b="1"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F2767748-BEDC-C78F-1A3D-0D751282D2AF}"/>
              </a:ext>
            </a:extLst>
          </p:cNvPr>
          <p:cNvSpPr txBox="1"/>
          <p:nvPr/>
        </p:nvSpPr>
        <p:spPr>
          <a:xfrm>
            <a:off x="678756" y="1482378"/>
            <a:ext cx="818349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sz="2800" dirty="0">
              <a:solidFill>
                <a:srgbClr val="404040"/>
              </a:solidFill>
              <a:latin typeface="Times New Roman"/>
              <a:ea typeface="Segoe UI"/>
              <a:cs typeface="Segoe UI"/>
            </a:endParaRPr>
          </a:p>
        </p:txBody>
      </p:sp>
      <p:sp>
        <p:nvSpPr>
          <p:cNvPr id="4" name="TextBox 3">
            <a:extLst>
              <a:ext uri="{FF2B5EF4-FFF2-40B4-BE49-F238E27FC236}">
                <a16:creationId xmlns:a16="http://schemas.microsoft.com/office/drawing/2014/main" id="{5D2546C2-34AE-C111-0340-AF0621B3DB0C}"/>
              </a:ext>
            </a:extLst>
          </p:cNvPr>
          <p:cNvSpPr txBox="1"/>
          <p:nvPr/>
        </p:nvSpPr>
        <p:spPr>
          <a:xfrm>
            <a:off x="678756" y="429472"/>
            <a:ext cx="6264151"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solidFill>
                  <a:schemeClr val="accent2"/>
                </a:solidFill>
                <a:latin typeface="Times New Roman"/>
              </a:rPr>
              <a:t>Running Logistic Regression Model</a:t>
            </a:r>
            <a:endParaRPr lang="en-US" sz="2800" b="1" dirty="0">
              <a:solidFill>
                <a:schemeClr val="accent2"/>
              </a:solidFill>
              <a:latin typeface="Times New Roman"/>
              <a:cs typeface="Times New Roman"/>
            </a:endParaRPr>
          </a:p>
        </p:txBody>
      </p:sp>
      <p:graphicFrame>
        <p:nvGraphicFramePr>
          <p:cNvPr id="15" name="Table 14">
            <a:extLst>
              <a:ext uri="{FF2B5EF4-FFF2-40B4-BE49-F238E27FC236}">
                <a16:creationId xmlns:a16="http://schemas.microsoft.com/office/drawing/2014/main" id="{D19ABB35-F99B-41FD-328C-5BE91C9E82AB}"/>
              </a:ext>
            </a:extLst>
          </p:cNvPr>
          <p:cNvGraphicFramePr>
            <a:graphicFrameLocks noGrp="1"/>
          </p:cNvGraphicFramePr>
          <p:nvPr>
            <p:extLst>
              <p:ext uri="{D42A27DB-BD31-4B8C-83A1-F6EECF244321}">
                <p14:modId xmlns:p14="http://schemas.microsoft.com/office/powerpoint/2010/main" val="2332540369"/>
              </p:ext>
            </p:extLst>
          </p:nvPr>
        </p:nvGraphicFramePr>
        <p:xfrm>
          <a:off x="770805" y="1200390"/>
          <a:ext cx="8191500" cy="2228850"/>
        </p:xfrm>
        <a:graphic>
          <a:graphicData uri="http://schemas.openxmlformats.org/drawingml/2006/table">
            <a:tbl>
              <a:tblPr bandRow="1">
                <a:tableStyleId>{3C2FFA5D-87B4-456A-9821-1D502468CF0F}</a:tableStyleId>
              </a:tblPr>
              <a:tblGrid>
                <a:gridCol w="1638300">
                  <a:extLst>
                    <a:ext uri="{9D8B030D-6E8A-4147-A177-3AD203B41FA5}">
                      <a16:colId xmlns:a16="http://schemas.microsoft.com/office/drawing/2014/main" val="1790942301"/>
                    </a:ext>
                  </a:extLst>
                </a:gridCol>
                <a:gridCol w="1638300">
                  <a:extLst>
                    <a:ext uri="{9D8B030D-6E8A-4147-A177-3AD203B41FA5}">
                      <a16:colId xmlns:a16="http://schemas.microsoft.com/office/drawing/2014/main" val="418275724"/>
                    </a:ext>
                  </a:extLst>
                </a:gridCol>
                <a:gridCol w="1638300">
                  <a:extLst>
                    <a:ext uri="{9D8B030D-6E8A-4147-A177-3AD203B41FA5}">
                      <a16:colId xmlns:a16="http://schemas.microsoft.com/office/drawing/2014/main" val="3578412498"/>
                    </a:ext>
                  </a:extLst>
                </a:gridCol>
                <a:gridCol w="1638300">
                  <a:extLst>
                    <a:ext uri="{9D8B030D-6E8A-4147-A177-3AD203B41FA5}">
                      <a16:colId xmlns:a16="http://schemas.microsoft.com/office/drawing/2014/main" val="2336470674"/>
                    </a:ext>
                  </a:extLst>
                </a:gridCol>
                <a:gridCol w="1638300">
                  <a:extLst>
                    <a:ext uri="{9D8B030D-6E8A-4147-A177-3AD203B41FA5}">
                      <a16:colId xmlns:a16="http://schemas.microsoft.com/office/drawing/2014/main" val="792266020"/>
                    </a:ext>
                  </a:extLst>
                </a:gridCol>
              </a:tblGrid>
              <a:tr h="371475">
                <a:tc>
                  <a:txBody>
                    <a:bodyPr/>
                    <a:lstStyle/>
                    <a:p>
                      <a:pPr fontAlgn="t">
                        <a:buNone/>
                      </a:pPr>
                      <a:endParaRPr lang="en-US">
                        <a:effectLst/>
                      </a:endParaRPr>
                    </a:p>
                  </a:txBody>
                  <a:tcPr/>
                </a:tc>
                <a:tc>
                  <a:txBody>
                    <a:bodyPr/>
                    <a:lstStyle/>
                    <a:p>
                      <a:pPr fontAlgn="base">
                        <a:lnSpc>
                          <a:spcPts val="2175"/>
                        </a:lnSpc>
                        <a:buNone/>
                      </a:pPr>
                      <a:r>
                        <a:rPr lang="en-US" sz="1800" dirty="0">
                          <a:solidFill>
                            <a:srgbClr val="FFFFFF"/>
                          </a:solidFill>
                          <a:effectLst/>
                        </a:rPr>
                        <a:t>Precision</a:t>
                      </a:r>
                      <a:endParaRPr lang="en-US">
                        <a:solidFill>
                          <a:srgbClr val="FFFFFF"/>
                        </a:solidFill>
                        <a:effectLst/>
                      </a:endParaRPr>
                    </a:p>
                  </a:txBody>
                  <a:tcPr/>
                </a:tc>
                <a:tc>
                  <a:txBody>
                    <a:bodyPr/>
                    <a:lstStyle/>
                    <a:p>
                      <a:pPr fontAlgn="base">
                        <a:lnSpc>
                          <a:spcPts val="2175"/>
                        </a:lnSpc>
                        <a:buNone/>
                      </a:pPr>
                      <a:r>
                        <a:rPr lang="en-US" sz="1800" dirty="0">
                          <a:solidFill>
                            <a:srgbClr val="FFFFFF"/>
                          </a:solidFill>
                          <a:effectLst/>
                        </a:rPr>
                        <a:t>Recall</a:t>
                      </a:r>
                      <a:endParaRPr lang="en-US">
                        <a:solidFill>
                          <a:srgbClr val="FFFFFF"/>
                        </a:solidFill>
                        <a:effectLst/>
                      </a:endParaRPr>
                    </a:p>
                  </a:txBody>
                  <a:tcPr/>
                </a:tc>
                <a:tc>
                  <a:txBody>
                    <a:bodyPr/>
                    <a:lstStyle/>
                    <a:p>
                      <a:pPr fontAlgn="base">
                        <a:lnSpc>
                          <a:spcPts val="2175"/>
                        </a:lnSpc>
                        <a:buNone/>
                      </a:pPr>
                      <a:r>
                        <a:rPr lang="en-US" sz="1800" dirty="0">
                          <a:solidFill>
                            <a:srgbClr val="FFFFFF"/>
                          </a:solidFill>
                          <a:effectLst/>
                        </a:rPr>
                        <a:t>F1-Score</a:t>
                      </a:r>
                      <a:endParaRPr lang="en-US">
                        <a:solidFill>
                          <a:srgbClr val="FFFFFF"/>
                        </a:solidFill>
                        <a:effectLst/>
                      </a:endParaRPr>
                    </a:p>
                  </a:txBody>
                  <a:tcPr/>
                </a:tc>
                <a:tc>
                  <a:txBody>
                    <a:bodyPr/>
                    <a:lstStyle/>
                    <a:p>
                      <a:pPr fontAlgn="base">
                        <a:lnSpc>
                          <a:spcPts val="2175"/>
                        </a:lnSpc>
                        <a:buNone/>
                      </a:pPr>
                      <a:r>
                        <a:rPr lang="en-US" sz="1800" dirty="0">
                          <a:solidFill>
                            <a:srgbClr val="FFFFFF"/>
                          </a:solidFill>
                          <a:effectLst/>
                        </a:rPr>
                        <a:t>Support</a:t>
                      </a:r>
                      <a:endParaRPr lang="en-US">
                        <a:solidFill>
                          <a:srgbClr val="FFFFFF"/>
                        </a:solidFill>
                        <a:effectLst/>
                      </a:endParaRPr>
                    </a:p>
                  </a:txBody>
                  <a:tcPr/>
                </a:tc>
                <a:extLst>
                  <a:ext uri="{0D108BD9-81ED-4DB2-BD59-A6C34878D82A}">
                    <a16:rowId xmlns:a16="http://schemas.microsoft.com/office/drawing/2014/main" val="97177062"/>
                  </a:ext>
                </a:extLst>
              </a:tr>
              <a:tr h="371475">
                <a:tc>
                  <a:txBody>
                    <a:bodyPr/>
                    <a:lstStyle/>
                    <a:p>
                      <a:pPr fontAlgn="base">
                        <a:lnSpc>
                          <a:spcPts val="2175"/>
                        </a:lnSpc>
                        <a:buNone/>
                      </a:pPr>
                      <a:r>
                        <a:rPr lang="en-US" sz="1800" dirty="0">
                          <a:effectLst/>
                        </a:rPr>
                        <a:t>0.0</a:t>
                      </a:r>
                      <a:endParaRPr lang="en-US" dirty="0">
                        <a:effectLst/>
                      </a:endParaRPr>
                    </a:p>
                  </a:txBody>
                  <a:tcPr/>
                </a:tc>
                <a:tc>
                  <a:txBody>
                    <a:bodyPr/>
                    <a:lstStyle/>
                    <a:p>
                      <a:pPr fontAlgn="base">
                        <a:lnSpc>
                          <a:spcPts val="2175"/>
                        </a:lnSpc>
                        <a:buNone/>
                      </a:pPr>
                      <a:r>
                        <a:rPr lang="en-US" sz="1800" dirty="0">
                          <a:effectLst/>
                        </a:rPr>
                        <a:t>0.04</a:t>
                      </a:r>
                      <a:endParaRPr lang="en-US" dirty="0">
                        <a:effectLst/>
                      </a:endParaRPr>
                    </a:p>
                  </a:txBody>
                  <a:tcPr/>
                </a:tc>
                <a:tc>
                  <a:txBody>
                    <a:bodyPr/>
                    <a:lstStyle/>
                    <a:p>
                      <a:pPr fontAlgn="base">
                        <a:lnSpc>
                          <a:spcPts val="2175"/>
                        </a:lnSpc>
                        <a:buNone/>
                      </a:pPr>
                      <a:r>
                        <a:rPr lang="en-US" sz="1800" dirty="0">
                          <a:effectLst/>
                        </a:rPr>
                        <a:t>0.72</a:t>
                      </a:r>
                      <a:endParaRPr lang="en-US" dirty="0">
                        <a:effectLst/>
                      </a:endParaRPr>
                    </a:p>
                  </a:txBody>
                  <a:tcPr/>
                </a:tc>
                <a:tc>
                  <a:txBody>
                    <a:bodyPr/>
                    <a:lstStyle/>
                    <a:p>
                      <a:pPr fontAlgn="base">
                        <a:lnSpc>
                          <a:spcPts val="2175"/>
                        </a:lnSpc>
                        <a:buNone/>
                      </a:pPr>
                      <a:r>
                        <a:rPr lang="en-US" sz="1800" dirty="0">
                          <a:effectLst/>
                        </a:rPr>
                        <a:t>0.07</a:t>
                      </a:r>
                      <a:endParaRPr lang="en-US" dirty="0">
                        <a:effectLst/>
                      </a:endParaRPr>
                    </a:p>
                  </a:txBody>
                  <a:tcPr/>
                </a:tc>
                <a:tc>
                  <a:txBody>
                    <a:bodyPr/>
                    <a:lstStyle/>
                    <a:p>
                      <a:pPr fontAlgn="base">
                        <a:lnSpc>
                          <a:spcPts val="2175"/>
                        </a:lnSpc>
                        <a:buNone/>
                      </a:pPr>
                      <a:r>
                        <a:rPr lang="en-US" sz="1800" dirty="0">
                          <a:effectLst/>
                        </a:rPr>
                        <a:t>881</a:t>
                      </a:r>
                      <a:endParaRPr lang="en-US" dirty="0">
                        <a:effectLst/>
                      </a:endParaRPr>
                    </a:p>
                  </a:txBody>
                  <a:tcPr/>
                </a:tc>
                <a:extLst>
                  <a:ext uri="{0D108BD9-81ED-4DB2-BD59-A6C34878D82A}">
                    <a16:rowId xmlns:a16="http://schemas.microsoft.com/office/drawing/2014/main" val="3557282596"/>
                  </a:ext>
                </a:extLst>
              </a:tr>
              <a:tr h="371475">
                <a:tc>
                  <a:txBody>
                    <a:bodyPr/>
                    <a:lstStyle/>
                    <a:p>
                      <a:pPr fontAlgn="base">
                        <a:lnSpc>
                          <a:spcPts val="2175"/>
                        </a:lnSpc>
                        <a:buNone/>
                      </a:pPr>
                      <a:r>
                        <a:rPr lang="en-US" sz="1800" dirty="0">
                          <a:effectLst/>
                        </a:rPr>
                        <a:t>1.0</a:t>
                      </a:r>
                      <a:endParaRPr lang="en-US" dirty="0">
                        <a:effectLst/>
                      </a:endParaRPr>
                    </a:p>
                  </a:txBody>
                  <a:tcPr/>
                </a:tc>
                <a:tc>
                  <a:txBody>
                    <a:bodyPr/>
                    <a:lstStyle/>
                    <a:p>
                      <a:pPr fontAlgn="base">
                        <a:lnSpc>
                          <a:spcPts val="2175"/>
                        </a:lnSpc>
                        <a:buNone/>
                      </a:pPr>
                      <a:r>
                        <a:rPr lang="en-US" sz="1800" dirty="0">
                          <a:effectLst/>
                        </a:rPr>
                        <a:t>0.99</a:t>
                      </a:r>
                      <a:endParaRPr lang="en-US" dirty="0">
                        <a:effectLst/>
                      </a:endParaRPr>
                    </a:p>
                  </a:txBody>
                  <a:tcPr/>
                </a:tc>
                <a:tc>
                  <a:txBody>
                    <a:bodyPr/>
                    <a:lstStyle/>
                    <a:p>
                      <a:pPr fontAlgn="base">
                        <a:lnSpc>
                          <a:spcPts val="2175"/>
                        </a:lnSpc>
                        <a:buNone/>
                      </a:pPr>
                      <a:r>
                        <a:rPr lang="en-US" sz="1800" dirty="0">
                          <a:effectLst/>
                        </a:rPr>
                        <a:t>0.63</a:t>
                      </a:r>
                      <a:endParaRPr lang="en-US" dirty="0">
                        <a:effectLst/>
                      </a:endParaRPr>
                    </a:p>
                  </a:txBody>
                  <a:tcPr/>
                </a:tc>
                <a:tc>
                  <a:txBody>
                    <a:bodyPr/>
                    <a:lstStyle/>
                    <a:p>
                      <a:pPr fontAlgn="base">
                        <a:lnSpc>
                          <a:spcPts val="2175"/>
                        </a:lnSpc>
                        <a:buNone/>
                      </a:pPr>
                      <a:r>
                        <a:rPr lang="en-US" sz="1800" dirty="0">
                          <a:effectLst/>
                        </a:rPr>
                        <a:t>0.77</a:t>
                      </a:r>
                      <a:endParaRPr lang="en-US" dirty="0">
                        <a:effectLst/>
                      </a:endParaRPr>
                    </a:p>
                  </a:txBody>
                  <a:tcPr/>
                </a:tc>
                <a:tc>
                  <a:txBody>
                    <a:bodyPr/>
                    <a:lstStyle/>
                    <a:p>
                      <a:pPr fontAlgn="base">
                        <a:lnSpc>
                          <a:spcPts val="2175"/>
                        </a:lnSpc>
                        <a:buNone/>
                      </a:pPr>
                      <a:r>
                        <a:rPr lang="en-US" sz="1800" dirty="0">
                          <a:effectLst/>
                        </a:rPr>
                        <a:t>44414</a:t>
                      </a:r>
                      <a:endParaRPr lang="en-US" dirty="0">
                        <a:effectLst/>
                      </a:endParaRPr>
                    </a:p>
                  </a:txBody>
                  <a:tcPr/>
                </a:tc>
                <a:extLst>
                  <a:ext uri="{0D108BD9-81ED-4DB2-BD59-A6C34878D82A}">
                    <a16:rowId xmlns:a16="http://schemas.microsoft.com/office/drawing/2014/main" val="1938453748"/>
                  </a:ext>
                </a:extLst>
              </a:tr>
              <a:tr h="371475">
                <a:tc>
                  <a:txBody>
                    <a:bodyPr/>
                    <a:lstStyle/>
                    <a:p>
                      <a:pPr fontAlgn="base">
                        <a:lnSpc>
                          <a:spcPts val="2175"/>
                        </a:lnSpc>
                        <a:buNone/>
                      </a:pPr>
                      <a:r>
                        <a:rPr lang="en-US" sz="1800" dirty="0">
                          <a:effectLst/>
                        </a:rPr>
                        <a:t>Accuracy</a:t>
                      </a:r>
                      <a:endParaRPr lang="en-US" dirty="0">
                        <a:effectLst/>
                      </a:endParaRPr>
                    </a:p>
                  </a:txBody>
                  <a:tcPr/>
                </a:tc>
                <a:tc>
                  <a:txBody>
                    <a:bodyPr/>
                    <a:lstStyle/>
                    <a:p>
                      <a:pPr fontAlgn="t">
                        <a:buNone/>
                      </a:pPr>
                      <a:endParaRPr lang="en-US">
                        <a:effectLst/>
                      </a:endParaRPr>
                    </a:p>
                  </a:txBody>
                  <a:tcPr/>
                </a:tc>
                <a:tc>
                  <a:txBody>
                    <a:bodyPr/>
                    <a:lstStyle/>
                    <a:p>
                      <a:pPr fontAlgn="t">
                        <a:buNone/>
                      </a:pPr>
                      <a:endParaRPr lang="en-US">
                        <a:effectLst/>
                      </a:endParaRPr>
                    </a:p>
                  </a:txBody>
                  <a:tcPr/>
                </a:tc>
                <a:tc>
                  <a:txBody>
                    <a:bodyPr/>
                    <a:lstStyle/>
                    <a:p>
                      <a:pPr fontAlgn="base">
                        <a:lnSpc>
                          <a:spcPts val="2175"/>
                        </a:lnSpc>
                        <a:buNone/>
                      </a:pPr>
                      <a:r>
                        <a:rPr lang="en-US" sz="1800" dirty="0">
                          <a:effectLst/>
                        </a:rPr>
                        <a:t>0.63</a:t>
                      </a:r>
                      <a:endParaRPr lang="en-US" dirty="0">
                        <a:effectLst/>
                      </a:endParaRPr>
                    </a:p>
                  </a:txBody>
                  <a:tcPr/>
                </a:tc>
                <a:tc>
                  <a:txBody>
                    <a:bodyPr/>
                    <a:lstStyle/>
                    <a:p>
                      <a:pPr fontAlgn="base">
                        <a:lnSpc>
                          <a:spcPts val="2175"/>
                        </a:lnSpc>
                        <a:buNone/>
                      </a:pPr>
                      <a:r>
                        <a:rPr lang="en-US" sz="1800" dirty="0">
                          <a:effectLst/>
                        </a:rPr>
                        <a:t>45295</a:t>
                      </a:r>
                      <a:endParaRPr lang="en-US" dirty="0">
                        <a:effectLst/>
                      </a:endParaRPr>
                    </a:p>
                  </a:txBody>
                  <a:tcPr/>
                </a:tc>
                <a:extLst>
                  <a:ext uri="{0D108BD9-81ED-4DB2-BD59-A6C34878D82A}">
                    <a16:rowId xmlns:a16="http://schemas.microsoft.com/office/drawing/2014/main" val="577896445"/>
                  </a:ext>
                </a:extLst>
              </a:tr>
              <a:tr h="371475">
                <a:tc>
                  <a:txBody>
                    <a:bodyPr/>
                    <a:lstStyle/>
                    <a:p>
                      <a:pPr fontAlgn="base">
                        <a:lnSpc>
                          <a:spcPts val="2175"/>
                        </a:lnSpc>
                        <a:buNone/>
                      </a:pPr>
                      <a:r>
                        <a:rPr lang="en-US" sz="1800" dirty="0">
                          <a:effectLst/>
                        </a:rPr>
                        <a:t>Macro Avg</a:t>
                      </a:r>
                      <a:endParaRPr lang="en-US" dirty="0">
                        <a:effectLst/>
                      </a:endParaRPr>
                    </a:p>
                  </a:txBody>
                  <a:tcPr/>
                </a:tc>
                <a:tc>
                  <a:txBody>
                    <a:bodyPr/>
                    <a:lstStyle/>
                    <a:p>
                      <a:pPr fontAlgn="base">
                        <a:lnSpc>
                          <a:spcPts val="2175"/>
                        </a:lnSpc>
                        <a:buNone/>
                      </a:pPr>
                      <a:r>
                        <a:rPr lang="en-US" sz="1800" dirty="0">
                          <a:effectLst/>
                        </a:rPr>
                        <a:t>0.51</a:t>
                      </a:r>
                      <a:endParaRPr lang="en-US" dirty="0">
                        <a:effectLst/>
                      </a:endParaRPr>
                    </a:p>
                  </a:txBody>
                  <a:tcPr/>
                </a:tc>
                <a:tc>
                  <a:txBody>
                    <a:bodyPr/>
                    <a:lstStyle/>
                    <a:p>
                      <a:pPr fontAlgn="base">
                        <a:lnSpc>
                          <a:spcPts val="2175"/>
                        </a:lnSpc>
                        <a:buNone/>
                      </a:pPr>
                      <a:r>
                        <a:rPr lang="en-US" sz="1800" dirty="0">
                          <a:effectLst/>
                        </a:rPr>
                        <a:t>0.67</a:t>
                      </a:r>
                      <a:endParaRPr lang="en-US" dirty="0">
                        <a:effectLst/>
                      </a:endParaRPr>
                    </a:p>
                  </a:txBody>
                  <a:tcPr/>
                </a:tc>
                <a:tc>
                  <a:txBody>
                    <a:bodyPr/>
                    <a:lstStyle/>
                    <a:p>
                      <a:pPr fontAlgn="base">
                        <a:lnSpc>
                          <a:spcPts val="2175"/>
                        </a:lnSpc>
                        <a:buNone/>
                      </a:pPr>
                      <a:r>
                        <a:rPr lang="en-US" sz="1800" dirty="0">
                          <a:effectLst/>
                        </a:rPr>
                        <a:t>0.42</a:t>
                      </a:r>
                      <a:endParaRPr lang="en-US">
                        <a:solidFill>
                          <a:srgbClr val="2E83C3"/>
                        </a:solidFill>
                        <a:effectLst/>
                      </a:endParaRPr>
                    </a:p>
                  </a:txBody>
                  <a:tcPr/>
                </a:tc>
                <a:tc>
                  <a:txBody>
                    <a:bodyPr/>
                    <a:lstStyle/>
                    <a:p>
                      <a:pPr fontAlgn="base">
                        <a:lnSpc>
                          <a:spcPts val="2175"/>
                        </a:lnSpc>
                        <a:buNone/>
                      </a:pPr>
                      <a:r>
                        <a:rPr lang="en-US" sz="1800" dirty="0">
                          <a:effectLst/>
                        </a:rPr>
                        <a:t>45295</a:t>
                      </a:r>
                      <a:endParaRPr lang="en-US" dirty="0">
                        <a:effectLst/>
                      </a:endParaRPr>
                    </a:p>
                  </a:txBody>
                  <a:tcPr/>
                </a:tc>
                <a:extLst>
                  <a:ext uri="{0D108BD9-81ED-4DB2-BD59-A6C34878D82A}">
                    <a16:rowId xmlns:a16="http://schemas.microsoft.com/office/drawing/2014/main" val="4185120223"/>
                  </a:ext>
                </a:extLst>
              </a:tr>
              <a:tr h="371475">
                <a:tc>
                  <a:txBody>
                    <a:bodyPr/>
                    <a:lstStyle/>
                    <a:p>
                      <a:pPr fontAlgn="base">
                        <a:lnSpc>
                          <a:spcPts val="2175"/>
                        </a:lnSpc>
                        <a:buNone/>
                      </a:pPr>
                      <a:r>
                        <a:rPr lang="en-US" sz="1800" dirty="0">
                          <a:effectLst/>
                        </a:rPr>
                        <a:t>Weighted Avg</a:t>
                      </a:r>
                      <a:endParaRPr lang="en-US" dirty="0">
                        <a:effectLst/>
                      </a:endParaRPr>
                    </a:p>
                  </a:txBody>
                  <a:tcPr/>
                </a:tc>
                <a:tc>
                  <a:txBody>
                    <a:bodyPr/>
                    <a:lstStyle/>
                    <a:p>
                      <a:pPr fontAlgn="base">
                        <a:lnSpc>
                          <a:spcPts val="2175"/>
                        </a:lnSpc>
                        <a:buNone/>
                      </a:pPr>
                      <a:r>
                        <a:rPr lang="en-US" sz="1800" dirty="0">
                          <a:effectLst/>
                        </a:rPr>
                        <a:t>0.97</a:t>
                      </a:r>
                      <a:endParaRPr lang="en-US" dirty="0">
                        <a:effectLst/>
                      </a:endParaRPr>
                    </a:p>
                  </a:txBody>
                  <a:tcPr/>
                </a:tc>
                <a:tc>
                  <a:txBody>
                    <a:bodyPr/>
                    <a:lstStyle/>
                    <a:p>
                      <a:pPr fontAlgn="base">
                        <a:lnSpc>
                          <a:spcPts val="2175"/>
                        </a:lnSpc>
                        <a:buNone/>
                      </a:pPr>
                      <a:r>
                        <a:rPr lang="en-US" sz="1800" dirty="0">
                          <a:effectLst/>
                        </a:rPr>
                        <a:t>0.63</a:t>
                      </a:r>
                      <a:endParaRPr lang="en-US" dirty="0">
                        <a:effectLst/>
                      </a:endParaRPr>
                    </a:p>
                  </a:txBody>
                  <a:tcPr/>
                </a:tc>
                <a:tc>
                  <a:txBody>
                    <a:bodyPr/>
                    <a:lstStyle/>
                    <a:p>
                      <a:pPr fontAlgn="base">
                        <a:lnSpc>
                          <a:spcPts val="2175"/>
                        </a:lnSpc>
                        <a:buNone/>
                      </a:pPr>
                      <a:r>
                        <a:rPr lang="en-US" sz="1800" dirty="0">
                          <a:effectLst/>
                        </a:rPr>
                        <a:t>0.76</a:t>
                      </a:r>
                      <a:endParaRPr lang="en-US" dirty="0">
                        <a:effectLst/>
                      </a:endParaRPr>
                    </a:p>
                  </a:txBody>
                  <a:tcPr/>
                </a:tc>
                <a:tc>
                  <a:txBody>
                    <a:bodyPr/>
                    <a:lstStyle/>
                    <a:p>
                      <a:pPr fontAlgn="base">
                        <a:lnSpc>
                          <a:spcPts val="2175"/>
                        </a:lnSpc>
                        <a:buNone/>
                      </a:pPr>
                      <a:r>
                        <a:rPr lang="en-US" sz="1800" dirty="0">
                          <a:effectLst/>
                        </a:rPr>
                        <a:t>45295</a:t>
                      </a:r>
                      <a:endParaRPr lang="en-US" dirty="0">
                        <a:effectLst/>
                      </a:endParaRPr>
                    </a:p>
                  </a:txBody>
                  <a:tcPr/>
                </a:tc>
                <a:extLst>
                  <a:ext uri="{0D108BD9-81ED-4DB2-BD59-A6C34878D82A}">
                    <a16:rowId xmlns:a16="http://schemas.microsoft.com/office/drawing/2014/main" val="1070325317"/>
                  </a:ext>
                </a:extLst>
              </a:tr>
            </a:tbl>
          </a:graphicData>
        </a:graphic>
      </p:graphicFrame>
      <p:sp>
        <p:nvSpPr>
          <p:cNvPr id="16" name="TextBox 15">
            <a:extLst>
              <a:ext uri="{FF2B5EF4-FFF2-40B4-BE49-F238E27FC236}">
                <a16:creationId xmlns:a16="http://schemas.microsoft.com/office/drawing/2014/main" id="{3F29EE18-DBA9-264F-1A56-E3FC5E2B44B0}"/>
              </a:ext>
            </a:extLst>
          </p:cNvPr>
          <p:cNvSpPr txBox="1"/>
          <p:nvPr/>
        </p:nvSpPr>
        <p:spPr>
          <a:xfrm>
            <a:off x="768403" y="3813202"/>
            <a:ext cx="703089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buFont typeface=""/>
              <a:buChar char="•"/>
            </a:pPr>
            <a:r>
              <a:rPr lang="en-US"/>
              <a:t>Severe class imbalance causes Logistic Regression to fail on the minority class.</a:t>
            </a:r>
          </a:p>
          <a:p>
            <a:pPr marL="228600" indent="-228600">
              <a:buFont typeface=""/>
              <a:buChar char="•"/>
            </a:pPr>
            <a:r>
              <a:rPr lang="en-US"/>
              <a:t>High accuracy (0.63) is misleading; minority-class precision is extremely low (0.04).</a:t>
            </a:r>
          </a:p>
          <a:p>
            <a:pPr marL="228600" indent="-228600">
              <a:buFont typeface=""/>
              <a:buChar char="•"/>
            </a:pPr>
            <a:r>
              <a:rPr lang="en-US"/>
              <a:t>Logistic Regression isn’t sufficient even with class weights → moving to Random Forest.</a:t>
            </a:r>
          </a:p>
          <a:p>
            <a:pPr algn="ctr"/>
            <a:endParaRPr lang="en-US"/>
          </a:p>
        </p:txBody>
      </p:sp>
    </p:spTree>
    <p:extLst>
      <p:ext uri="{BB962C8B-B14F-4D97-AF65-F5344CB8AC3E}">
        <p14:creationId xmlns:p14="http://schemas.microsoft.com/office/powerpoint/2010/main" val="17657752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549DB-B7BD-05EF-A6E0-46D434FBF0C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6906E549-EB85-1B37-4D77-4E87BFEA8C0E}"/>
              </a:ext>
            </a:extLst>
          </p:cNvPr>
          <p:cNvSpPr>
            <a:spLocks noGrp="1"/>
          </p:cNvSpPr>
          <p:nvPr>
            <p:ph type="title"/>
          </p:nvPr>
        </p:nvSpPr>
        <p:spPr/>
        <p:txBody>
          <a:bodyPr/>
          <a:lstStyle/>
          <a:p>
            <a:br>
              <a:rPr lang="en-US" altLang="zh-TW" b="1" dirty="0">
                <a:latin typeface="Times New Roman" panose="02020603050405020304" pitchFamily="18" charset="0"/>
                <a:cs typeface="Times New Roman" panose="02020603050405020304" pitchFamily="18" charset="0"/>
              </a:rPr>
            </a:br>
            <a:endParaRPr kumimoji="1" lang="zh-TW" altLang="en-US" b="1"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8EF377D0-3F3B-9405-AB4B-1046218901A3}"/>
              </a:ext>
            </a:extLst>
          </p:cNvPr>
          <p:cNvSpPr txBox="1"/>
          <p:nvPr/>
        </p:nvSpPr>
        <p:spPr>
          <a:xfrm>
            <a:off x="678756" y="1482378"/>
            <a:ext cx="818349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sz="2800" dirty="0">
              <a:solidFill>
                <a:srgbClr val="404040"/>
              </a:solidFill>
              <a:latin typeface="Times New Roman"/>
              <a:ea typeface="Segoe UI"/>
              <a:cs typeface="Segoe UI"/>
            </a:endParaRPr>
          </a:p>
        </p:txBody>
      </p:sp>
      <p:sp>
        <p:nvSpPr>
          <p:cNvPr id="4" name="TextBox 3">
            <a:extLst>
              <a:ext uri="{FF2B5EF4-FFF2-40B4-BE49-F238E27FC236}">
                <a16:creationId xmlns:a16="http://schemas.microsoft.com/office/drawing/2014/main" id="{48BBFE24-7ED7-FB7C-1158-6C123572C39E}"/>
              </a:ext>
            </a:extLst>
          </p:cNvPr>
          <p:cNvSpPr txBox="1"/>
          <p:nvPr/>
        </p:nvSpPr>
        <p:spPr>
          <a:xfrm>
            <a:off x="678756" y="429472"/>
            <a:ext cx="6264151"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solidFill>
                  <a:schemeClr val="accent2"/>
                </a:solidFill>
                <a:latin typeface="Times New Roman"/>
              </a:rPr>
              <a:t>Running Random Forest Model</a:t>
            </a:r>
            <a:endParaRPr lang="en-US" sz="2800" b="1" dirty="0">
              <a:solidFill>
                <a:schemeClr val="accent2"/>
              </a:solidFill>
              <a:latin typeface="Times New Roman"/>
              <a:cs typeface="Times New Roman"/>
            </a:endParaRPr>
          </a:p>
        </p:txBody>
      </p:sp>
      <p:sp>
        <p:nvSpPr>
          <p:cNvPr id="16" name="TextBox 15">
            <a:extLst>
              <a:ext uri="{FF2B5EF4-FFF2-40B4-BE49-F238E27FC236}">
                <a16:creationId xmlns:a16="http://schemas.microsoft.com/office/drawing/2014/main" id="{14F8D609-4C15-DD6D-C5EE-17FDABCDA04E}"/>
              </a:ext>
            </a:extLst>
          </p:cNvPr>
          <p:cNvSpPr txBox="1"/>
          <p:nvPr/>
        </p:nvSpPr>
        <p:spPr>
          <a:xfrm>
            <a:off x="768403" y="3813202"/>
            <a:ext cx="7030890"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dirty="0">
                <a:ea typeface="+mn-lt"/>
                <a:cs typeface="+mn-lt"/>
              </a:rPr>
              <a:t>Random Forest improves majority-class recall (63% → 72%) and achieves a strong F1 of 0.83.</a:t>
            </a:r>
            <a:endParaRPr lang="en-US" dirty="0"/>
          </a:p>
          <a:p>
            <a:pPr>
              <a:buFont typeface="Arial"/>
              <a:buChar char="•"/>
            </a:pPr>
            <a:r>
              <a:rPr lang="en-US" dirty="0">
                <a:ea typeface="+mn-lt"/>
                <a:cs typeface="+mn-lt"/>
              </a:rPr>
              <a:t>Still struggles with the minority “No” class because of the severe imbalance.</a:t>
            </a:r>
          </a:p>
          <a:p>
            <a:pPr marL="228600" indent="-228600">
              <a:buFont typeface=""/>
              <a:buChar char="•"/>
            </a:pPr>
            <a:endParaRPr lang="en-US" dirty="0">
              <a:ea typeface="+mn-lt"/>
              <a:cs typeface="+mn-lt"/>
            </a:endParaRPr>
          </a:p>
        </p:txBody>
      </p:sp>
      <p:graphicFrame>
        <p:nvGraphicFramePr>
          <p:cNvPr id="6" name="Table 5">
            <a:extLst>
              <a:ext uri="{FF2B5EF4-FFF2-40B4-BE49-F238E27FC236}">
                <a16:creationId xmlns:a16="http://schemas.microsoft.com/office/drawing/2014/main" id="{72EF35F2-2060-7363-C3B7-823A85667E35}"/>
              </a:ext>
            </a:extLst>
          </p:cNvPr>
          <p:cNvGraphicFramePr>
            <a:graphicFrameLocks noGrp="1"/>
          </p:cNvGraphicFramePr>
          <p:nvPr>
            <p:extLst>
              <p:ext uri="{D42A27DB-BD31-4B8C-83A1-F6EECF244321}">
                <p14:modId xmlns:p14="http://schemas.microsoft.com/office/powerpoint/2010/main" val="3180746861"/>
              </p:ext>
            </p:extLst>
          </p:nvPr>
        </p:nvGraphicFramePr>
        <p:xfrm>
          <a:off x="770805" y="1200390"/>
          <a:ext cx="8191500" cy="2228850"/>
        </p:xfrm>
        <a:graphic>
          <a:graphicData uri="http://schemas.openxmlformats.org/drawingml/2006/table">
            <a:tbl>
              <a:tblPr bandRow="1">
                <a:tableStyleId>{3C2FFA5D-87B4-456A-9821-1D502468CF0F}</a:tableStyleId>
              </a:tblPr>
              <a:tblGrid>
                <a:gridCol w="1638300">
                  <a:extLst>
                    <a:ext uri="{9D8B030D-6E8A-4147-A177-3AD203B41FA5}">
                      <a16:colId xmlns:a16="http://schemas.microsoft.com/office/drawing/2014/main" val="929918575"/>
                    </a:ext>
                  </a:extLst>
                </a:gridCol>
                <a:gridCol w="1638300">
                  <a:extLst>
                    <a:ext uri="{9D8B030D-6E8A-4147-A177-3AD203B41FA5}">
                      <a16:colId xmlns:a16="http://schemas.microsoft.com/office/drawing/2014/main" val="819119858"/>
                    </a:ext>
                  </a:extLst>
                </a:gridCol>
                <a:gridCol w="1638300">
                  <a:extLst>
                    <a:ext uri="{9D8B030D-6E8A-4147-A177-3AD203B41FA5}">
                      <a16:colId xmlns:a16="http://schemas.microsoft.com/office/drawing/2014/main" val="3579301004"/>
                    </a:ext>
                  </a:extLst>
                </a:gridCol>
                <a:gridCol w="1638300">
                  <a:extLst>
                    <a:ext uri="{9D8B030D-6E8A-4147-A177-3AD203B41FA5}">
                      <a16:colId xmlns:a16="http://schemas.microsoft.com/office/drawing/2014/main" val="3053465693"/>
                    </a:ext>
                  </a:extLst>
                </a:gridCol>
                <a:gridCol w="1638300">
                  <a:extLst>
                    <a:ext uri="{9D8B030D-6E8A-4147-A177-3AD203B41FA5}">
                      <a16:colId xmlns:a16="http://schemas.microsoft.com/office/drawing/2014/main" val="4047924729"/>
                    </a:ext>
                  </a:extLst>
                </a:gridCol>
              </a:tblGrid>
              <a:tr h="371475">
                <a:tc>
                  <a:txBody>
                    <a:bodyPr/>
                    <a:lstStyle/>
                    <a:p>
                      <a:pPr fontAlgn="t">
                        <a:buNone/>
                      </a:pPr>
                      <a:endParaRPr lang="en-US">
                        <a:effectLst/>
                      </a:endParaRPr>
                    </a:p>
                  </a:txBody>
                  <a:tcPr/>
                </a:tc>
                <a:tc>
                  <a:txBody>
                    <a:bodyPr/>
                    <a:lstStyle/>
                    <a:p>
                      <a:pPr fontAlgn="base">
                        <a:lnSpc>
                          <a:spcPts val="2175"/>
                        </a:lnSpc>
                        <a:buNone/>
                      </a:pPr>
                      <a:r>
                        <a:rPr lang="en-US" sz="1800">
                          <a:solidFill>
                            <a:srgbClr val="FFFFFF"/>
                          </a:solidFill>
                          <a:effectLst/>
                        </a:rPr>
                        <a:t>Precision</a:t>
                      </a:r>
                      <a:endParaRPr lang="en-US">
                        <a:solidFill>
                          <a:srgbClr val="FFFFFF"/>
                        </a:solidFill>
                        <a:effectLst/>
                      </a:endParaRPr>
                    </a:p>
                  </a:txBody>
                  <a:tcPr/>
                </a:tc>
                <a:tc>
                  <a:txBody>
                    <a:bodyPr/>
                    <a:lstStyle/>
                    <a:p>
                      <a:pPr fontAlgn="base">
                        <a:lnSpc>
                          <a:spcPts val="2175"/>
                        </a:lnSpc>
                        <a:buNone/>
                      </a:pPr>
                      <a:r>
                        <a:rPr lang="en-US" sz="1800">
                          <a:solidFill>
                            <a:srgbClr val="FFFFFF"/>
                          </a:solidFill>
                          <a:effectLst/>
                        </a:rPr>
                        <a:t>Recall</a:t>
                      </a:r>
                      <a:endParaRPr lang="en-US">
                        <a:solidFill>
                          <a:srgbClr val="FFFFFF"/>
                        </a:solidFill>
                        <a:effectLst/>
                      </a:endParaRPr>
                    </a:p>
                  </a:txBody>
                  <a:tcPr/>
                </a:tc>
                <a:tc>
                  <a:txBody>
                    <a:bodyPr/>
                    <a:lstStyle/>
                    <a:p>
                      <a:pPr fontAlgn="base">
                        <a:lnSpc>
                          <a:spcPts val="2175"/>
                        </a:lnSpc>
                        <a:buNone/>
                      </a:pPr>
                      <a:r>
                        <a:rPr lang="en-US" sz="1800">
                          <a:solidFill>
                            <a:srgbClr val="FFFFFF"/>
                          </a:solidFill>
                          <a:effectLst/>
                        </a:rPr>
                        <a:t>F1-Score</a:t>
                      </a:r>
                      <a:endParaRPr lang="en-US">
                        <a:solidFill>
                          <a:srgbClr val="FFFFFF"/>
                        </a:solidFill>
                        <a:effectLst/>
                      </a:endParaRPr>
                    </a:p>
                  </a:txBody>
                  <a:tcPr/>
                </a:tc>
                <a:tc>
                  <a:txBody>
                    <a:bodyPr/>
                    <a:lstStyle/>
                    <a:p>
                      <a:pPr fontAlgn="base">
                        <a:lnSpc>
                          <a:spcPts val="2175"/>
                        </a:lnSpc>
                        <a:buNone/>
                      </a:pPr>
                      <a:r>
                        <a:rPr lang="en-US" sz="1800" dirty="0">
                          <a:solidFill>
                            <a:srgbClr val="FFFFFF"/>
                          </a:solidFill>
                          <a:effectLst/>
                        </a:rPr>
                        <a:t>Support</a:t>
                      </a:r>
                      <a:endParaRPr lang="en-US">
                        <a:solidFill>
                          <a:srgbClr val="FFFFFF"/>
                        </a:solidFill>
                        <a:effectLst/>
                      </a:endParaRPr>
                    </a:p>
                  </a:txBody>
                  <a:tcPr/>
                </a:tc>
                <a:extLst>
                  <a:ext uri="{0D108BD9-81ED-4DB2-BD59-A6C34878D82A}">
                    <a16:rowId xmlns:a16="http://schemas.microsoft.com/office/drawing/2014/main" val="1499898622"/>
                  </a:ext>
                </a:extLst>
              </a:tr>
              <a:tr h="371475">
                <a:tc>
                  <a:txBody>
                    <a:bodyPr/>
                    <a:lstStyle/>
                    <a:p>
                      <a:pPr fontAlgn="base">
                        <a:lnSpc>
                          <a:spcPts val="2175"/>
                        </a:lnSpc>
                        <a:buNone/>
                      </a:pPr>
                      <a:r>
                        <a:rPr lang="en-US" sz="1800">
                          <a:effectLst/>
                        </a:rPr>
                        <a:t>0.0</a:t>
                      </a:r>
                      <a:endParaRPr lang="en-US">
                        <a:effectLst/>
                      </a:endParaRPr>
                    </a:p>
                  </a:txBody>
                  <a:tcPr/>
                </a:tc>
                <a:tc>
                  <a:txBody>
                    <a:bodyPr/>
                    <a:lstStyle/>
                    <a:p>
                      <a:pPr fontAlgn="base">
                        <a:lnSpc>
                          <a:spcPts val="2175"/>
                        </a:lnSpc>
                        <a:buNone/>
                      </a:pPr>
                      <a:r>
                        <a:rPr lang="en-US" sz="1800">
                          <a:effectLst/>
                        </a:rPr>
                        <a:t>0.04</a:t>
                      </a:r>
                      <a:endParaRPr lang="en-US">
                        <a:effectLst/>
                      </a:endParaRPr>
                    </a:p>
                  </a:txBody>
                  <a:tcPr/>
                </a:tc>
                <a:tc>
                  <a:txBody>
                    <a:bodyPr/>
                    <a:lstStyle/>
                    <a:p>
                      <a:pPr fontAlgn="base">
                        <a:lnSpc>
                          <a:spcPts val="2175"/>
                        </a:lnSpc>
                        <a:buNone/>
                      </a:pPr>
                      <a:r>
                        <a:rPr lang="en-US" sz="1800">
                          <a:effectLst/>
                        </a:rPr>
                        <a:t>0.57</a:t>
                      </a:r>
                      <a:endParaRPr lang="en-US">
                        <a:effectLst/>
                      </a:endParaRPr>
                    </a:p>
                  </a:txBody>
                  <a:tcPr/>
                </a:tc>
                <a:tc>
                  <a:txBody>
                    <a:bodyPr/>
                    <a:lstStyle/>
                    <a:p>
                      <a:pPr fontAlgn="base">
                        <a:lnSpc>
                          <a:spcPts val="2175"/>
                        </a:lnSpc>
                        <a:buNone/>
                      </a:pPr>
                      <a:r>
                        <a:rPr lang="en-US" sz="1800">
                          <a:effectLst/>
                        </a:rPr>
                        <a:t>0.07</a:t>
                      </a:r>
                      <a:endParaRPr lang="en-US">
                        <a:effectLst/>
                      </a:endParaRPr>
                    </a:p>
                  </a:txBody>
                  <a:tcPr/>
                </a:tc>
                <a:tc>
                  <a:txBody>
                    <a:bodyPr/>
                    <a:lstStyle/>
                    <a:p>
                      <a:pPr fontAlgn="base">
                        <a:lnSpc>
                          <a:spcPts val="2175"/>
                        </a:lnSpc>
                        <a:buNone/>
                      </a:pPr>
                      <a:r>
                        <a:rPr lang="en-US" sz="1800">
                          <a:effectLst/>
                        </a:rPr>
                        <a:t>881</a:t>
                      </a:r>
                      <a:endParaRPr lang="en-US">
                        <a:effectLst/>
                      </a:endParaRPr>
                    </a:p>
                  </a:txBody>
                  <a:tcPr/>
                </a:tc>
                <a:extLst>
                  <a:ext uri="{0D108BD9-81ED-4DB2-BD59-A6C34878D82A}">
                    <a16:rowId xmlns:a16="http://schemas.microsoft.com/office/drawing/2014/main" val="2278366957"/>
                  </a:ext>
                </a:extLst>
              </a:tr>
              <a:tr h="371475">
                <a:tc>
                  <a:txBody>
                    <a:bodyPr/>
                    <a:lstStyle/>
                    <a:p>
                      <a:pPr fontAlgn="base">
                        <a:lnSpc>
                          <a:spcPts val="2175"/>
                        </a:lnSpc>
                        <a:buNone/>
                      </a:pPr>
                      <a:r>
                        <a:rPr lang="en-US" sz="1800">
                          <a:effectLst/>
                        </a:rPr>
                        <a:t>1.0</a:t>
                      </a:r>
                      <a:endParaRPr lang="en-US">
                        <a:effectLst/>
                      </a:endParaRPr>
                    </a:p>
                  </a:txBody>
                  <a:tcPr/>
                </a:tc>
                <a:tc>
                  <a:txBody>
                    <a:bodyPr/>
                    <a:lstStyle/>
                    <a:p>
                      <a:pPr fontAlgn="base">
                        <a:lnSpc>
                          <a:spcPts val="2175"/>
                        </a:lnSpc>
                        <a:buNone/>
                      </a:pPr>
                      <a:r>
                        <a:rPr lang="en-US" sz="1800">
                          <a:effectLst/>
                        </a:rPr>
                        <a:t>0.99</a:t>
                      </a:r>
                      <a:endParaRPr lang="en-US">
                        <a:effectLst/>
                      </a:endParaRPr>
                    </a:p>
                  </a:txBody>
                  <a:tcPr/>
                </a:tc>
                <a:tc>
                  <a:txBody>
                    <a:bodyPr/>
                    <a:lstStyle/>
                    <a:p>
                      <a:pPr fontAlgn="base">
                        <a:lnSpc>
                          <a:spcPts val="2175"/>
                        </a:lnSpc>
                        <a:buNone/>
                      </a:pPr>
                      <a:r>
                        <a:rPr lang="en-US" sz="1800">
                          <a:effectLst/>
                        </a:rPr>
                        <a:t>0.72</a:t>
                      </a:r>
                      <a:endParaRPr lang="en-US">
                        <a:effectLst/>
                      </a:endParaRPr>
                    </a:p>
                  </a:txBody>
                  <a:tcPr/>
                </a:tc>
                <a:tc>
                  <a:txBody>
                    <a:bodyPr/>
                    <a:lstStyle/>
                    <a:p>
                      <a:pPr fontAlgn="base">
                        <a:lnSpc>
                          <a:spcPts val="2175"/>
                        </a:lnSpc>
                        <a:buNone/>
                      </a:pPr>
                      <a:r>
                        <a:rPr lang="en-US" sz="1800">
                          <a:effectLst/>
                        </a:rPr>
                        <a:t>0.83</a:t>
                      </a:r>
                      <a:endParaRPr lang="en-US">
                        <a:effectLst/>
                      </a:endParaRPr>
                    </a:p>
                  </a:txBody>
                  <a:tcPr/>
                </a:tc>
                <a:tc>
                  <a:txBody>
                    <a:bodyPr/>
                    <a:lstStyle/>
                    <a:p>
                      <a:pPr fontAlgn="base">
                        <a:lnSpc>
                          <a:spcPts val="2175"/>
                        </a:lnSpc>
                        <a:buNone/>
                      </a:pPr>
                      <a:r>
                        <a:rPr lang="en-US" sz="1800">
                          <a:effectLst/>
                        </a:rPr>
                        <a:t>44414</a:t>
                      </a:r>
                      <a:endParaRPr lang="en-US">
                        <a:effectLst/>
                      </a:endParaRPr>
                    </a:p>
                  </a:txBody>
                  <a:tcPr/>
                </a:tc>
                <a:extLst>
                  <a:ext uri="{0D108BD9-81ED-4DB2-BD59-A6C34878D82A}">
                    <a16:rowId xmlns:a16="http://schemas.microsoft.com/office/drawing/2014/main" val="2113180401"/>
                  </a:ext>
                </a:extLst>
              </a:tr>
              <a:tr h="371475">
                <a:tc>
                  <a:txBody>
                    <a:bodyPr/>
                    <a:lstStyle/>
                    <a:p>
                      <a:pPr fontAlgn="base">
                        <a:lnSpc>
                          <a:spcPts val="2175"/>
                        </a:lnSpc>
                        <a:buNone/>
                      </a:pPr>
                      <a:r>
                        <a:rPr lang="en-US" sz="1800">
                          <a:effectLst/>
                        </a:rPr>
                        <a:t>Accuracy</a:t>
                      </a:r>
                      <a:endParaRPr lang="en-US">
                        <a:effectLst/>
                      </a:endParaRPr>
                    </a:p>
                  </a:txBody>
                  <a:tcPr/>
                </a:tc>
                <a:tc>
                  <a:txBody>
                    <a:bodyPr/>
                    <a:lstStyle/>
                    <a:p>
                      <a:pPr fontAlgn="t">
                        <a:buNone/>
                      </a:pPr>
                      <a:endParaRPr lang="en-US">
                        <a:effectLst/>
                      </a:endParaRPr>
                    </a:p>
                  </a:txBody>
                  <a:tcPr/>
                </a:tc>
                <a:tc>
                  <a:txBody>
                    <a:bodyPr/>
                    <a:lstStyle/>
                    <a:p>
                      <a:pPr fontAlgn="t">
                        <a:buNone/>
                      </a:pPr>
                      <a:endParaRPr lang="en-US">
                        <a:effectLst/>
                      </a:endParaRPr>
                    </a:p>
                  </a:txBody>
                  <a:tcPr/>
                </a:tc>
                <a:tc>
                  <a:txBody>
                    <a:bodyPr/>
                    <a:lstStyle/>
                    <a:p>
                      <a:pPr fontAlgn="base">
                        <a:lnSpc>
                          <a:spcPts val="2175"/>
                        </a:lnSpc>
                        <a:buNone/>
                      </a:pPr>
                      <a:r>
                        <a:rPr lang="en-US" sz="1800">
                          <a:effectLst/>
                        </a:rPr>
                        <a:t>0.72</a:t>
                      </a:r>
                      <a:endParaRPr lang="en-US">
                        <a:effectLst/>
                      </a:endParaRPr>
                    </a:p>
                  </a:txBody>
                  <a:tcPr/>
                </a:tc>
                <a:tc>
                  <a:txBody>
                    <a:bodyPr/>
                    <a:lstStyle/>
                    <a:p>
                      <a:pPr fontAlgn="base">
                        <a:lnSpc>
                          <a:spcPts val="2175"/>
                        </a:lnSpc>
                        <a:buNone/>
                      </a:pPr>
                      <a:r>
                        <a:rPr lang="en-US" sz="1800">
                          <a:effectLst/>
                        </a:rPr>
                        <a:t>45295</a:t>
                      </a:r>
                      <a:endParaRPr lang="en-US">
                        <a:effectLst/>
                      </a:endParaRPr>
                    </a:p>
                  </a:txBody>
                  <a:tcPr/>
                </a:tc>
                <a:extLst>
                  <a:ext uri="{0D108BD9-81ED-4DB2-BD59-A6C34878D82A}">
                    <a16:rowId xmlns:a16="http://schemas.microsoft.com/office/drawing/2014/main" val="3238274812"/>
                  </a:ext>
                </a:extLst>
              </a:tr>
              <a:tr h="371475">
                <a:tc>
                  <a:txBody>
                    <a:bodyPr/>
                    <a:lstStyle/>
                    <a:p>
                      <a:pPr fontAlgn="base">
                        <a:lnSpc>
                          <a:spcPts val="2175"/>
                        </a:lnSpc>
                        <a:buNone/>
                      </a:pPr>
                      <a:r>
                        <a:rPr lang="en-US" sz="1800">
                          <a:effectLst/>
                        </a:rPr>
                        <a:t>Macro Avg</a:t>
                      </a:r>
                      <a:endParaRPr lang="en-US">
                        <a:effectLst/>
                      </a:endParaRPr>
                    </a:p>
                  </a:txBody>
                  <a:tcPr/>
                </a:tc>
                <a:tc>
                  <a:txBody>
                    <a:bodyPr/>
                    <a:lstStyle/>
                    <a:p>
                      <a:pPr fontAlgn="base">
                        <a:lnSpc>
                          <a:spcPts val="2175"/>
                        </a:lnSpc>
                        <a:buNone/>
                      </a:pPr>
                      <a:r>
                        <a:rPr lang="en-US" sz="1800">
                          <a:effectLst/>
                        </a:rPr>
                        <a:t>0.51</a:t>
                      </a:r>
                      <a:endParaRPr lang="en-US">
                        <a:effectLst/>
                      </a:endParaRPr>
                    </a:p>
                  </a:txBody>
                  <a:tcPr/>
                </a:tc>
                <a:tc>
                  <a:txBody>
                    <a:bodyPr/>
                    <a:lstStyle/>
                    <a:p>
                      <a:pPr fontAlgn="base">
                        <a:lnSpc>
                          <a:spcPts val="2175"/>
                        </a:lnSpc>
                        <a:buNone/>
                      </a:pPr>
                      <a:r>
                        <a:rPr lang="en-US" sz="1800">
                          <a:effectLst/>
                        </a:rPr>
                        <a:t>0.65</a:t>
                      </a:r>
                      <a:endParaRPr lang="en-US">
                        <a:effectLst/>
                      </a:endParaRPr>
                    </a:p>
                  </a:txBody>
                  <a:tcPr/>
                </a:tc>
                <a:tc>
                  <a:txBody>
                    <a:bodyPr/>
                    <a:lstStyle/>
                    <a:p>
                      <a:pPr fontAlgn="base">
                        <a:lnSpc>
                          <a:spcPts val="2175"/>
                        </a:lnSpc>
                        <a:buNone/>
                      </a:pPr>
                      <a:r>
                        <a:rPr lang="en-US" sz="1800">
                          <a:effectLst/>
                        </a:rPr>
                        <a:t>0.45</a:t>
                      </a:r>
                      <a:endParaRPr lang="en-US">
                        <a:effectLst/>
                      </a:endParaRPr>
                    </a:p>
                  </a:txBody>
                  <a:tcPr/>
                </a:tc>
                <a:tc>
                  <a:txBody>
                    <a:bodyPr/>
                    <a:lstStyle/>
                    <a:p>
                      <a:pPr fontAlgn="base">
                        <a:lnSpc>
                          <a:spcPts val="2175"/>
                        </a:lnSpc>
                        <a:buNone/>
                      </a:pPr>
                      <a:r>
                        <a:rPr lang="en-US" sz="1800">
                          <a:effectLst/>
                        </a:rPr>
                        <a:t>45295</a:t>
                      </a:r>
                      <a:endParaRPr lang="en-US">
                        <a:effectLst/>
                      </a:endParaRPr>
                    </a:p>
                  </a:txBody>
                  <a:tcPr/>
                </a:tc>
                <a:extLst>
                  <a:ext uri="{0D108BD9-81ED-4DB2-BD59-A6C34878D82A}">
                    <a16:rowId xmlns:a16="http://schemas.microsoft.com/office/drawing/2014/main" val="1655277067"/>
                  </a:ext>
                </a:extLst>
              </a:tr>
              <a:tr h="371475">
                <a:tc>
                  <a:txBody>
                    <a:bodyPr/>
                    <a:lstStyle/>
                    <a:p>
                      <a:pPr fontAlgn="base">
                        <a:lnSpc>
                          <a:spcPts val="2175"/>
                        </a:lnSpc>
                        <a:buNone/>
                      </a:pPr>
                      <a:r>
                        <a:rPr lang="en-US" sz="1800">
                          <a:effectLst/>
                        </a:rPr>
                        <a:t>Weighted Avg</a:t>
                      </a:r>
                      <a:endParaRPr lang="en-US">
                        <a:effectLst/>
                      </a:endParaRPr>
                    </a:p>
                  </a:txBody>
                  <a:tcPr/>
                </a:tc>
                <a:tc>
                  <a:txBody>
                    <a:bodyPr/>
                    <a:lstStyle/>
                    <a:p>
                      <a:pPr fontAlgn="base">
                        <a:lnSpc>
                          <a:spcPts val="2175"/>
                        </a:lnSpc>
                        <a:buNone/>
                      </a:pPr>
                      <a:r>
                        <a:rPr lang="en-US" sz="1800">
                          <a:effectLst/>
                        </a:rPr>
                        <a:t>0.97</a:t>
                      </a:r>
                      <a:endParaRPr lang="en-US">
                        <a:effectLst/>
                      </a:endParaRPr>
                    </a:p>
                  </a:txBody>
                  <a:tcPr/>
                </a:tc>
                <a:tc>
                  <a:txBody>
                    <a:bodyPr/>
                    <a:lstStyle/>
                    <a:p>
                      <a:pPr fontAlgn="base">
                        <a:lnSpc>
                          <a:spcPts val="2175"/>
                        </a:lnSpc>
                        <a:buNone/>
                      </a:pPr>
                      <a:r>
                        <a:rPr lang="en-US" sz="1800">
                          <a:effectLst/>
                        </a:rPr>
                        <a:t>0.72</a:t>
                      </a:r>
                      <a:endParaRPr lang="en-US">
                        <a:effectLst/>
                      </a:endParaRPr>
                    </a:p>
                  </a:txBody>
                  <a:tcPr/>
                </a:tc>
                <a:tc>
                  <a:txBody>
                    <a:bodyPr/>
                    <a:lstStyle/>
                    <a:p>
                      <a:pPr fontAlgn="base">
                        <a:lnSpc>
                          <a:spcPts val="2175"/>
                        </a:lnSpc>
                        <a:buNone/>
                      </a:pPr>
                      <a:r>
                        <a:rPr lang="en-US" sz="1800">
                          <a:effectLst/>
                        </a:rPr>
                        <a:t>0.82</a:t>
                      </a:r>
                      <a:endParaRPr lang="en-US">
                        <a:effectLst/>
                      </a:endParaRPr>
                    </a:p>
                  </a:txBody>
                  <a:tcPr/>
                </a:tc>
                <a:tc>
                  <a:txBody>
                    <a:bodyPr/>
                    <a:lstStyle/>
                    <a:p>
                      <a:pPr fontAlgn="base">
                        <a:lnSpc>
                          <a:spcPts val="2175"/>
                        </a:lnSpc>
                        <a:buNone/>
                      </a:pPr>
                      <a:r>
                        <a:rPr lang="en-US" sz="1800">
                          <a:effectLst/>
                        </a:rPr>
                        <a:t>45295</a:t>
                      </a:r>
                      <a:endParaRPr lang="en-US">
                        <a:effectLst/>
                      </a:endParaRPr>
                    </a:p>
                  </a:txBody>
                  <a:tcPr/>
                </a:tc>
                <a:extLst>
                  <a:ext uri="{0D108BD9-81ED-4DB2-BD59-A6C34878D82A}">
                    <a16:rowId xmlns:a16="http://schemas.microsoft.com/office/drawing/2014/main" val="3631959503"/>
                  </a:ext>
                </a:extLst>
              </a:tr>
            </a:tbl>
          </a:graphicData>
        </a:graphic>
      </p:graphicFrame>
    </p:spTree>
    <p:extLst>
      <p:ext uri="{BB962C8B-B14F-4D97-AF65-F5344CB8AC3E}">
        <p14:creationId xmlns:p14="http://schemas.microsoft.com/office/powerpoint/2010/main" val="4006551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C606E-C98A-C321-6C7B-7543BA79540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8E8BD04-0923-E7E0-99E1-208BF04A2988}"/>
              </a:ext>
            </a:extLst>
          </p:cNvPr>
          <p:cNvSpPr>
            <a:spLocks noGrp="1"/>
          </p:cNvSpPr>
          <p:nvPr>
            <p:ph type="title"/>
          </p:nvPr>
        </p:nvSpPr>
        <p:spPr/>
        <p:txBody>
          <a:bodyPr/>
          <a:lstStyle/>
          <a:p>
            <a:br>
              <a:rPr lang="en-US" altLang="zh-TW" b="1" dirty="0">
                <a:latin typeface="Times New Roman" panose="02020603050405020304" pitchFamily="18" charset="0"/>
                <a:cs typeface="Times New Roman" panose="02020603050405020304" pitchFamily="18" charset="0"/>
              </a:rPr>
            </a:br>
            <a:endParaRPr kumimoji="1" lang="zh-TW" altLang="en-US" b="1"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20DD0D26-F8EA-7202-1FD1-DD50654737B4}"/>
              </a:ext>
            </a:extLst>
          </p:cNvPr>
          <p:cNvSpPr txBox="1"/>
          <p:nvPr/>
        </p:nvSpPr>
        <p:spPr>
          <a:xfrm>
            <a:off x="678756" y="1482378"/>
            <a:ext cx="818349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sz="2800" dirty="0">
              <a:solidFill>
                <a:srgbClr val="404040"/>
              </a:solidFill>
              <a:latin typeface="Times New Roman"/>
              <a:ea typeface="Segoe UI"/>
              <a:cs typeface="Segoe UI"/>
            </a:endParaRPr>
          </a:p>
        </p:txBody>
      </p:sp>
      <p:sp>
        <p:nvSpPr>
          <p:cNvPr id="4" name="TextBox 3">
            <a:extLst>
              <a:ext uri="{FF2B5EF4-FFF2-40B4-BE49-F238E27FC236}">
                <a16:creationId xmlns:a16="http://schemas.microsoft.com/office/drawing/2014/main" id="{54B3224B-35BD-0CE4-3945-661436AC5A2F}"/>
              </a:ext>
            </a:extLst>
          </p:cNvPr>
          <p:cNvSpPr txBox="1"/>
          <p:nvPr/>
        </p:nvSpPr>
        <p:spPr>
          <a:xfrm>
            <a:off x="678756" y="429472"/>
            <a:ext cx="6264151"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solidFill>
                  <a:schemeClr val="accent2"/>
                </a:solidFill>
                <a:latin typeface="Times New Roman"/>
              </a:rPr>
              <a:t>Conclusion for Q2</a:t>
            </a:r>
            <a:endParaRPr lang="en-US" sz="2800" b="1" dirty="0">
              <a:solidFill>
                <a:schemeClr val="accent2"/>
              </a:solidFill>
              <a:latin typeface="Times New Roman"/>
              <a:cs typeface="Times New Roman"/>
            </a:endParaRPr>
          </a:p>
        </p:txBody>
      </p:sp>
      <p:sp>
        <p:nvSpPr>
          <p:cNvPr id="16" name="TextBox 15">
            <a:extLst>
              <a:ext uri="{FF2B5EF4-FFF2-40B4-BE49-F238E27FC236}">
                <a16:creationId xmlns:a16="http://schemas.microsoft.com/office/drawing/2014/main" id="{D885254D-8581-C82B-F5AA-EBEFBBC93372}"/>
              </a:ext>
            </a:extLst>
          </p:cNvPr>
          <p:cNvSpPr txBox="1"/>
          <p:nvPr/>
        </p:nvSpPr>
        <p:spPr>
          <a:xfrm>
            <a:off x="798169" y="1128342"/>
            <a:ext cx="8876359" cy="424731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Font typeface="Arial"/>
              <a:buChar char="•"/>
            </a:pPr>
            <a:r>
              <a:rPr lang="en-US" dirty="0">
                <a:ea typeface="+mn-lt"/>
                <a:cs typeface="+mn-lt"/>
              </a:rPr>
              <a:t>  Across both Logistic Regression and Random Forest, the predictive performance for mental health diagnosis was limited due to the </a:t>
            </a:r>
            <a:r>
              <a:rPr lang="en-US" b="1" dirty="0">
                <a:ea typeface="+mn-lt"/>
                <a:cs typeface="+mn-lt"/>
              </a:rPr>
              <a:t>extreme class imbalance</a:t>
            </a:r>
            <a:r>
              <a:rPr lang="en-US" dirty="0">
                <a:ea typeface="+mn-lt"/>
                <a:cs typeface="+mn-lt"/>
              </a:rPr>
              <a:t> in the dataset (≈98% “Yes” vs. 2% “No”). Logistic Regression struggled to identify the minority class even with class weighting, producing very low precision and unstable recall. Random Forest improved performance for the majority class and captured more nonlinear relationships, but it </a:t>
            </a:r>
            <a:r>
              <a:rPr lang="en-US" b="1" dirty="0">
                <a:ea typeface="+mn-lt"/>
                <a:cs typeface="+mn-lt"/>
              </a:rPr>
              <a:t>still failed to reliably detect the few “No” cases</a:t>
            </a:r>
            <a:r>
              <a:rPr lang="en-US" dirty="0">
                <a:ea typeface="+mn-lt"/>
                <a:cs typeface="+mn-lt"/>
              </a:rPr>
              <a:t>.</a:t>
            </a:r>
          </a:p>
          <a:p>
            <a:pPr>
              <a:buFont typeface="Arial"/>
              <a:buChar char="•"/>
            </a:pPr>
            <a:endParaRPr lang="en-US" dirty="0">
              <a:ea typeface="+mn-lt"/>
              <a:cs typeface="+mn-lt"/>
            </a:endParaRPr>
          </a:p>
          <a:p>
            <a:pPr>
              <a:buFont typeface="Arial"/>
              <a:buChar char="•"/>
            </a:pPr>
            <a:r>
              <a:rPr lang="en-US" dirty="0">
                <a:ea typeface="+mn-lt"/>
                <a:cs typeface="+mn-lt"/>
              </a:rPr>
              <a:t>  Overall, the modeling results indicate that the current set of socioeconomic predictors has </a:t>
            </a:r>
            <a:r>
              <a:rPr lang="en-US" b="1" dirty="0">
                <a:ea typeface="+mn-lt"/>
                <a:cs typeface="+mn-lt"/>
              </a:rPr>
              <a:t>weak standalone predictive power</a:t>
            </a:r>
            <a:r>
              <a:rPr lang="en-US" dirty="0">
                <a:ea typeface="+mn-lt"/>
                <a:cs typeface="+mn-lt"/>
              </a:rPr>
              <a:t> for distinguishing mental health diagnosis outcomes. More balanced data or the inclusion of additional behavioral, clinical, or contextual features would likely be necessary to build a model capable of meaningful minority-class prediction.</a:t>
            </a:r>
            <a:endParaRPr lang="en-US" dirty="0"/>
          </a:p>
          <a:p>
            <a:pPr>
              <a:buFont typeface="Arial"/>
              <a:buChar char="•"/>
            </a:pPr>
            <a:endParaRPr lang="en-US" dirty="0">
              <a:ea typeface="+mn-lt"/>
              <a:cs typeface="+mn-lt"/>
            </a:endParaRPr>
          </a:p>
          <a:p>
            <a:pPr marL="228600" indent="-228600">
              <a:buFont typeface=""/>
              <a:buChar char="•"/>
            </a:pPr>
            <a:endParaRPr lang="en-US" dirty="0">
              <a:ea typeface="+mn-lt"/>
              <a:cs typeface="+mn-lt"/>
            </a:endParaRPr>
          </a:p>
        </p:txBody>
      </p:sp>
    </p:spTree>
    <p:extLst>
      <p:ext uri="{BB962C8B-B14F-4D97-AF65-F5344CB8AC3E}">
        <p14:creationId xmlns:p14="http://schemas.microsoft.com/office/powerpoint/2010/main" val="23149876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C60669-C47B-CB10-3FF9-03E3FC00E2A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589DB35-23E6-6A55-8D66-90AB7C06F166}"/>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Smart Question 3</a:t>
            </a:r>
            <a:br>
              <a:rPr kumimoji="1" lang="en-US" altLang="zh-TW" b="1" dirty="0">
                <a:latin typeface="Times New Roman" panose="02020603050405020304" pitchFamily="18" charset="0"/>
                <a:cs typeface="Times New Roman" panose="02020603050405020304" pitchFamily="18" charset="0"/>
              </a:rPr>
            </a:br>
            <a:endParaRPr kumimoji="1" lang="zh-TW" altLang="en-US" b="1" dirty="0">
              <a:latin typeface="Times New Roman" panose="02020603050405020304" pitchFamily="18" charset="0"/>
              <a:cs typeface="Times New Roman" panose="02020603050405020304" pitchFamily="18" charset="0"/>
            </a:endParaRPr>
          </a:p>
        </p:txBody>
      </p:sp>
      <p:sp>
        <p:nvSpPr>
          <p:cNvPr id="3" name="內容版面配置區 2">
            <a:extLst>
              <a:ext uri="{FF2B5EF4-FFF2-40B4-BE49-F238E27FC236}">
                <a16:creationId xmlns:a16="http://schemas.microsoft.com/office/drawing/2014/main" id="{FEDC3A38-28DE-0E20-B548-F87A7A94D5E4}"/>
              </a:ext>
            </a:extLst>
          </p:cNvPr>
          <p:cNvSpPr>
            <a:spLocks noGrp="1"/>
          </p:cNvSpPr>
          <p:nvPr>
            <p:ph idx="1"/>
          </p:nvPr>
        </p:nvSpPr>
        <p:spPr>
          <a:xfrm>
            <a:off x="677334" y="1930400"/>
            <a:ext cx="7968826" cy="3880773"/>
          </a:xfrm>
        </p:spPr>
        <p:txBody>
          <a:bodyPr>
            <a:normAutofit/>
          </a:bodyPr>
          <a:lstStyle/>
          <a:p>
            <a:pPr marL="0" indent="0">
              <a:buNone/>
            </a:pPr>
            <a:r>
              <a:rPr lang="en" altLang="zh-TW" sz="2800" dirty="0">
                <a:latin typeface="Times New Roman" panose="02020603050405020304" pitchFamily="18" charset="0"/>
                <a:cs typeface="Times New Roman" panose="02020603050405020304" pitchFamily="18" charset="0"/>
              </a:rPr>
              <a:t>How effectively can employment and related socioeconomic variables predict an individual’s living situation category in New York State using PCS 2019?</a:t>
            </a:r>
          </a:p>
          <a:p>
            <a:pPr marL="0" indent="0">
              <a:buNone/>
            </a:pPr>
            <a:endParaRPr kumimoji="1" lang="en-US" altLang="zh-TW"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918501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E5E5E-07B2-D377-D854-81E9DF0E7B8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651FA20D-D7F1-50C5-8DC1-5FAFA1B36B3E}"/>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Variables Description</a:t>
            </a:r>
            <a:endParaRPr kumimoji="1" lang="zh-TW" altLang="en-US" b="1" dirty="0">
              <a:latin typeface="Times New Roman" panose="02020603050405020304" pitchFamily="18" charset="0"/>
              <a:cs typeface="Times New Roman" panose="02020603050405020304" pitchFamily="18" charset="0"/>
            </a:endParaRPr>
          </a:p>
        </p:txBody>
      </p:sp>
      <p:sp>
        <p:nvSpPr>
          <p:cNvPr id="3" name="內容版面配置區 2">
            <a:extLst>
              <a:ext uri="{FF2B5EF4-FFF2-40B4-BE49-F238E27FC236}">
                <a16:creationId xmlns:a16="http://schemas.microsoft.com/office/drawing/2014/main" id="{8EA18CA6-AF8F-CCA2-0BD8-5B3B34C643D3}"/>
              </a:ext>
            </a:extLst>
          </p:cNvPr>
          <p:cNvSpPr>
            <a:spLocks noGrp="1"/>
          </p:cNvSpPr>
          <p:nvPr>
            <p:ph idx="1"/>
          </p:nvPr>
        </p:nvSpPr>
        <p:spPr>
          <a:xfrm>
            <a:off x="1419399" y="1595120"/>
            <a:ext cx="999066" cy="335280"/>
          </a:xfrm>
        </p:spPr>
        <p:txBody>
          <a:bodyPr>
            <a:normAutofit fontScale="92500" lnSpcReduction="10000"/>
          </a:bodyPr>
          <a:lstStyle/>
          <a:p>
            <a:pPr marL="0" indent="0" algn="ctr">
              <a:buNone/>
            </a:pPr>
            <a:r>
              <a:rPr kumimoji="1" lang="en-US" altLang="zh-TW" dirty="0">
                <a:latin typeface="Times New Roman" panose="02020603050405020304" pitchFamily="18" charset="0"/>
                <a:cs typeface="Times New Roman" panose="02020603050405020304" pitchFamily="18" charset="0"/>
              </a:rPr>
              <a:t>Y</a:t>
            </a:r>
          </a:p>
        </p:txBody>
      </p:sp>
      <p:pic>
        <p:nvPicPr>
          <p:cNvPr id="6" name="圖片 5">
            <a:extLst>
              <a:ext uri="{FF2B5EF4-FFF2-40B4-BE49-F238E27FC236}">
                <a16:creationId xmlns:a16="http://schemas.microsoft.com/office/drawing/2014/main" id="{22AF84E7-EFBA-4B16-45AA-A50BE317BE4E}"/>
              </a:ext>
            </a:extLst>
          </p:cNvPr>
          <p:cNvPicPr>
            <a:picLocks noChangeAspect="1"/>
          </p:cNvPicPr>
          <p:nvPr/>
        </p:nvPicPr>
        <p:blipFill>
          <a:blip r:embed="rId2"/>
          <a:stretch>
            <a:fillRect/>
          </a:stretch>
        </p:blipFill>
        <p:spPr>
          <a:xfrm>
            <a:off x="586279" y="1972363"/>
            <a:ext cx="2665306" cy="943557"/>
          </a:xfrm>
          <a:prstGeom prst="rect">
            <a:avLst/>
          </a:prstGeom>
        </p:spPr>
      </p:pic>
      <p:sp>
        <p:nvSpPr>
          <p:cNvPr id="7" name="內容版面配置區 2">
            <a:extLst>
              <a:ext uri="{FF2B5EF4-FFF2-40B4-BE49-F238E27FC236}">
                <a16:creationId xmlns:a16="http://schemas.microsoft.com/office/drawing/2014/main" id="{D74894E3-5B07-678F-8B1A-37B2A888AC22}"/>
              </a:ext>
            </a:extLst>
          </p:cNvPr>
          <p:cNvSpPr txBox="1">
            <a:spLocks/>
          </p:cNvSpPr>
          <p:nvPr/>
        </p:nvSpPr>
        <p:spPr>
          <a:xfrm>
            <a:off x="6572212" y="1595120"/>
            <a:ext cx="999066" cy="335280"/>
          </a:xfrm>
          <a:prstGeom prst="rect">
            <a:avLst/>
          </a:prstGeom>
        </p:spPr>
        <p:txBody>
          <a:bodyPr vert="horz" lIns="91440" tIns="45720" rIns="91440" bIns="45720" rtlCol="0">
            <a:normAutofit fontScale="92500" lnSpcReduction="1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buFont typeface="Wingdings 3" charset="2"/>
              <a:buNone/>
            </a:pPr>
            <a:r>
              <a:rPr kumimoji="1" lang="en-US" altLang="zh-TW" dirty="0">
                <a:latin typeface="Times New Roman" panose="02020603050405020304" pitchFamily="18" charset="0"/>
                <a:cs typeface="Times New Roman" panose="02020603050405020304" pitchFamily="18" charset="0"/>
              </a:rPr>
              <a:t>X</a:t>
            </a:r>
          </a:p>
        </p:txBody>
      </p:sp>
      <p:pic>
        <p:nvPicPr>
          <p:cNvPr id="9" name="圖片 8">
            <a:extLst>
              <a:ext uri="{FF2B5EF4-FFF2-40B4-BE49-F238E27FC236}">
                <a16:creationId xmlns:a16="http://schemas.microsoft.com/office/drawing/2014/main" id="{752AD969-0B16-562F-A9DF-5DF90A372091}"/>
              </a:ext>
            </a:extLst>
          </p:cNvPr>
          <p:cNvPicPr>
            <a:picLocks noChangeAspect="1"/>
          </p:cNvPicPr>
          <p:nvPr/>
        </p:nvPicPr>
        <p:blipFill>
          <a:blip r:embed="rId3"/>
          <a:stretch>
            <a:fillRect/>
          </a:stretch>
        </p:blipFill>
        <p:spPr>
          <a:xfrm>
            <a:off x="3663127" y="1972363"/>
            <a:ext cx="3707506" cy="4480560"/>
          </a:xfrm>
          <a:prstGeom prst="rect">
            <a:avLst/>
          </a:prstGeom>
        </p:spPr>
      </p:pic>
      <p:pic>
        <p:nvPicPr>
          <p:cNvPr id="10" name="圖片 9">
            <a:extLst>
              <a:ext uri="{FF2B5EF4-FFF2-40B4-BE49-F238E27FC236}">
                <a16:creationId xmlns:a16="http://schemas.microsoft.com/office/drawing/2014/main" id="{843048C3-76C1-256F-BA0F-A5572DBA11B1}"/>
              </a:ext>
            </a:extLst>
          </p:cNvPr>
          <p:cNvPicPr>
            <a:picLocks noChangeAspect="1"/>
          </p:cNvPicPr>
          <p:nvPr/>
        </p:nvPicPr>
        <p:blipFill>
          <a:blip r:embed="rId4"/>
          <a:stretch>
            <a:fillRect/>
          </a:stretch>
        </p:blipFill>
        <p:spPr>
          <a:xfrm>
            <a:off x="7402163" y="1972363"/>
            <a:ext cx="2097155" cy="3976423"/>
          </a:xfrm>
          <a:prstGeom prst="rect">
            <a:avLst/>
          </a:prstGeom>
        </p:spPr>
      </p:pic>
    </p:spTree>
    <p:extLst>
      <p:ext uri="{BB962C8B-B14F-4D97-AF65-F5344CB8AC3E}">
        <p14:creationId xmlns:p14="http://schemas.microsoft.com/office/powerpoint/2010/main" val="2133285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04ACE-F3C8-1924-D512-35FECEE3AD5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5A2FCE7-440D-D78F-2BFB-3B4F294C0420}"/>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Correlation Test</a:t>
            </a:r>
            <a:endParaRPr kumimoji="1" lang="zh-TW" altLang="en-US" b="1" dirty="0">
              <a:latin typeface="Times New Roman" panose="02020603050405020304" pitchFamily="18" charset="0"/>
              <a:cs typeface="Times New Roman" panose="02020603050405020304" pitchFamily="18" charset="0"/>
            </a:endParaRPr>
          </a:p>
        </p:txBody>
      </p:sp>
      <p:pic>
        <p:nvPicPr>
          <p:cNvPr id="4" name="內容版面配置區 3">
            <a:extLst>
              <a:ext uri="{FF2B5EF4-FFF2-40B4-BE49-F238E27FC236}">
                <a16:creationId xmlns:a16="http://schemas.microsoft.com/office/drawing/2014/main" id="{35D44388-AC52-05E3-0AC5-AF2538848306}"/>
              </a:ext>
            </a:extLst>
          </p:cNvPr>
          <p:cNvPicPr>
            <a:picLocks noGrp="1" noChangeAspect="1"/>
          </p:cNvPicPr>
          <p:nvPr>
            <p:ph idx="1"/>
          </p:nvPr>
        </p:nvPicPr>
        <p:blipFill>
          <a:blip r:embed="rId2"/>
          <a:stretch>
            <a:fillRect/>
          </a:stretch>
        </p:blipFill>
        <p:spPr>
          <a:xfrm>
            <a:off x="710833" y="1259840"/>
            <a:ext cx="5293229" cy="5424739"/>
          </a:xfrm>
          <a:prstGeom prst="rect">
            <a:avLst/>
          </a:prstGeom>
        </p:spPr>
      </p:pic>
      <p:sp>
        <p:nvSpPr>
          <p:cNvPr id="5" name="文字方塊 4">
            <a:extLst>
              <a:ext uri="{FF2B5EF4-FFF2-40B4-BE49-F238E27FC236}">
                <a16:creationId xmlns:a16="http://schemas.microsoft.com/office/drawing/2014/main" id="{15475E61-2D98-9978-6D9E-86293C90327C}"/>
              </a:ext>
            </a:extLst>
          </p:cNvPr>
          <p:cNvSpPr txBox="1"/>
          <p:nvPr/>
        </p:nvSpPr>
        <p:spPr>
          <a:xfrm>
            <a:off x="6004062" y="2844224"/>
            <a:ext cx="4025204" cy="1169551"/>
          </a:xfrm>
          <a:prstGeom prst="rect">
            <a:avLst/>
          </a:prstGeom>
          <a:noFill/>
        </p:spPr>
        <p:txBody>
          <a:bodyPr wrap="none" rtlCol="0">
            <a:spAutoFit/>
          </a:bodyPr>
          <a:lstStyle/>
          <a:p>
            <a:r>
              <a:rPr kumimoji="1" lang="en-US" altLang="zh-TW" sz="1400" dirty="0">
                <a:latin typeface="Times New Roman" panose="02020603050405020304" pitchFamily="18" charset="0"/>
                <a:cs typeface="Times New Roman" panose="02020603050405020304" pitchFamily="18" charset="0"/>
              </a:rPr>
              <a:t>Age Group with Education Status: 0.6</a:t>
            </a:r>
          </a:p>
          <a:p>
            <a:endParaRPr kumimoji="1" lang="en-US" altLang="zh-TW" sz="1400" dirty="0">
              <a:latin typeface="Times New Roman" panose="02020603050405020304" pitchFamily="18" charset="0"/>
              <a:cs typeface="Times New Roman" panose="02020603050405020304" pitchFamily="18" charset="0"/>
            </a:endParaRPr>
          </a:p>
          <a:p>
            <a:r>
              <a:rPr kumimoji="1" lang="en-US" altLang="zh-TW" sz="1400" dirty="0">
                <a:latin typeface="Times New Roman" panose="02020603050405020304" pitchFamily="18" charset="0"/>
                <a:cs typeface="Times New Roman" panose="02020603050405020304" pitchFamily="18" charset="0"/>
              </a:rPr>
              <a:t>Medicaid Insurance with Private Insurance: 0.58</a:t>
            </a:r>
          </a:p>
          <a:p>
            <a:endParaRPr kumimoji="1" lang="en-US" altLang="zh-TW" sz="1400" dirty="0">
              <a:latin typeface="Times New Roman" panose="02020603050405020304" pitchFamily="18" charset="0"/>
              <a:cs typeface="Times New Roman" panose="02020603050405020304" pitchFamily="18" charset="0"/>
            </a:endParaRPr>
          </a:p>
          <a:p>
            <a:r>
              <a:rPr kumimoji="1" lang="en-US" altLang="zh-TW" sz="1400" dirty="0">
                <a:latin typeface="Times New Roman" panose="02020603050405020304" pitchFamily="18" charset="0"/>
                <a:cs typeface="Times New Roman" panose="02020603050405020304" pitchFamily="18" charset="0"/>
              </a:rPr>
              <a:t>Medicare Insurance with SSDI Cash Assistance: 0.52</a:t>
            </a:r>
            <a:endParaRPr kumimoji="1" lang="zh-TW" alt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100374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D3DD9-D89A-F2EB-6919-CE70849E1F5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001FFC7-C6FB-AC05-5AD6-BB620C7C5D51}"/>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Logistic Regression</a:t>
            </a:r>
            <a:endParaRPr kumimoji="1" lang="zh-TW" altLang="en-US" b="1" dirty="0">
              <a:latin typeface="Times New Roman" panose="02020603050405020304" pitchFamily="18" charset="0"/>
              <a:cs typeface="Times New Roman" panose="02020603050405020304" pitchFamily="18" charset="0"/>
            </a:endParaRPr>
          </a:p>
        </p:txBody>
      </p:sp>
      <p:pic>
        <p:nvPicPr>
          <p:cNvPr id="4" name="圖片 3">
            <a:extLst>
              <a:ext uri="{FF2B5EF4-FFF2-40B4-BE49-F238E27FC236}">
                <a16:creationId xmlns:a16="http://schemas.microsoft.com/office/drawing/2014/main" id="{5B212666-7B97-BEEF-8789-AE8AD0413D18}"/>
              </a:ext>
            </a:extLst>
          </p:cNvPr>
          <p:cNvPicPr>
            <a:picLocks noChangeAspect="1"/>
          </p:cNvPicPr>
          <p:nvPr/>
        </p:nvPicPr>
        <p:blipFill>
          <a:blip r:embed="rId2"/>
          <a:stretch>
            <a:fillRect/>
          </a:stretch>
        </p:blipFill>
        <p:spPr>
          <a:xfrm>
            <a:off x="677334" y="1930400"/>
            <a:ext cx="3897575" cy="1320800"/>
          </a:xfrm>
          <a:prstGeom prst="rect">
            <a:avLst/>
          </a:prstGeom>
        </p:spPr>
      </p:pic>
      <p:pic>
        <p:nvPicPr>
          <p:cNvPr id="7" name="圖片 6">
            <a:extLst>
              <a:ext uri="{FF2B5EF4-FFF2-40B4-BE49-F238E27FC236}">
                <a16:creationId xmlns:a16="http://schemas.microsoft.com/office/drawing/2014/main" id="{AABA0DA9-BC6F-433C-91E9-85C81D3D61A2}"/>
              </a:ext>
            </a:extLst>
          </p:cNvPr>
          <p:cNvPicPr>
            <a:picLocks noChangeAspect="1"/>
          </p:cNvPicPr>
          <p:nvPr/>
        </p:nvPicPr>
        <p:blipFill>
          <a:blip r:embed="rId3"/>
          <a:stretch>
            <a:fillRect/>
          </a:stretch>
        </p:blipFill>
        <p:spPr>
          <a:xfrm>
            <a:off x="4784598" y="1272628"/>
            <a:ext cx="4559300" cy="3911600"/>
          </a:xfrm>
          <a:prstGeom prst="rect">
            <a:avLst/>
          </a:prstGeom>
        </p:spPr>
      </p:pic>
      <p:sp>
        <p:nvSpPr>
          <p:cNvPr id="10" name="Rectangle 3">
            <a:extLst>
              <a:ext uri="{FF2B5EF4-FFF2-40B4-BE49-F238E27FC236}">
                <a16:creationId xmlns:a16="http://schemas.microsoft.com/office/drawing/2014/main" id="{94B32B22-CEAC-BE90-A16C-B177269632B7}"/>
              </a:ext>
            </a:extLst>
          </p:cNvPr>
          <p:cNvSpPr>
            <a:spLocks noChangeArrowheads="1"/>
          </p:cNvSpPr>
          <p:nvPr/>
        </p:nvSpPr>
        <p:spPr bwMode="auto">
          <a:xfrm>
            <a:off x="488148" y="5186571"/>
            <a:ext cx="936025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lang="en" altLang="zh-TW" b="1" dirty="0">
                <a:latin typeface="Times New Roman" panose="02020603050405020304" pitchFamily="18" charset="0"/>
                <a:cs typeface="Times New Roman" panose="02020603050405020304" pitchFamily="18" charset="0"/>
              </a:rPr>
              <a:t>Weighted F1-score (0.58</a:t>
            </a:r>
            <a:r>
              <a:rPr lang="en-US" altLang="zh-TW" dirty="0">
                <a:latin typeface="Times New Roman" panose="02020603050405020304" pitchFamily="18" charset="0"/>
                <a:cs typeface="Times New Roman" panose="02020603050405020304" pitchFamily="18" charset="0"/>
              </a:rPr>
              <a:t>)</a:t>
            </a:r>
            <a:r>
              <a:rPr lang="en" altLang="zh-TW" dirty="0">
                <a:latin typeface="Times New Roman" panose="02020603050405020304" pitchFamily="18" charset="0"/>
                <a:cs typeface="Times New Roman" panose="02020603050405020304" pitchFamily="18" charset="0"/>
              </a:rPr>
              <a:t> Overall performance remains limited under imbalance.</a:t>
            </a:r>
            <a:endParaRPr lang="en-US" altLang="zh-TW" dirty="0">
              <a:latin typeface="Times New Roman" panose="02020603050405020304" pitchFamily="18" charset="0"/>
              <a:cs typeface="Times New Roman" panose="02020603050405020304" pitchFamily="18" charset="0"/>
            </a:endParaRPr>
          </a:p>
          <a:p>
            <a:pPr lvl="0" defTabSz="914400" eaLnBrk="0" fontAlgn="base" hangingPunct="0">
              <a:spcBef>
                <a:spcPct val="0"/>
              </a:spcBef>
              <a:spcAft>
                <a:spcPct val="0"/>
              </a:spcAft>
            </a:pPr>
            <a:r>
              <a:rPr lang="en-US" altLang="zh-TW" b="1" dirty="0">
                <a:latin typeface="Times New Roman" panose="02020603050405020304" pitchFamily="18" charset="0"/>
                <a:cs typeface="Times New Roman" panose="02020603050405020304" pitchFamily="18" charset="0"/>
              </a:rPr>
              <a:t>I</a:t>
            </a:r>
            <a:r>
              <a:rPr lang="zh-TW" altLang="zh-TW" b="1" dirty="0">
                <a:latin typeface="Times New Roman" panose="02020603050405020304" pitchFamily="18" charset="0"/>
                <a:cs typeface="Times New Roman" panose="02020603050405020304" pitchFamily="18" charset="0"/>
              </a:rPr>
              <a:t>nstitutional Setting:</a:t>
            </a:r>
            <a:r>
              <a:rPr lang="zh-TW" altLang="zh-TW" dirty="0">
                <a:latin typeface="Times New Roman" panose="02020603050405020304" pitchFamily="18" charset="0"/>
                <a:cs typeface="Times New Roman" panose="02020603050405020304" pitchFamily="18" charset="0"/>
              </a:rPr>
              <a:t> Precision very low (0.02), showing poor identification of this minority class.</a:t>
            </a:r>
          </a:p>
          <a:p>
            <a:pPr lvl="0" defTabSz="914400" eaLnBrk="0" fontAlgn="base" hangingPunct="0">
              <a:spcBef>
                <a:spcPct val="0"/>
              </a:spcBef>
              <a:spcAft>
                <a:spcPct val="0"/>
              </a:spcAft>
            </a:pPr>
            <a:r>
              <a:rPr lang="zh-TW" altLang="zh-TW" b="1" dirty="0">
                <a:latin typeface="Times New Roman" panose="02020603050405020304" pitchFamily="18" charset="0"/>
                <a:cs typeface="Times New Roman" panose="02020603050405020304" pitchFamily="18" charset="0"/>
              </a:rPr>
              <a:t>Other Living Situation:</a:t>
            </a:r>
            <a:r>
              <a:rPr lang="zh-TW" altLang="zh-TW" dirty="0">
                <a:latin typeface="Times New Roman" panose="02020603050405020304" pitchFamily="18" charset="0"/>
                <a:cs typeface="Times New Roman" panose="02020603050405020304" pitchFamily="18" charset="0"/>
              </a:rPr>
              <a:t> Recall moderate (0.52) but precision low (0.27).</a:t>
            </a:r>
          </a:p>
          <a:p>
            <a:pPr lvl="0" defTabSz="914400" eaLnBrk="0" fontAlgn="base" hangingPunct="0">
              <a:spcBef>
                <a:spcPct val="0"/>
              </a:spcBef>
              <a:spcAft>
                <a:spcPct val="0"/>
              </a:spcAft>
            </a:pPr>
            <a:r>
              <a:rPr lang="zh-TW" altLang="zh-TW" b="1" dirty="0">
                <a:latin typeface="Times New Roman" panose="02020603050405020304" pitchFamily="18" charset="0"/>
                <a:cs typeface="Times New Roman" panose="02020603050405020304" pitchFamily="18" charset="0"/>
              </a:rPr>
              <a:t>Private Residence:</a:t>
            </a:r>
            <a:r>
              <a:rPr lang="zh-TW" altLang="zh-TW" dirty="0">
                <a:latin typeface="Times New Roman" panose="02020603050405020304" pitchFamily="18" charset="0"/>
                <a:cs typeface="Times New Roman" panose="02020603050405020304" pitchFamily="18" charset="0"/>
              </a:rPr>
              <a:t> Precision high (0.93) but recall only moderate (0.48).</a:t>
            </a:r>
          </a:p>
        </p:txBody>
      </p:sp>
    </p:spTree>
    <p:extLst>
      <p:ext uri="{BB962C8B-B14F-4D97-AF65-F5344CB8AC3E}">
        <p14:creationId xmlns:p14="http://schemas.microsoft.com/office/powerpoint/2010/main" val="4623381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282A0-C32F-8BDA-F2DC-9F9846A68367}"/>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62AA46E-1690-E21E-13FB-BEC4044FC76F}"/>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Random Forest</a:t>
            </a:r>
            <a:endParaRPr kumimoji="1" lang="zh-TW" altLang="en-US" b="1" dirty="0">
              <a:latin typeface="Times New Roman" panose="02020603050405020304" pitchFamily="18" charset="0"/>
              <a:cs typeface="Times New Roman" panose="02020603050405020304" pitchFamily="18" charset="0"/>
            </a:endParaRPr>
          </a:p>
        </p:txBody>
      </p:sp>
      <p:pic>
        <p:nvPicPr>
          <p:cNvPr id="3" name="圖片 2">
            <a:extLst>
              <a:ext uri="{FF2B5EF4-FFF2-40B4-BE49-F238E27FC236}">
                <a16:creationId xmlns:a16="http://schemas.microsoft.com/office/drawing/2014/main" id="{2685D053-CCC1-5835-7C39-C526DEA0DDE8}"/>
              </a:ext>
            </a:extLst>
          </p:cNvPr>
          <p:cNvPicPr>
            <a:picLocks noChangeAspect="1"/>
          </p:cNvPicPr>
          <p:nvPr/>
        </p:nvPicPr>
        <p:blipFill>
          <a:blip r:embed="rId2"/>
          <a:stretch>
            <a:fillRect/>
          </a:stretch>
        </p:blipFill>
        <p:spPr>
          <a:xfrm>
            <a:off x="677334" y="1617980"/>
            <a:ext cx="3945466" cy="1905289"/>
          </a:xfrm>
          <a:prstGeom prst="rect">
            <a:avLst/>
          </a:prstGeom>
        </p:spPr>
      </p:pic>
      <p:pic>
        <p:nvPicPr>
          <p:cNvPr id="5" name="圖片 4">
            <a:extLst>
              <a:ext uri="{FF2B5EF4-FFF2-40B4-BE49-F238E27FC236}">
                <a16:creationId xmlns:a16="http://schemas.microsoft.com/office/drawing/2014/main" id="{2ED3A259-C8DF-4798-953E-818189938C18}"/>
              </a:ext>
            </a:extLst>
          </p:cNvPr>
          <p:cNvPicPr>
            <a:picLocks noChangeAspect="1"/>
          </p:cNvPicPr>
          <p:nvPr/>
        </p:nvPicPr>
        <p:blipFill>
          <a:blip r:embed="rId3"/>
          <a:stretch>
            <a:fillRect/>
          </a:stretch>
        </p:blipFill>
        <p:spPr>
          <a:xfrm>
            <a:off x="4697151" y="856922"/>
            <a:ext cx="4744720" cy="4070679"/>
          </a:xfrm>
          <a:prstGeom prst="rect">
            <a:avLst/>
          </a:prstGeom>
        </p:spPr>
      </p:pic>
      <p:sp>
        <p:nvSpPr>
          <p:cNvPr id="6" name="Rectangle 1">
            <a:extLst>
              <a:ext uri="{FF2B5EF4-FFF2-40B4-BE49-F238E27FC236}">
                <a16:creationId xmlns:a16="http://schemas.microsoft.com/office/drawing/2014/main" id="{F7FFD6E1-5870-B0FF-7B4C-EF8F100CD100}"/>
              </a:ext>
            </a:extLst>
          </p:cNvPr>
          <p:cNvSpPr>
            <a:spLocks noChangeArrowheads="1"/>
          </p:cNvSpPr>
          <p:nvPr/>
        </p:nvSpPr>
        <p:spPr bwMode="auto">
          <a:xfrm>
            <a:off x="222872" y="5204360"/>
            <a:ext cx="8561062"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en" altLang="zh-TW" b="1" dirty="0">
                <a:latin typeface="Times New Roman" panose="02020603050405020304" pitchFamily="18" charset="0"/>
                <a:cs typeface="Times New Roman" panose="02020603050405020304" pitchFamily="18" charset="0"/>
              </a:rPr>
              <a:t>Weighted F1-score (0.62) </a:t>
            </a:r>
            <a:r>
              <a:rPr lang="en" altLang="zh-TW" dirty="0">
                <a:latin typeface="Times New Roman" panose="02020603050405020304" pitchFamily="18" charset="0"/>
                <a:cs typeface="Times New Roman" panose="02020603050405020304" pitchFamily="18" charset="0"/>
              </a:rPr>
              <a:t>Overall performance improves but is still limited by imbalance.</a:t>
            </a:r>
          </a:p>
          <a:p>
            <a:pPr lvl="0" defTabSz="914400" eaLnBrk="0" fontAlgn="base" hangingPunct="0">
              <a:spcBef>
                <a:spcPct val="0"/>
              </a:spcBef>
              <a:spcAft>
                <a:spcPct val="0"/>
              </a:spcAft>
            </a:pPr>
            <a:r>
              <a:rPr lang="en-US" altLang="zh-TW" b="1" dirty="0">
                <a:latin typeface="Times New Roman" panose="02020603050405020304" pitchFamily="18" charset="0"/>
                <a:cs typeface="Times New Roman" panose="02020603050405020304" pitchFamily="18" charset="0"/>
              </a:rPr>
              <a:t>I</a:t>
            </a:r>
            <a:r>
              <a:rPr lang="zh-TW" altLang="zh-TW" b="1" dirty="0">
                <a:latin typeface="Times New Roman" panose="02020603050405020304" pitchFamily="18" charset="0"/>
                <a:cs typeface="Times New Roman" panose="02020603050405020304" pitchFamily="18" charset="0"/>
              </a:rPr>
              <a:t>nstitutional Setting:</a:t>
            </a:r>
            <a:r>
              <a:rPr lang="zh-TW" altLang="zh-TW" dirty="0">
                <a:latin typeface="Times New Roman" panose="02020603050405020304" pitchFamily="18" charset="0"/>
                <a:cs typeface="Times New Roman" panose="02020603050405020304" pitchFamily="18" charset="0"/>
              </a:rPr>
              <a:t> Precision extremely low (0.02) despite higher recall (0.58).</a:t>
            </a:r>
          </a:p>
          <a:p>
            <a:pPr lvl="0" defTabSz="914400" eaLnBrk="0" fontAlgn="base" hangingPunct="0">
              <a:spcBef>
                <a:spcPct val="0"/>
              </a:spcBef>
              <a:spcAft>
                <a:spcPct val="0"/>
              </a:spcAft>
            </a:pPr>
            <a:r>
              <a:rPr lang="zh-TW" altLang="zh-TW" b="1" dirty="0">
                <a:latin typeface="Times New Roman" panose="02020603050405020304" pitchFamily="18" charset="0"/>
                <a:cs typeface="Times New Roman" panose="02020603050405020304" pitchFamily="18" charset="0"/>
              </a:rPr>
              <a:t>Other Living Situation:</a:t>
            </a:r>
            <a:r>
              <a:rPr lang="zh-TW" altLang="zh-TW" dirty="0">
                <a:latin typeface="Times New Roman" panose="02020603050405020304" pitchFamily="18" charset="0"/>
                <a:cs typeface="Times New Roman" panose="02020603050405020304" pitchFamily="18" charset="0"/>
              </a:rPr>
              <a:t> Recall strong (0.70) but precision moderate (0.33).</a:t>
            </a:r>
          </a:p>
          <a:p>
            <a:pPr lvl="0" defTabSz="914400" eaLnBrk="0" fontAlgn="base" hangingPunct="0">
              <a:spcBef>
                <a:spcPct val="0"/>
              </a:spcBef>
              <a:spcAft>
                <a:spcPct val="0"/>
              </a:spcAft>
            </a:pPr>
            <a:r>
              <a:rPr lang="zh-TW" altLang="zh-TW" b="1" dirty="0">
                <a:latin typeface="Times New Roman" panose="02020603050405020304" pitchFamily="18" charset="0"/>
                <a:cs typeface="Times New Roman" panose="02020603050405020304" pitchFamily="18" charset="0"/>
              </a:rPr>
              <a:t>Private Residence:</a:t>
            </a:r>
            <a:r>
              <a:rPr lang="zh-TW" altLang="zh-TW" dirty="0">
                <a:latin typeface="Times New Roman" panose="02020603050405020304" pitchFamily="18" charset="0"/>
                <a:cs typeface="Times New Roman" panose="02020603050405020304" pitchFamily="18" charset="0"/>
              </a:rPr>
              <a:t> Precision very high (0.94) with moderate recall (0.51).</a:t>
            </a:r>
          </a:p>
        </p:txBody>
      </p:sp>
    </p:spTree>
    <p:extLst>
      <p:ext uri="{BB962C8B-B14F-4D97-AF65-F5344CB8AC3E}">
        <p14:creationId xmlns:p14="http://schemas.microsoft.com/office/powerpoint/2010/main" val="13156031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E4377-4642-9750-1645-C98DF315FD3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B47D5DD-8C31-C84D-0F33-BDD8180D5E77}"/>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SMOTE + Random Forest</a:t>
            </a:r>
            <a:endParaRPr kumimoji="1" lang="zh-TW" altLang="en-US" b="1" dirty="0">
              <a:latin typeface="Times New Roman" panose="02020603050405020304" pitchFamily="18" charset="0"/>
              <a:cs typeface="Times New Roman" panose="02020603050405020304" pitchFamily="18" charset="0"/>
            </a:endParaRPr>
          </a:p>
        </p:txBody>
      </p:sp>
      <p:pic>
        <p:nvPicPr>
          <p:cNvPr id="3" name="圖片 2">
            <a:extLst>
              <a:ext uri="{FF2B5EF4-FFF2-40B4-BE49-F238E27FC236}">
                <a16:creationId xmlns:a16="http://schemas.microsoft.com/office/drawing/2014/main" id="{734A3F98-B750-D33A-27B1-436185CE0CA2}"/>
              </a:ext>
            </a:extLst>
          </p:cNvPr>
          <p:cNvPicPr>
            <a:picLocks noChangeAspect="1"/>
          </p:cNvPicPr>
          <p:nvPr/>
        </p:nvPicPr>
        <p:blipFill>
          <a:blip r:embed="rId2"/>
          <a:stretch>
            <a:fillRect/>
          </a:stretch>
        </p:blipFill>
        <p:spPr>
          <a:xfrm>
            <a:off x="886460" y="1930400"/>
            <a:ext cx="2514600" cy="2527300"/>
          </a:xfrm>
          <a:prstGeom prst="rect">
            <a:avLst/>
          </a:prstGeom>
        </p:spPr>
      </p:pic>
      <p:pic>
        <p:nvPicPr>
          <p:cNvPr id="5" name="圖片 4">
            <a:extLst>
              <a:ext uri="{FF2B5EF4-FFF2-40B4-BE49-F238E27FC236}">
                <a16:creationId xmlns:a16="http://schemas.microsoft.com/office/drawing/2014/main" id="{A2235663-5921-5F74-DAA0-74B3D65800C7}"/>
              </a:ext>
            </a:extLst>
          </p:cNvPr>
          <p:cNvPicPr>
            <a:picLocks noChangeAspect="1"/>
          </p:cNvPicPr>
          <p:nvPr/>
        </p:nvPicPr>
        <p:blipFill>
          <a:blip r:embed="rId3"/>
          <a:stretch>
            <a:fillRect/>
          </a:stretch>
        </p:blipFill>
        <p:spPr>
          <a:xfrm>
            <a:off x="3774440" y="2057400"/>
            <a:ext cx="6045200" cy="2273300"/>
          </a:xfrm>
          <a:prstGeom prst="rect">
            <a:avLst/>
          </a:prstGeom>
        </p:spPr>
      </p:pic>
      <p:sp>
        <p:nvSpPr>
          <p:cNvPr id="7" name="文字方塊 6">
            <a:extLst>
              <a:ext uri="{FF2B5EF4-FFF2-40B4-BE49-F238E27FC236}">
                <a16:creationId xmlns:a16="http://schemas.microsoft.com/office/drawing/2014/main" id="{96A93556-3242-BFBD-630F-6CABBBFA571F}"/>
              </a:ext>
            </a:extLst>
          </p:cNvPr>
          <p:cNvSpPr txBox="1"/>
          <p:nvPr/>
        </p:nvSpPr>
        <p:spPr>
          <a:xfrm>
            <a:off x="510988" y="4759823"/>
            <a:ext cx="9816353" cy="2031325"/>
          </a:xfrm>
          <a:prstGeom prst="rect">
            <a:avLst/>
          </a:prstGeom>
          <a:noFill/>
        </p:spPr>
        <p:txBody>
          <a:bodyPr wrap="square">
            <a:spAutoFit/>
          </a:bodyPr>
          <a:lstStyle/>
          <a:p>
            <a:r>
              <a:rPr lang="en" altLang="zh-TW" b="1" dirty="0">
                <a:latin typeface="Times New Roman" panose="02020603050405020304" pitchFamily="18" charset="0"/>
                <a:cs typeface="Times New Roman" panose="02020603050405020304" pitchFamily="18" charset="0"/>
              </a:rPr>
              <a:t>Weighted F1-score(0.63) </a:t>
            </a:r>
            <a:r>
              <a:rPr lang="en" altLang="zh-TW" dirty="0">
                <a:latin typeface="Times New Roman" panose="02020603050405020304" pitchFamily="18" charset="0"/>
                <a:cs typeface="Times New Roman" panose="02020603050405020304" pitchFamily="18" charset="0"/>
              </a:rPr>
              <a:t>The model shows improved and more balanced performance after applying SMOTE.</a:t>
            </a:r>
          </a:p>
          <a:p>
            <a:pPr lvl="0" defTabSz="914400" eaLnBrk="0" fontAlgn="base" hangingPunct="0">
              <a:spcBef>
                <a:spcPct val="0"/>
              </a:spcBef>
              <a:spcAft>
                <a:spcPct val="0"/>
              </a:spcAft>
            </a:pPr>
            <a:r>
              <a:rPr lang="zh-TW" altLang="zh-TW" b="1" dirty="0">
                <a:latin typeface="Times New Roman" panose="02020603050405020304" pitchFamily="18" charset="0"/>
                <a:cs typeface="Times New Roman" panose="02020603050405020304" pitchFamily="18" charset="0"/>
              </a:rPr>
              <a:t>Institutional Setting:</a:t>
            </a:r>
            <a:r>
              <a:rPr lang="zh-TW" altLang="zh-TW" dirty="0">
                <a:latin typeface="Times New Roman" panose="02020603050405020304" pitchFamily="18" charset="0"/>
                <a:cs typeface="Times New Roman" panose="02020603050405020304" pitchFamily="18" charset="0"/>
              </a:rPr>
              <a:t> Recall improves to 0.52, though precision remains low (0.02).</a:t>
            </a:r>
          </a:p>
          <a:p>
            <a:pPr lvl="0" defTabSz="914400" eaLnBrk="0" fontAlgn="base" hangingPunct="0">
              <a:spcBef>
                <a:spcPct val="0"/>
              </a:spcBef>
              <a:spcAft>
                <a:spcPct val="0"/>
              </a:spcAft>
            </a:pPr>
            <a:r>
              <a:rPr lang="zh-TW" altLang="zh-TW" b="1" dirty="0">
                <a:latin typeface="Times New Roman" panose="02020603050405020304" pitchFamily="18" charset="0"/>
                <a:cs typeface="Times New Roman" panose="02020603050405020304" pitchFamily="18" charset="0"/>
              </a:rPr>
              <a:t>Other Living Situation:</a:t>
            </a:r>
            <a:r>
              <a:rPr lang="zh-TW" altLang="zh-TW" dirty="0">
                <a:latin typeface="Times New Roman" panose="02020603050405020304" pitchFamily="18" charset="0"/>
                <a:cs typeface="Times New Roman" panose="02020603050405020304" pitchFamily="18" charset="0"/>
              </a:rPr>
              <a:t> Solid performance with recall at 0.69 and precision at 0.33.</a:t>
            </a:r>
          </a:p>
          <a:p>
            <a:pPr lvl="0" defTabSz="914400" eaLnBrk="0" fontAlgn="base" hangingPunct="0">
              <a:spcBef>
                <a:spcPct val="0"/>
              </a:spcBef>
              <a:spcAft>
                <a:spcPct val="0"/>
              </a:spcAft>
            </a:pPr>
            <a:r>
              <a:rPr lang="zh-TW" altLang="zh-TW" b="1" dirty="0">
                <a:latin typeface="Times New Roman" panose="02020603050405020304" pitchFamily="18" charset="0"/>
                <a:cs typeface="Times New Roman" panose="02020603050405020304" pitchFamily="18" charset="0"/>
              </a:rPr>
              <a:t>Private Residence:</a:t>
            </a:r>
            <a:r>
              <a:rPr lang="zh-TW" altLang="zh-TW" dirty="0">
                <a:latin typeface="Times New Roman" panose="02020603050405020304" pitchFamily="18" charset="0"/>
                <a:cs typeface="Times New Roman" panose="02020603050405020304" pitchFamily="18" charset="0"/>
              </a:rPr>
              <a:t> Strong results with precision of 0.93 and improved recall of 0.53.</a:t>
            </a:r>
          </a:p>
          <a:p>
            <a:br>
              <a:rPr lang="en" altLang="zh-TW" dirty="0">
                <a:latin typeface="Times New Roman" panose="02020603050405020304" pitchFamily="18" charset="0"/>
                <a:cs typeface="Times New Roman" panose="02020603050405020304" pitchFamily="18" charset="0"/>
              </a:rPr>
            </a:br>
            <a:endParaRPr lang="zh-TW" alt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61697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AE12B-733A-1C1D-B923-4E7016BF473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3F943BF-601C-F585-CC08-A5026AA67F98}"/>
              </a:ext>
            </a:extLst>
          </p:cNvPr>
          <p:cNvSpPr>
            <a:spLocks noGrp="1"/>
          </p:cNvSpPr>
          <p:nvPr>
            <p:ph type="title"/>
          </p:nvPr>
        </p:nvSpPr>
        <p:spPr/>
        <p:txBody>
          <a:bodyPr>
            <a:normAutofit fontScale="90000"/>
          </a:bodyPr>
          <a:lstStyle/>
          <a:p>
            <a:r>
              <a:rPr kumimoji="1" lang="en-US" altLang="zh-TW" b="1" dirty="0">
                <a:latin typeface="Times New Roman" panose="02020603050405020304" pitchFamily="18" charset="0"/>
                <a:cs typeface="Times New Roman" panose="02020603050405020304" pitchFamily="18" charset="0"/>
              </a:rPr>
              <a:t>SMOTE + Random Forest - </a:t>
            </a:r>
            <a:r>
              <a:rPr kumimoji="1" lang="en" altLang="zh-TW" b="1" dirty="0">
                <a:latin typeface="Times New Roman" panose="02020603050405020304" pitchFamily="18" charset="0"/>
                <a:cs typeface="Times New Roman" panose="02020603050405020304" pitchFamily="18" charset="0"/>
              </a:rPr>
              <a:t>Feature Importance</a:t>
            </a:r>
            <a:br>
              <a:rPr lang="en" altLang="zh-TW" dirty="0"/>
            </a:br>
            <a:endParaRPr kumimoji="1" lang="zh-TW" altLang="en-US" b="1" dirty="0">
              <a:latin typeface="Times New Roman" panose="02020603050405020304" pitchFamily="18" charset="0"/>
              <a:cs typeface="Times New Roman" panose="02020603050405020304" pitchFamily="18" charset="0"/>
            </a:endParaRPr>
          </a:p>
        </p:txBody>
      </p:sp>
      <p:pic>
        <p:nvPicPr>
          <p:cNvPr id="4" name="圖片 3">
            <a:extLst>
              <a:ext uri="{FF2B5EF4-FFF2-40B4-BE49-F238E27FC236}">
                <a16:creationId xmlns:a16="http://schemas.microsoft.com/office/drawing/2014/main" id="{C3226CEE-ACEC-4D1E-1992-318343AEF2DD}"/>
              </a:ext>
            </a:extLst>
          </p:cNvPr>
          <p:cNvPicPr>
            <a:picLocks noChangeAspect="1"/>
          </p:cNvPicPr>
          <p:nvPr/>
        </p:nvPicPr>
        <p:blipFill>
          <a:blip r:embed="rId2"/>
          <a:stretch>
            <a:fillRect/>
          </a:stretch>
        </p:blipFill>
        <p:spPr>
          <a:xfrm>
            <a:off x="784910" y="1351281"/>
            <a:ext cx="8948677" cy="3576320"/>
          </a:xfrm>
          <a:prstGeom prst="rect">
            <a:avLst/>
          </a:prstGeom>
        </p:spPr>
      </p:pic>
      <p:sp>
        <p:nvSpPr>
          <p:cNvPr id="8" name="文字方塊 7">
            <a:extLst>
              <a:ext uri="{FF2B5EF4-FFF2-40B4-BE49-F238E27FC236}">
                <a16:creationId xmlns:a16="http://schemas.microsoft.com/office/drawing/2014/main" id="{AC5FA890-7A04-6DE7-BCC0-3F168FC55782}"/>
              </a:ext>
            </a:extLst>
          </p:cNvPr>
          <p:cNvSpPr txBox="1"/>
          <p:nvPr/>
        </p:nvSpPr>
        <p:spPr>
          <a:xfrm>
            <a:off x="1327896" y="5207617"/>
            <a:ext cx="8300197" cy="92333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Employment status</a:t>
            </a:r>
            <a:r>
              <a:rPr kumimoji="0" lang="zh-TW" altLang="zh-TW"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is the strongest predictor.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Insurance coverage</a:t>
            </a:r>
            <a:r>
              <a:rPr kumimoji="0" lang="zh-TW" altLang="zh-TW"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zh-TW" altLang="zh-TW"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cash assistance</a:t>
            </a:r>
            <a:r>
              <a:rPr kumimoji="0" lang="zh-TW" altLang="zh-TW"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also rank highly.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Age</a:t>
            </a:r>
            <a:r>
              <a:rPr kumimoji="0" lang="zh-TW"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zh-TW"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(Child)</a:t>
            </a:r>
            <a:r>
              <a:rPr kumimoji="0" lang="zh-TW" altLang="zh-TW"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education</a:t>
            </a:r>
            <a:r>
              <a:rPr kumimoji="0" lang="zh-TW" altLang="zh-TW"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contribute smaller but meaningful signals.</a:t>
            </a:r>
          </a:p>
        </p:txBody>
      </p:sp>
    </p:spTree>
    <p:extLst>
      <p:ext uri="{BB962C8B-B14F-4D97-AF65-F5344CB8AC3E}">
        <p14:creationId xmlns:p14="http://schemas.microsoft.com/office/powerpoint/2010/main" val="36395626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745E-B205-9F11-6706-58E4491B254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0B93F13-6275-0C9C-4211-C9C1A60D93D3}"/>
              </a:ext>
            </a:extLst>
          </p:cNvPr>
          <p:cNvSpPr>
            <a:spLocks noGrp="1"/>
          </p:cNvSpPr>
          <p:nvPr>
            <p:ph type="title"/>
          </p:nvPr>
        </p:nvSpPr>
        <p:spPr/>
        <p:txBody>
          <a:bodyPr/>
          <a:lstStyle/>
          <a:p>
            <a:r>
              <a:rPr kumimoji="1" lang="en-US" altLang="zh-TW" b="1" dirty="0">
                <a:latin typeface="Times New Roman" panose="02020603050405020304" pitchFamily="18" charset="0"/>
                <a:cs typeface="Times New Roman" panose="02020603050405020304" pitchFamily="18" charset="0"/>
              </a:rPr>
              <a:t>Limitations and Next Step</a:t>
            </a:r>
            <a:endParaRPr kumimoji="1" lang="zh-TW" altLang="en-US" b="1" dirty="0">
              <a:latin typeface="Times New Roman" panose="02020603050405020304" pitchFamily="18" charset="0"/>
              <a:cs typeface="Times New Roman" panose="02020603050405020304" pitchFamily="18" charset="0"/>
            </a:endParaRPr>
          </a:p>
        </p:txBody>
      </p:sp>
      <p:sp>
        <p:nvSpPr>
          <p:cNvPr id="3" name="內容版面配置區 2">
            <a:extLst>
              <a:ext uri="{FF2B5EF4-FFF2-40B4-BE49-F238E27FC236}">
                <a16:creationId xmlns:a16="http://schemas.microsoft.com/office/drawing/2014/main" id="{4B0C8911-6D1C-98C7-13E7-CEEB063867D4}"/>
              </a:ext>
            </a:extLst>
          </p:cNvPr>
          <p:cNvSpPr>
            <a:spLocks noGrp="1"/>
          </p:cNvSpPr>
          <p:nvPr>
            <p:ph idx="1"/>
          </p:nvPr>
        </p:nvSpPr>
        <p:spPr>
          <a:xfrm>
            <a:off x="677334" y="1930400"/>
            <a:ext cx="7968826" cy="3880773"/>
          </a:xfrm>
        </p:spPr>
        <p:txBody>
          <a:bodyPr>
            <a:normAutofit lnSpcReduction="10000"/>
          </a:bodyPr>
          <a:lstStyle/>
          <a:p>
            <a:pPr defTabSz="914400" eaLnBrk="0" fontAlgn="base" hangingPunct="0">
              <a:spcBef>
                <a:spcPct val="0"/>
              </a:spcBef>
              <a:spcAft>
                <a:spcPct val="0"/>
              </a:spcAft>
              <a:buClrTx/>
              <a:buSzTx/>
              <a:buFont typeface="Wingdings" pitchFamily="2" charset="2"/>
              <a:buChar char="p"/>
            </a:pPr>
            <a:r>
              <a:rPr lang="zh-TW" altLang="zh-TW" sz="2400" dirty="0">
                <a:solidFill>
                  <a:schemeClr val="tx1"/>
                </a:solidFill>
                <a:latin typeface="Arial" panose="020B0604020202020204" pitchFamily="34" charset="0"/>
              </a:rPr>
              <a:t>Severe class imbalance makes minority groups hard to model.</a:t>
            </a:r>
          </a:p>
          <a:p>
            <a:pPr defTabSz="914400" eaLnBrk="0" fontAlgn="base" hangingPunct="0">
              <a:spcBef>
                <a:spcPct val="0"/>
              </a:spcBef>
              <a:spcAft>
                <a:spcPct val="0"/>
              </a:spcAft>
              <a:buClrTx/>
              <a:buSzTx/>
              <a:buFont typeface="Wingdings" pitchFamily="2" charset="2"/>
              <a:buChar char="p"/>
            </a:pPr>
            <a:r>
              <a:rPr lang="zh-TW" altLang="zh-TW" sz="2400" dirty="0">
                <a:solidFill>
                  <a:schemeClr val="tx1"/>
                </a:solidFill>
                <a:latin typeface="Arial" panose="020B0604020202020204" pitchFamily="34" charset="0"/>
              </a:rPr>
              <a:t>Only categorical variables with many small levels increase overfitting risk.</a:t>
            </a:r>
          </a:p>
          <a:p>
            <a:pPr>
              <a:buFont typeface="Wingdings" pitchFamily="2" charset="2"/>
              <a:buChar char="p"/>
            </a:pPr>
            <a:endParaRPr kumimoji="1" lang="en" altLang="zh-TW" sz="2400" dirty="0">
              <a:latin typeface="Times New Roman" panose="02020603050405020304" pitchFamily="18" charset="0"/>
              <a:cs typeface="Times New Roman" panose="02020603050405020304" pitchFamily="18" charset="0"/>
            </a:endParaRPr>
          </a:p>
          <a:p>
            <a:pPr defTabSz="914400" eaLnBrk="0" fontAlgn="base" hangingPunct="0">
              <a:spcBef>
                <a:spcPct val="0"/>
              </a:spcBef>
              <a:spcAft>
                <a:spcPct val="0"/>
              </a:spcAft>
              <a:buClrTx/>
              <a:buSzTx/>
              <a:buFont typeface="Wingdings" pitchFamily="2" charset="2"/>
              <a:buChar char="p"/>
            </a:pPr>
            <a:r>
              <a:rPr lang="en-US" altLang="zh-TW" sz="2400" dirty="0">
                <a:solidFill>
                  <a:schemeClr val="tx1"/>
                </a:solidFill>
                <a:latin typeface="Arial" panose="020B0604020202020204" pitchFamily="34" charset="0"/>
              </a:rPr>
              <a:t>Remove imbalance data or </a:t>
            </a:r>
            <a:r>
              <a:rPr lang="en" altLang="zh-TW" sz="2400" dirty="0">
                <a:solidFill>
                  <a:schemeClr val="tx1"/>
                </a:solidFill>
                <a:latin typeface="Arial" panose="020B0604020202020204" pitchFamily="34" charset="0"/>
              </a:rPr>
              <a:t>try</a:t>
            </a:r>
            <a:r>
              <a:rPr lang="zh-TW" altLang="zh-TW" sz="2400" dirty="0">
                <a:solidFill>
                  <a:schemeClr val="tx1"/>
                </a:solidFill>
                <a:latin typeface="Arial" panose="020B0604020202020204" pitchFamily="34" charset="0"/>
              </a:rPr>
              <a:t> advanced imbalance methods like Balanced RF or XGBoost with weights.</a:t>
            </a:r>
          </a:p>
          <a:p>
            <a:pPr defTabSz="914400" eaLnBrk="0" fontAlgn="base" hangingPunct="0">
              <a:spcBef>
                <a:spcPct val="0"/>
              </a:spcBef>
              <a:spcAft>
                <a:spcPct val="0"/>
              </a:spcAft>
              <a:buClrTx/>
              <a:buSzTx/>
              <a:buFont typeface="Wingdings" pitchFamily="2" charset="2"/>
              <a:buChar char="p"/>
            </a:pPr>
            <a:r>
              <a:rPr lang="zh-TW" altLang="zh-TW" sz="2400" dirty="0">
                <a:solidFill>
                  <a:schemeClr val="tx1"/>
                </a:solidFill>
                <a:latin typeface="Arial" panose="020B0604020202020204" pitchFamily="34" charset="0"/>
              </a:rPr>
              <a:t>Add continuous variables to strengthen </a:t>
            </a:r>
            <a:r>
              <a:rPr lang="en" altLang="zh-TW" sz="2400" dirty="0">
                <a:solidFill>
                  <a:schemeClr val="tx1"/>
                </a:solidFill>
                <a:latin typeface="Arial" panose="020B0604020202020204" pitchFamily="34" charset="0"/>
              </a:rPr>
              <a:t>the predictive</a:t>
            </a:r>
            <a:r>
              <a:rPr lang="zh-TW" altLang="zh-TW" sz="2400" dirty="0">
                <a:solidFill>
                  <a:schemeClr val="tx1"/>
                </a:solidFill>
                <a:latin typeface="Arial" panose="020B0604020202020204" pitchFamily="34" charset="0"/>
              </a:rPr>
              <a:t> signal.</a:t>
            </a:r>
          </a:p>
          <a:p>
            <a:pPr defTabSz="914400" eaLnBrk="0" fontAlgn="base" hangingPunct="0">
              <a:spcBef>
                <a:spcPct val="0"/>
              </a:spcBef>
              <a:spcAft>
                <a:spcPct val="0"/>
              </a:spcAft>
              <a:buClrTx/>
              <a:buSzTx/>
              <a:buFont typeface="Wingdings" pitchFamily="2" charset="2"/>
              <a:buChar char="p"/>
            </a:pPr>
            <a:r>
              <a:rPr lang="zh-TW" altLang="zh-TW" sz="2400" dirty="0">
                <a:solidFill>
                  <a:schemeClr val="tx1"/>
                </a:solidFill>
                <a:latin typeface="Arial" panose="020B0604020202020204" pitchFamily="34" charset="0"/>
              </a:rPr>
              <a:t>Analyze minority groups separately to avoid majority-class dominance.</a:t>
            </a:r>
          </a:p>
          <a:p>
            <a:pPr>
              <a:buFont typeface="Wingdings" pitchFamily="2" charset="2"/>
              <a:buChar char="p"/>
            </a:pPr>
            <a:endParaRPr kumimoji="1" lang="en" altLang="zh-TW" sz="2400" dirty="0">
              <a:latin typeface="Times New Roman" panose="02020603050405020304" pitchFamily="18" charset="0"/>
              <a:cs typeface="Times New Roman" panose="02020603050405020304" pitchFamily="18" charset="0"/>
            </a:endParaRPr>
          </a:p>
        </p:txBody>
      </p:sp>
      <p:sp>
        <p:nvSpPr>
          <p:cNvPr id="7" name="Rectangle 3">
            <a:extLst>
              <a:ext uri="{FF2B5EF4-FFF2-40B4-BE49-F238E27FC236}">
                <a16:creationId xmlns:a16="http://schemas.microsoft.com/office/drawing/2014/main" id="{97F64AAF-60DB-C701-C50F-3CBCB4E9F69B}"/>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zh-TW" altLang="zh-TW" sz="1800" b="0" i="0" u="none" strike="noStrike" cap="none" normalizeH="0" baseline="0" dirty="0">
              <a:ln>
                <a:noFill/>
              </a:ln>
              <a:solidFill>
                <a:schemeClr val="tx1"/>
              </a:solidFill>
              <a:effectLst/>
              <a:latin typeface="Arial" panose="020B0604020202020204" pitchFamily="34" charset="0"/>
            </a:endParaRPr>
          </a:p>
        </p:txBody>
      </p:sp>
      <p:sp>
        <p:nvSpPr>
          <p:cNvPr id="8" name="Rectangle 4">
            <a:extLst>
              <a:ext uri="{FF2B5EF4-FFF2-40B4-BE49-F238E27FC236}">
                <a16:creationId xmlns:a16="http://schemas.microsoft.com/office/drawing/2014/main" id="{60400EEE-D63B-3003-13CA-1BB8118BC5B4}"/>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zh-TW" altLang="zh-TW"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407969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0CC05016-0DCB-5FFB-772D-EFC3DD0D1957}"/>
              </a:ext>
            </a:extLst>
          </p:cNvPr>
          <p:cNvSpPr txBox="1"/>
          <p:nvPr/>
        </p:nvSpPr>
        <p:spPr>
          <a:xfrm>
            <a:off x="2246587" y="2321004"/>
            <a:ext cx="6101254" cy="2215991"/>
          </a:xfrm>
          <a:prstGeom prst="rect">
            <a:avLst/>
          </a:prstGeom>
          <a:noFill/>
        </p:spPr>
        <p:txBody>
          <a:bodyPr wrap="square">
            <a:spAutoFit/>
          </a:bodyPr>
          <a:lstStyle/>
          <a:p>
            <a:pPr algn="ctr" fontAlgn="base">
              <a:spcBef>
                <a:spcPct val="0"/>
              </a:spcBef>
              <a:spcAft>
                <a:spcPct val="0"/>
              </a:spcAft>
              <a:buClrTx/>
              <a:buSzTx/>
            </a:pPr>
            <a:r>
              <a:rPr kumimoji="1" lang="en-US" altLang="zh-TW" sz="13800" b="1" dirty="0">
                <a:solidFill>
                  <a:schemeClr val="accent1"/>
                </a:solidFill>
                <a:latin typeface="Times New Roman" panose="02020603050405020304" pitchFamily="18" charset="0"/>
                <a:ea typeface="+mj-ea"/>
                <a:cs typeface="Times New Roman" panose="02020603050405020304" pitchFamily="18" charset="0"/>
              </a:rPr>
              <a:t>END</a:t>
            </a:r>
            <a:endParaRPr kumimoji="1" lang="en" altLang="zh-TW" sz="13800" b="1" dirty="0">
              <a:solidFill>
                <a:schemeClr val="accent1"/>
              </a:solidFill>
              <a:latin typeface="Times New Roman" panose="02020603050405020304" pitchFamily="18" charset="0"/>
              <a:ea typeface="+mj-ea"/>
              <a:cs typeface="Times New Roman" panose="02020603050405020304" pitchFamily="18" charset="0"/>
            </a:endParaRPr>
          </a:p>
        </p:txBody>
      </p:sp>
    </p:spTree>
    <p:extLst>
      <p:ext uri="{BB962C8B-B14F-4D97-AF65-F5344CB8AC3E}">
        <p14:creationId xmlns:p14="http://schemas.microsoft.com/office/powerpoint/2010/main" val="769538148"/>
      </p:ext>
    </p:extLst>
  </p:cSld>
  <p:clrMapOvr>
    <a:masterClrMapping/>
  </p:clrMapOvr>
</p:sld>
</file>

<file path=ppt/theme/theme1.xml><?xml version="1.0" encoding="utf-8"?>
<a:theme xmlns:a="http://schemas.openxmlformats.org/drawingml/2006/main" name="多面向">
  <a:themeElements>
    <a:clrScheme name="多面向">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多面向">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多面向">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{0FFBD485-89BE-4C40-BD94-5869DE7AD0FA}tf10001060</Template>
  <TotalTime>260</TotalTime>
  <Words>1950</Words>
  <Application>Microsoft Office PowerPoint</Application>
  <PresentationFormat>Widescreen</PresentationFormat>
  <Paragraphs>122</Paragraphs>
  <Slides>31</Slides>
  <Notes>10</Notes>
  <HiddenSlides>0</HiddenSlides>
  <MMClips>0</MMClips>
  <ScaleCrop>false</ScaleCrop>
  <HeadingPairs>
    <vt:vector size="4" baseType="variant">
      <vt:variant>
        <vt:lpstr>Theme</vt:lpstr>
      </vt:variant>
      <vt:variant>
        <vt:i4>1</vt:i4>
      </vt:variant>
      <vt:variant>
        <vt:lpstr>Slide Titles</vt:lpstr>
      </vt:variant>
      <vt:variant>
        <vt:i4>31</vt:i4>
      </vt:variant>
    </vt:vector>
  </HeadingPairs>
  <TitlesOfParts>
    <vt:vector size="32" baseType="lpstr">
      <vt:lpstr>多面向</vt:lpstr>
      <vt:lpstr>Mental Health Patterns and Living Situations in New York State</vt:lpstr>
      <vt:lpstr>Source Links</vt:lpstr>
      <vt:lpstr>Data cleaning</vt:lpstr>
      <vt:lpstr>Smart Question 1</vt:lpstr>
      <vt:lpstr>Class Imbalance: Over 90% of individuals in New York reported having a mental illness </vt:lpstr>
      <vt:lpstr>Mental health prevalence is roughly the same among all races and genders…</vt:lpstr>
      <vt:lpstr>Logistic Regression</vt:lpstr>
      <vt:lpstr>Odds Ratios</vt:lpstr>
      <vt:lpstr>Balancing Class Weight</vt:lpstr>
      <vt:lpstr>Balancing Class Weight</vt:lpstr>
      <vt:lpstr>Random Forest Model</vt:lpstr>
      <vt:lpstr>Random Forest Feature Importance</vt:lpstr>
      <vt:lpstr>Balancing Class Weight</vt:lpstr>
      <vt:lpstr>Balancing Class Weight</vt:lpstr>
      <vt:lpstr>Correlation Matrix</vt:lpstr>
      <vt:lpstr>Conclusions – SMART Question 1</vt:lpstr>
      <vt:lpstr>Smart Question 2 </vt:lpstr>
      <vt:lpstr>Smart Question 2 </vt:lpstr>
      <vt:lpstr> </vt:lpstr>
      <vt:lpstr> </vt:lpstr>
      <vt:lpstr> </vt:lpstr>
      <vt:lpstr> </vt:lpstr>
      <vt:lpstr>Smart Question 3 </vt:lpstr>
      <vt:lpstr>Variables Description</vt:lpstr>
      <vt:lpstr>Correlation Test</vt:lpstr>
      <vt:lpstr>Logistic Regression</vt:lpstr>
      <vt:lpstr>Random Forest</vt:lpstr>
      <vt:lpstr>SMOTE + Random Forest</vt:lpstr>
      <vt:lpstr>SMOTE + Random Forest - Feature Importance </vt:lpstr>
      <vt:lpstr>Limitations and Next Step</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恒瑞 朱</dc:creator>
  <cp:lastModifiedBy>Emma Francis</cp:lastModifiedBy>
  <cp:revision>159</cp:revision>
  <dcterms:created xsi:type="dcterms:W3CDTF">2025-12-02T00:53:55Z</dcterms:created>
  <dcterms:modified xsi:type="dcterms:W3CDTF">2025-12-03T19:27:34Z</dcterms:modified>
</cp:coreProperties>
</file>