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5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64" r:id="rId6"/>
    <p:sldId id="263" r:id="rId7"/>
    <p:sldId id="265" r:id="rId8"/>
    <p:sldId id="260" r:id="rId9"/>
    <p:sldId id="261" r:id="rId10"/>
    <p:sldId id="266" r:id="rId11"/>
    <p:sldId id="267" r:id="rId12"/>
    <p:sldId id="273" r:id="rId13"/>
    <p:sldId id="268" r:id="rId14"/>
    <p:sldId id="269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D17B82-5527-4661-8B13-DC96109D97FA}" v="6" dt="2025-12-02T16:23:10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4"/>
  </p:normalViewPr>
  <p:slideViewPr>
    <p:cSldViewPr snapToGrid="0">
      <p:cViewPr varScale="1">
        <p:scale>
          <a:sx n="75" d="100"/>
          <a:sy n="75" d="100"/>
        </p:scale>
        <p:origin x="830" y="43"/>
      </p:cViewPr>
      <p:guideLst/>
    </p:cSldViewPr>
  </p:slideViewPr>
  <p:notesTextViewPr>
    <p:cViewPr>
      <p:scale>
        <a:sx n="1" d="1"/>
        <a:sy n="1" d="1"/>
      </p:scale>
      <p:origin x="0" y="-43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Francis" userId="1a28f87ee4f117f1" providerId="LiveId" clId="{41D06EC1-1E87-41B1-83A3-CDDFA7DD00B1}"/>
    <pc:docChg chg="custSel modSld">
      <pc:chgData name="Emma Francis" userId="1a28f87ee4f117f1" providerId="LiveId" clId="{41D06EC1-1E87-41B1-83A3-CDDFA7DD00B1}" dt="2025-12-02T16:24:16.849" v="386" actId="20577"/>
      <pc:docMkLst>
        <pc:docMk/>
      </pc:docMkLst>
      <pc:sldChg chg="modSp mod">
        <pc:chgData name="Emma Francis" userId="1a28f87ee4f117f1" providerId="LiveId" clId="{41D06EC1-1E87-41B1-83A3-CDDFA7DD00B1}" dt="2025-12-02T16:12:47.435" v="186" actId="255"/>
        <pc:sldMkLst>
          <pc:docMk/>
          <pc:sldMk cId="2402511089" sldId="258"/>
        </pc:sldMkLst>
        <pc:spChg chg="mod">
          <ac:chgData name="Emma Francis" userId="1a28f87ee4f117f1" providerId="LiveId" clId="{41D06EC1-1E87-41B1-83A3-CDDFA7DD00B1}" dt="2025-12-02T16:12:47.435" v="186" actId="255"/>
          <ac:spMkLst>
            <pc:docMk/>
            <pc:sldMk cId="2402511089" sldId="258"/>
            <ac:spMk id="3" creationId="{C089B9FB-E92A-1D10-614D-C2AA1F1879FD}"/>
          </ac:spMkLst>
        </pc:spChg>
      </pc:sldChg>
      <pc:sldChg chg="addSp modSp mod">
        <pc:chgData name="Emma Francis" userId="1a28f87ee4f117f1" providerId="LiveId" clId="{41D06EC1-1E87-41B1-83A3-CDDFA7DD00B1}" dt="2025-12-02T16:24:16.849" v="386" actId="20577"/>
        <pc:sldMkLst>
          <pc:docMk/>
          <pc:sldMk cId="57324149" sldId="268"/>
        </pc:sldMkLst>
        <pc:spChg chg="mod">
          <ac:chgData name="Emma Francis" userId="1a28f87ee4f117f1" providerId="LiveId" clId="{41D06EC1-1E87-41B1-83A3-CDDFA7DD00B1}" dt="2025-12-02T16:16:15.063" v="208" actId="20577"/>
          <ac:spMkLst>
            <pc:docMk/>
            <pc:sldMk cId="57324149" sldId="268"/>
            <ac:spMk id="2" creationId="{0D61185C-DEE3-C661-0CB7-2BDF7166C9CA}"/>
          </ac:spMkLst>
        </pc:spChg>
        <pc:spChg chg="add mod">
          <ac:chgData name="Emma Francis" userId="1a28f87ee4f117f1" providerId="LiveId" clId="{41D06EC1-1E87-41B1-83A3-CDDFA7DD00B1}" dt="2025-12-02T16:24:16.849" v="386" actId="20577"/>
          <ac:spMkLst>
            <pc:docMk/>
            <pc:sldMk cId="57324149" sldId="268"/>
            <ac:spMk id="3" creationId="{A097D33B-F738-EFE3-8C42-11B0BEF144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179CE-8438-496C-8BC1-59B621BFFEB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E0D09-A73B-45C7-9595-EA62676DC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The model accuracy is 76%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The demographic variables have modest predictive power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0D09-A73B-45C7-9595-EA62676DC5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6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388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64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0778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82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1769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451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493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5470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413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9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6709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7992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8035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3322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3376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372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B63CC-3986-A348-B522-7E03CA4B0442}" type="datetimeFigureOut">
              <a:rPr kumimoji="1" lang="zh-TW" altLang="en-US" smtClean="0"/>
              <a:t>2025/12/2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E92510-1395-B646-8064-93ECB20E5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4472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ny.gov/Human-Services/Patient-Characteristics-Survey-PCS-2019/urn3-ezfe/about_data" TargetMode="External"/><Relationship Id="rId2" Type="http://schemas.openxmlformats.org/officeDocument/2006/relationships/hyperlink" Target="https://github.com/daniasalman6/Project-Data-Min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3EA046-62E9-874E-BEE2-11E963BA9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612054"/>
            <a:ext cx="7766936" cy="1646302"/>
          </a:xfrm>
        </p:spPr>
        <p:txBody>
          <a:bodyPr/>
          <a:lstStyle/>
          <a:p>
            <a:pPr algn="l"/>
            <a:r>
              <a:rPr lang="en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Patterns and Living Situations in New York State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16BB889-F454-2CB7-2E78-AAB5EBDED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806231"/>
            <a:ext cx="7766936" cy="1646302"/>
          </a:xfrm>
        </p:spPr>
        <p:txBody>
          <a:bodyPr>
            <a:normAutofit/>
          </a:bodyPr>
          <a:lstStyle/>
          <a:p>
            <a:pPr algn="ctr"/>
            <a:r>
              <a:rPr lang="en-IN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Dania Salman</a:t>
            </a:r>
          </a:p>
          <a:p>
            <a:pPr algn="ctr"/>
            <a:r>
              <a:rPr lang="en-IN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HENG-JUI CHU</a:t>
            </a:r>
          </a:p>
          <a:p>
            <a:pPr algn="ctr"/>
            <a:r>
              <a:rPr lang="en-IN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Emma Francis</a:t>
            </a:r>
          </a:p>
          <a:p>
            <a:pPr algn="ctr"/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57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91BC3-7AFE-2384-DEB3-12936396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Links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474D46-9BC6-2BDD-7BA8-C30AE216F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7968826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Hub:</a:t>
            </a:r>
          </a:p>
          <a:p>
            <a:pPr marL="0" indent="0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https://github.com/daniasalman6/Project-Data-Mining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Link:</a:t>
            </a:r>
          </a:p>
          <a:p>
            <a:pPr marL="0" indent="0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https://data.ny.gov/Human-Services/Patient-Characteristics-Survey-PCS-2019/urn3-ezfe/about_data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PCS 2019 dataset provides comprehensive information on mental health services and client characteristics across New York State.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65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D19F-E01E-3D48-753B-9D656EBD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B6820-A860-9329-7C80-A2FDFE346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55CBFD-61CB-C6F0-4B9F-8C78BD30C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7968826" cy="3880773"/>
          </a:xfrm>
        </p:spPr>
        <p:txBody>
          <a:bodyPr>
            <a:normAutofit/>
          </a:bodyPr>
          <a:lstStyle/>
          <a:p>
            <a:r>
              <a:rPr lang="en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“Unknown” to missing values</a:t>
            </a:r>
          </a:p>
          <a:p>
            <a:r>
              <a:rPr kumimoji="1" lang="en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values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146737 observations after data cleaning</a:t>
            </a:r>
            <a:endParaRPr kumimoji="1" lang="en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25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14A05-4AD5-A7DA-D25B-F3B6AAC2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0FFB76-1144-302C-02EB-F44BA850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Question 1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89B9FB-E92A-1D10-614D-C2AA1F187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796882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well can demographic characteristics predict whether an adult has a diagnosed mental illness in New York State using PCS 2019 data?</a:t>
            </a:r>
          </a:p>
        </p:txBody>
      </p:sp>
    </p:spTree>
    <p:extLst>
      <p:ext uri="{BB962C8B-B14F-4D97-AF65-F5344CB8AC3E}">
        <p14:creationId xmlns:p14="http://schemas.microsoft.com/office/powerpoint/2010/main" val="240251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9559-9D56-282D-1248-6382FA80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AC2D4F-2869-59AF-3DA2-1A234C52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Question 2</a:t>
            </a:r>
            <a:b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ADB854-6B60-B180-740D-C54E8522B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796882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75893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60669-C47B-CB10-3FF9-03E3FC00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89DB35-23E6-6A55-8D66-90AB7C06F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Question 3</a:t>
            </a:r>
            <a:b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DC3A38-28DE-0E20-B548-F87A7A94D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796882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effectively can employment and related socioeconomic variables predict an individual’s living situation category in New York State using PCS 2019?</a:t>
            </a:r>
          </a:p>
          <a:p>
            <a:pPr marL="0" indent="0">
              <a:buNone/>
            </a:pP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850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E5E5E-07B2-D377-D854-81E9DF0E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1FA20D-D7F1-50C5-8DC1-5FAFA1B3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Description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A18CA6-AF8F-CCA2-0BD8-5B3B34C64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399" y="1595120"/>
            <a:ext cx="999066" cy="33528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2AF84E7-EFBA-4B16-45AA-A50BE317B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79" y="1972363"/>
            <a:ext cx="2665306" cy="943557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74894E3-5B07-678F-8B1A-37B2A888AC22}"/>
              </a:ext>
            </a:extLst>
          </p:cNvPr>
          <p:cNvSpPr txBox="1">
            <a:spLocks/>
          </p:cNvSpPr>
          <p:nvPr/>
        </p:nvSpPr>
        <p:spPr>
          <a:xfrm>
            <a:off x="6572212" y="1595120"/>
            <a:ext cx="999066" cy="3352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52AD969-0B16-562F-A9DF-5DF90A372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127" y="1972363"/>
            <a:ext cx="3707506" cy="448056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43048C3-76C1-256F-BA0F-A5572DBA1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163" y="1972363"/>
            <a:ext cx="2097155" cy="397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8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04ACE-F3C8-1924-D512-35FECEE3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A2FCE7-440D-D78F-2BFB-3B4F294C0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Test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35D44388-AC52-05E3-0AC5-AF2538848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833" y="1259840"/>
            <a:ext cx="5293229" cy="542473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5475E61-2D98-9978-6D9E-86293C90327C}"/>
              </a:ext>
            </a:extLst>
          </p:cNvPr>
          <p:cNvSpPr txBox="1"/>
          <p:nvPr/>
        </p:nvSpPr>
        <p:spPr>
          <a:xfrm>
            <a:off x="6004062" y="2844224"/>
            <a:ext cx="402520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with Education Status: 0.6</a:t>
            </a:r>
          </a:p>
          <a:p>
            <a:endParaRPr kumimoji="1"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Insurance with Private Insurance: 0.58</a:t>
            </a:r>
          </a:p>
          <a:p>
            <a:endParaRPr kumimoji="1"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Medicare Insurance with SSDI Cash Assistance: 0.52</a:t>
            </a:r>
            <a:endParaRPr kumimoji="1"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03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3DD9-D89A-F2EB-6919-CE70849E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1FFC7-C6FB-AC05-5AD6-BB620C7C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B212666-7B97-BEEF-8789-AE8AD0413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400"/>
            <a:ext cx="3897575" cy="13208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ABA0DA9-BC6F-433C-91E9-85C81D3D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598" y="1272628"/>
            <a:ext cx="4559300" cy="391160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94B32B22-CEAC-BE90-A16C-B17726963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48" y="5186571"/>
            <a:ext cx="93602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F1-score (0.58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performance remains limited under imbalance.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nstitutional Setting: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very low (0.02), showing poor identification of this minority class.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Living Situation: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Recall moderate (0.52) but precision low (0.27).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Residence: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high (0.93) but recall only moderate (0.48).</a:t>
            </a:r>
          </a:p>
        </p:txBody>
      </p:sp>
    </p:spTree>
    <p:extLst>
      <p:ext uri="{BB962C8B-B14F-4D97-AF65-F5344CB8AC3E}">
        <p14:creationId xmlns:p14="http://schemas.microsoft.com/office/powerpoint/2010/main" val="46233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82A0-C32F-8BDA-F2DC-9F9846A68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AA46E-1690-E21E-13FB-BEC4044F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685D053-CCC1-5835-7C39-C526DEA0D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17980"/>
            <a:ext cx="3945466" cy="190528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ED3A259-C8DF-4798-953E-818189938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151" y="856922"/>
            <a:ext cx="4744720" cy="407067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7FFD6E1-5870-B0FF-7B4C-EF8F100CD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72" y="5204360"/>
            <a:ext cx="85610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F1-score (0.62) 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improves but is still limited by imbalance.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nstitutional Setting: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extremely low (0.02) despite higher recall (0.58).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Living Situation: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Recall strong (0.70) but precision moderate (0.33).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Residence: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very high (0.94) with moderate recall (0.51).</a:t>
            </a:r>
          </a:p>
        </p:txBody>
      </p:sp>
    </p:spTree>
    <p:extLst>
      <p:ext uri="{BB962C8B-B14F-4D97-AF65-F5344CB8AC3E}">
        <p14:creationId xmlns:p14="http://schemas.microsoft.com/office/powerpoint/2010/main" val="1315603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4377-4642-9750-1645-C98DF315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47D5DD-8C31-C84D-0F33-BDD8180D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+ Random Forest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34A3F98-B750-D33A-27B1-436185CE0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60" y="1930400"/>
            <a:ext cx="2514600" cy="25273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2235663-5921-5F74-DAA0-74B3D6580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440" y="2057400"/>
            <a:ext cx="6045200" cy="22733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6A93556-3242-BFBD-630F-6CABBBFA571F}"/>
              </a:ext>
            </a:extLst>
          </p:cNvPr>
          <p:cNvSpPr txBox="1"/>
          <p:nvPr/>
        </p:nvSpPr>
        <p:spPr>
          <a:xfrm>
            <a:off x="510988" y="4759823"/>
            <a:ext cx="98163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F1-score(0.63) 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shows improved and more balanced performance after applying SMOTE.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Setting: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Recall improves to 0.52, though precision remains low (0.02).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Living Situation: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Solid performance with recall at 0.69 and precision at 0.33.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Residence: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results with precision of 0.93 and improved recall of 0.53.</a:t>
            </a:r>
          </a:p>
          <a:p>
            <a:b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169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E12B-733A-1C1D-B923-4E7016BF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943BF-601C-F585-CC08-A5026AA6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+ Random Forest - </a:t>
            </a:r>
            <a:r>
              <a:rPr kumimoji="1" lang="en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br>
              <a:rPr lang="en" altLang="zh-TW" dirty="0"/>
            </a:b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3226CEE-ACEC-4D1E-1992-318343AE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10" y="1351281"/>
            <a:ext cx="8948677" cy="357632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C5FA890-7A04-6DE7-BCC0-3F168FC55782}"/>
              </a:ext>
            </a:extLst>
          </p:cNvPr>
          <p:cNvSpPr txBox="1"/>
          <p:nvPr/>
        </p:nvSpPr>
        <p:spPr>
          <a:xfrm>
            <a:off x="1327896" y="5207617"/>
            <a:ext cx="83001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Employment status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strongest predictor.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coverage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cash assistance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also rank highly.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kumimoji="0" lang="zh-TW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(Child)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education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contribute smaller but meaningful signals.</a:t>
            </a:r>
          </a:p>
        </p:txBody>
      </p:sp>
    </p:spTree>
    <p:extLst>
      <p:ext uri="{BB962C8B-B14F-4D97-AF65-F5344CB8AC3E}">
        <p14:creationId xmlns:p14="http://schemas.microsoft.com/office/powerpoint/2010/main" val="3639562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DD6C-74B6-A2ED-4EEE-80D97A22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61185C-DEE3-C661-0CB7-2BDF7166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– SMART Question 1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7D33B-F738-EFE3-8C42-11B0BEF144FC}"/>
              </a:ext>
            </a:extLst>
          </p:cNvPr>
          <p:cNvSpPr txBox="1"/>
          <p:nvPr/>
        </p:nvSpPr>
        <p:spPr>
          <a:xfrm>
            <a:off x="677334" y="1503680"/>
            <a:ext cx="85966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 When class imbalance is accounted for, a decent amount of individuals who do not have a mental illness are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Being older decreases the chance of having a mental illness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Cohabitating with others and substance use minimally increases the risk of having a mental illness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All demographic variables have small impacts on mental illnesses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Region served, education status, and age group are the most influential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of 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mental illness. Race, sexual orientation, and household consumption have some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 on predicting mental illness. Sex,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alchohol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related disorder, drug substance disorder,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 veteran status did not contribute much to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4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F745E-B205-9F11-6706-58E4491B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B93F13-6275-0C9C-4211-C9C1A60D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Next Step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0C8911-6D1C-98C7-13E7-CEEB06386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7968826" cy="3880773"/>
          </a:xfrm>
        </p:spPr>
        <p:txBody>
          <a:bodyPr>
            <a:normAutofit lnSpcReduction="10000"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p"/>
            </a:pPr>
            <a:r>
              <a:rPr lang="zh-TW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Severe class imbalance makes minority groups hard to model.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p"/>
            </a:pPr>
            <a:r>
              <a:rPr lang="zh-TW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Only categorical variables with many small levels increase overfitting risk.</a:t>
            </a:r>
          </a:p>
          <a:p>
            <a:pPr>
              <a:buFont typeface="Wingdings" pitchFamily="2" charset="2"/>
              <a:buChar char="p"/>
            </a:pPr>
            <a:endParaRPr kumimoji="1" lang="en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Remove imbalance data or </a:t>
            </a:r>
            <a:r>
              <a:rPr lang="en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try</a:t>
            </a:r>
            <a:r>
              <a:rPr lang="zh-TW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 advanced imbalance methods like Balanced RF or XGBoost with weights.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p"/>
            </a:pPr>
            <a:r>
              <a:rPr lang="zh-TW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Add continuous variables to strengthen </a:t>
            </a:r>
            <a:r>
              <a:rPr lang="en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the predictive</a:t>
            </a:r>
            <a:r>
              <a:rPr lang="zh-TW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 signal.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p"/>
            </a:pPr>
            <a:r>
              <a:rPr lang="zh-TW" altLang="zh-TW" sz="2400" dirty="0">
                <a:solidFill>
                  <a:schemeClr val="tx1"/>
                </a:solidFill>
                <a:latin typeface="Arial" panose="020B0604020202020204" pitchFamily="34" charset="0"/>
              </a:rPr>
              <a:t>Analyze minority groups separately to avoid majority-class dominance.</a:t>
            </a:r>
          </a:p>
          <a:p>
            <a:pPr>
              <a:buFont typeface="Wingdings" pitchFamily="2" charset="2"/>
              <a:buChar char="p"/>
            </a:pPr>
            <a:endParaRPr kumimoji="1" lang="en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7F64AAF-60DB-C701-C50F-3CBCB4E9F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0400EEE-D63B-3003-13CA-1BB8118BC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796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CC05016-0DCB-5FFB-772D-EFC3DD0D1957}"/>
              </a:ext>
            </a:extLst>
          </p:cNvPr>
          <p:cNvSpPr txBox="1"/>
          <p:nvPr/>
        </p:nvSpPr>
        <p:spPr>
          <a:xfrm>
            <a:off x="2246587" y="2321004"/>
            <a:ext cx="610125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1" lang="en-US" altLang="zh-TW" sz="13800" b="1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END</a:t>
            </a:r>
            <a:endParaRPr kumimoji="1" lang="en" altLang="zh-TW" sz="13800" b="1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538148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{0FFBD485-89BE-4C40-BD94-5869DE7AD0FA}tf10001060</Template>
  <TotalTime>193</TotalTime>
  <Words>1441</Words>
  <Application>Microsoft Office PowerPoint</Application>
  <PresentationFormat>Widescreen</PresentationFormat>
  <Paragraphs>74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Microsoft JhengHei</vt:lpstr>
      <vt:lpstr>Aptos</vt:lpstr>
      <vt:lpstr>Arial</vt:lpstr>
      <vt:lpstr>Times New Roman</vt:lpstr>
      <vt:lpstr>Trebuchet MS</vt:lpstr>
      <vt:lpstr>Wingdings</vt:lpstr>
      <vt:lpstr>Wingdings 3</vt:lpstr>
      <vt:lpstr>多面向</vt:lpstr>
      <vt:lpstr>Mental Health Patterns and Living Situations in New York State</vt:lpstr>
      <vt:lpstr>Source Links</vt:lpstr>
      <vt:lpstr>Data cleaning</vt:lpstr>
      <vt:lpstr>Smart Question 1</vt:lpstr>
      <vt:lpstr>Smart Question 2 </vt:lpstr>
      <vt:lpstr>Smart Question 3 </vt:lpstr>
      <vt:lpstr>Variables Description</vt:lpstr>
      <vt:lpstr>Correlation Test</vt:lpstr>
      <vt:lpstr>Logistic Regression</vt:lpstr>
      <vt:lpstr>Random Forest</vt:lpstr>
      <vt:lpstr>SMOTE + Random Forest</vt:lpstr>
      <vt:lpstr>SMOTE + Random Forest - Feature Importance </vt:lpstr>
      <vt:lpstr>Conclusions – SMART Question 1</vt:lpstr>
      <vt:lpstr>Limitations and Next Step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恒瑞 朱</dc:creator>
  <cp:lastModifiedBy>Emma Francis</cp:lastModifiedBy>
  <cp:revision>1</cp:revision>
  <dcterms:created xsi:type="dcterms:W3CDTF">2025-12-02T00:53:55Z</dcterms:created>
  <dcterms:modified xsi:type="dcterms:W3CDTF">2025-12-02T16:24:17Z</dcterms:modified>
</cp:coreProperties>
</file>