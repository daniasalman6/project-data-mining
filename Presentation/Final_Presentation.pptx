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notesMasterIdLst>
    <p:notesMasterId r:id="rId34"/>
  </p:notesMasterIdLst>
  <p:sldIdLst>
    <p:sldId id="256" r:id="rId2"/>
    <p:sldId id="257" r:id="rId3"/>
    <p:sldId id="270" r:id="rId4"/>
    <p:sldId id="276" r:id="rId5"/>
    <p:sldId id="258" r:id="rId6"/>
    <p:sldId id="277" r:id="rId7"/>
    <p:sldId id="286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68" r:id="rId17"/>
    <p:sldId id="264" r:id="rId18"/>
    <p:sldId id="287" r:id="rId19"/>
    <p:sldId id="288" r:id="rId20"/>
    <p:sldId id="289" r:id="rId21"/>
    <p:sldId id="290" r:id="rId22"/>
    <p:sldId id="292" r:id="rId23"/>
    <p:sldId id="291" r:id="rId24"/>
    <p:sldId id="263" r:id="rId25"/>
    <p:sldId id="265" r:id="rId26"/>
    <p:sldId id="260" r:id="rId27"/>
    <p:sldId id="261" r:id="rId28"/>
    <p:sldId id="266" r:id="rId29"/>
    <p:sldId id="267" r:id="rId30"/>
    <p:sldId id="273" r:id="rId31"/>
    <p:sldId id="269" r:id="rId32"/>
    <p:sldId id="275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1A290C-676C-8658-1848-ABDED01A3298}" v="161" dt="2025-12-04T04:30:01.922"/>
    <p1510:client id="{69717D19-0AEE-0EFE-62AC-6A715FBD96BB}" v="1059" dt="2025-12-03T19:26:52.822"/>
    <p1510:client id="{B7D17B82-5527-4661-8B13-DC96109D97FA}" v="23" dt="2025-12-04T04:37:01.449"/>
    <p1510:client id="{FE11F098-1341-5231-6FE4-654342703829}" v="24" dt="2025-12-04T04:51:03.8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179CE-8438-496C-8BC1-59B621BFFEB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E0D09-A73B-45C7-9595-EA62676DC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 correlation is above 0.51, so I do not think multicollinearity needs to be addressed.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41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logistic regression highlights the class imbalance of the data. The accuracy of the model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appears to be 97%. However, the model does not identify those who do not have a mental illness.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AUC of 0.67 demonstrates that the logistic regression had modest discriminative ability.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current model is not suitable for the data due to the class imbalance.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96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independent/demographic variables do not explain sufficient variation in mental illness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prevalence. This model does not predict those without mental illness since there is significant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class imbalance.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3872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class imbalance is accounted for, a decent amount of individuals who do not have a mental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illness are identified. The model accuracy is now 76%, but identifies those without a mental illness.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demographic/independent variables have modest predictive power now.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32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improved logistic regression suggests that being older decreases the chance of having a mental illness, cohabitating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with others and substance use minimally increases the risk of having a mental illness. All demographic variables have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small impacts on mental illnesses.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3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also had an accuracy of 97% and an AUC of 0.69, again having some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discriminative ability. This model also suffers from the class imbalance, having a recall of 0.04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for individuals without a mental illness. This model is extremely biased toward those who do have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 mental illness.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62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demonstrates that region served, education status, and race are the most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significant predictors of mental illness. Sexual orientation, household composition, and age group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have some importance on the model. Sex, alcohol related disorder, drug substance disorder, and 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do not contribute much to the model's predictions. 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723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the class is balanced, the random forest model had a 75% accuracy and an AUC of 0.68.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recall for those without a mental illness is 0.55 which improved from 0.04.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Region served, education status, and age group are the most influential predictors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of mental illness. Race, sexual orientation, and household consumption have some importance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on predicting mental illness. Sex, 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alchohol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disorder, drug substance disorder, and</a:t>
            </a: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did not contribute much to the model.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547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model accuracy is 76%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demographic variables have modest predictive power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64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2025/12/3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993363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Subset and filter data using column names and specific conditions</a:t>
            </a: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Convert “Unknown” to missing values in some cases</a:t>
            </a:r>
            <a:endParaRPr lang="en">
              <a:latin typeface="Times New Roman"/>
              <a:ea typeface="微軟正黑體"/>
              <a:cs typeface="Times New Roman"/>
            </a:endParaRPr>
          </a:p>
          <a:p>
            <a:r>
              <a:rPr kumimoji="1" lang="en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" altLang="zh-TW" sz="2400">
                <a:latin typeface="Times New Roman"/>
                <a:ea typeface="微軟正黑體"/>
                <a:cs typeface="Times New Roman"/>
              </a:rPr>
              <a:t>Encode Categorical variables </a:t>
            </a:r>
            <a:endParaRPr kumimoji="1" lang="en" altLang="zh-TW" sz="2400">
              <a:latin typeface="Times New Roman"/>
              <a:ea typeface="微軟正黑體"/>
              <a:cs typeface="Times New Roman"/>
            </a:endParaRPr>
          </a:p>
          <a:p>
            <a:r>
              <a:rPr kumimoji="1" lang="en-US" altLang="zh-TW" sz="240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27BB7-7700-3D3C-64FD-707B00D5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/>
              <a:t>Class Imbalance: Over 90% of individuals in New York reported having a mental illness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2CCF8-A433-07DB-ED3B-BD2CB394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880" y="1373652"/>
            <a:ext cx="6461760" cy="518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86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sz="3200">
                <a:latin typeface="Times New Roman" panose="02020603050405020304" pitchFamily="18" charset="0"/>
                <a:cs typeface="Times New Roman" panose="02020603050405020304" pitchFamily="18" charset="0"/>
              </a:rPr>
              <a:t>How well can demographic characteristics predict whether an adult has a diagnosed mental illness in New York State using PCS 2019 data?</a:t>
            </a: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0C91-67B7-9BF3-A388-D2A6F4CB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/>
              <a:t>Mental health prevalence is roughly the same among all races and genders…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0255A-83AF-CB26-4852-8EDB5175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709" y="1270000"/>
            <a:ext cx="5217331" cy="258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B1002A-E251-CE79-4D06-07F0DA0A9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7709" y="3956951"/>
            <a:ext cx="5217331" cy="257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3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013A9-5EAC-67F8-2AEA-9F6F1D190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Correlation Matrix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E2A1D-A53E-06D7-EDD9-1E2AC1ED4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643247"/>
            <a:ext cx="5982962" cy="4706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B88395-FC3E-6AB9-8BAF-C89469E40847}"/>
              </a:ext>
            </a:extLst>
          </p:cNvPr>
          <p:cNvSpPr txBox="1"/>
          <p:nvPr/>
        </p:nvSpPr>
        <p:spPr>
          <a:xfrm>
            <a:off x="6660296" y="3630585"/>
            <a:ext cx="337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*No correlation is above 0.51</a:t>
            </a:r>
          </a:p>
        </p:txBody>
      </p:sp>
    </p:spTree>
    <p:extLst>
      <p:ext uri="{BB962C8B-B14F-4D97-AF65-F5344CB8AC3E}">
        <p14:creationId xmlns:p14="http://schemas.microsoft.com/office/powerpoint/2010/main" val="1748006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CDDC-DB85-6D2E-64B2-5B81F71B9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Logistic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FEF64C-D530-53AF-577C-C65696F6E1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2279" y="2011415"/>
            <a:ext cx="5726441" cy="45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7C44DD-CFC5-3227-55FE-A98F29178CAE}"/>
              </a:ext>
            </a:extLst>
          </p:cNvPr>
          <p:cNvSpPr txBox="1"/>
          <p:nvPr/>
        </p:nvSpPr>
        <p:spPr>
          <a:xfrm>
            <a:off x="7894320" y="3630137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97%</a:t>
            </a:r>
          </a:p>
        </p:txBody>
      </p:sp>
    </p:spTree>
    <p:extLst>
      <p:ext uri="{BB962C8B-B14F-4D97-AF65-F5344CB8AC3E}">
        <p14:creationId xmlns:p14="http://schemas.microsoft.com/office/powerpoint/2010/main" val="191997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BAB6-0B04-D715-99C2-1AFB743C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Odds Ratios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8C5190-1805-5094-9D9D-9C8E03AE3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0439" y="1353525"/>
            <a:ext cx="6813561" cy="500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41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975E-D18A-6B2A-1347-5BACF48D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C982DC-7FC2-867A-9BAB-B4010AC66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1439494"/>
            <a:ext cx="6380479" cy="50668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6C2A66-8250-DEC4-A22C-9E38B5FD9BD2}"/>
              </a:ext>
            </a:extLst>
          </p:cNvPr>
          <p:cNvSpPr txBox="1"/>
          <p:nvPr/>
        </p:nvSpPr>
        <p:spPr>
          <a:xfrm>
            <a:off x="7945120" y="3244334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76%</a:t>
            </a:r>
          </a:p>
        </p:txBody>
      </p:sp>
    </p:spTree>
    <p:extLst>
      <p:ext uri="{BB962C8B-B14F-4D97-AF65-F5344CB8AC3E}">
        <p14:creationId xmlns:p14="http://schemas.microsoft.com/office/powerpoint/2010/main" val="62823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A902-CF16-A61A-0690-1B7ACCF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9A78-C6B1-5533-116D-FE6F07F9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934" y="1615440"/>
            <a:ext cx="6804928" cy="4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1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1F03-27C7-7A86-6708-56650C6F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38CA9-7D50-672F-032C-FFF4B212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" y="1399942"/>
            <a:ext cx="6325129" cy="50378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45FEDF-8BD1-1FB8-D2F4-4294987249EC}"/>
              </a:ext>
            </a:extLst>
          </p:cNvPr>
          <p:cNvSpPr txBox="1"/>
          <p:nvPr/>
        </p:nvSpPr>
        <p:spPr>
          <a:xfrm>
            <a:off x="7843520" y="3244334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97%</a:t>
            </a:r>
          </a:p>
        </p:txBody>
      </p:sp>
    </p:spTree>
    <p:extLst>
      <p:ext uri="{BB962C8B-B14F-4D97-AF65-F5344CB8AC3E}">
        <p14:creationId xmlns:p14="http://schemas.microsoft.com/office/powerpoint/2010/main" val="4272821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1739-4829-45AD-3772-5319F6DB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Forest Feature Importance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FF9ADA-1530-8537-FCD6-F1B5C01A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51" y="1975517"/>
            <a:ext cx="6809909" cy="42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79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3804-F293-6675-AB48-9152B9EDB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5BCD-CD3F-5FEE-3149-3A909EDBF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550536"/>
            <a:ext cx="6350169" cy="5023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7EEB31-7267-0573-02A1-149D77746ECC}"/>
              </a:ext>
            </a:extLst>
          </p:cNvPr>
          <p:cNvSpPr txBox="1"/>
          <p:nvPr/>
        </p:nvSpPr>
        <p:spPr>
          <a:xfrm>
            <a:off x="7701280" y="3429000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Accuracy: 75%</a:t>
            </a:r>
          </a:p>
        </p:txBody>
      </p:sp>
    </p:spTree>
    <p:extLst>
      <p:ext uri="{BB962C8B-B14F-4D97-AF65-F5344CB8AC3E}">
        <p14:creationId xmlns:p14="http://schemas.microsoft.com/office/powerpoint/2010/main" val="2298523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9C68-6E2D-3D66-5693-B6937605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56EF4C-B635-0B93-75A9-06CA26DE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907118" cy="414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34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– SMART Question 1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7D33B-F738-EFE3-8C42-11B0BEF144FC}"/>
              </a:ext>
            </a:extLst>
          </p:cNvPr>
          <p:cNvSpPr txBox="1"/>
          <p:nvPr/>
        </p:nvSpPr>
        <p:spPr>
          <a:xfrm>
            <a:off x="677334" y="1503680"/>
            <a:ext cx="85966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 When class imbalance is accounted for, a decent amount of individuals who do not have a mental illness are identified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Being older decreases the chance of having a mental illness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Cohabitating with others and substance use minimally increases the risk of having a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All demographic variables have small impacts on mental illnesses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Region served, education status, and age group are the most influential predictors of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Race, sexual orientation, and household consumption have some importance on predicting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Sex, alcohol related disorder, drug substance disorder, and veteran status did not contribute much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174D1-B207-D13F-C0A6-49F3B7E25FF7}"/>
              </a:ext>
            </a:extLst>
          </p:cNvPr>
          <p:cNvSpPr txBox="1"/>
          <p:nvPr/>
        </p:nvSpPr>
        <p:spPr>
          <a:xfrm>
            <a:off x="678756" y="1482378"/>
            <a:ext cx="8183495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To what extent can socio-economic factors, particularly educational attainment, predict mental health diagnosis among adults in New York State using PCS 2019, and which variables are the strongest predictors</a:t>
            </a:r>
            <a:endParaRPr lang="en-US" sz="2800">
              <a:solidFill>
                <a:srgbClr val="000000"/>
              </a:solidFill>
              <a:latin typeface="Times New Roman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A56F5-E9DA-22D3-7160-C8BBE58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4444B-6C92-0A0D-7B5F-BF47F3CE9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94D341-047D-D9A2-4411-F1B983A5FAB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AAFF9-3629-F1D8-D86A-FA61CE257D13}"/>
              </a:ext>
            </a:extLst>
          </p:cNvPr>
          <p:cNvSpPr txBox="1"/>
          <p:nvPr/>
        </p:nvSpPr>
        <p:spPr>
          <a:xfrm>
            <a:off x="678756" y="141194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Target Variable: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 Mental Illness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1FA099-114E-3978-A21B-191D2A994995}"/>
              </a:ext>
            </a:extLst>
          </p:cNvPr>
          <p:cNvSpPr txBox="1"/>
          <p:nvPr/>
        </p:nvSpPr>
        <p:spPr>
          <a:xfrm>
            <a:off x="678756" y="2302009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Distribution: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Yes (148046), No (2936)</a:t>
            </a:r>
            <a:endParaRPr lang="en-US" sz="2800">
              <a:latin typeface="Times New Roman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64F7F-0475-992C-E5D7-BA305867D0C5}"/>
              </a:ext>
            </a:extLst>
          </p:cNvPr>
          <p:cNvSpPr txBox="1"/>
          <p:nvPr/>
        </p:nvSpPr>
        <p:spPr>
          <a:xfrm>
            <a:off x="678756" y="3160059"/>
            <a:ext cx="10219763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</a:rPr>
              <a:t>Reformat using distribution for predicting columns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</a:rPr>
              <a:t>Dropping columns with no predictive power and merging rare categories</a:t>
            </a:r>
            <a:endParaRPr lang="en-US" sz="2800" baseline="0">
              <a:solidFill>
                <a:srgbClr val="404040"/>
              </a:solidFill>
              <a:latin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410F5-5E30-255C-C416-F4E125BBD0A5}"/>
              </a:ext>
            </a:extLst>
          </p:cNvPr>
          <p:cNvSpPr txBox="1"/>
          <p:nvPr/>
        </p:nvSpPr>
        <p:spPr>
          <a:xfrm>
            <a:off x="678756" y="4363891"/>
            <a:ext cx="9297680" cy="12311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Running chi-square tests to check independence </a:t>
            </a:r>
            <a:r>
              <a:rPr lang="en-US" sz="2800" b="1" baseline="0">
                <a:solidFill>
                  <a:srgbClr val="2E83C3"/>
                </a:solidFill>
                <a:latin typeface="Times New Roman"/>
                <a:ea typeface="Segoe UI"/>
                <a:cs typeface="Segoe UI"/>
              </a:rPr>
              <a:t>:</a:t>
            </a:r>
            <a:r>
              <a:rPr lang="en-US" sz="2800" baseline="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 </a:t>
            </a:r>
            <a:r>
              <a:rPr lang="en-US" sz="2800">
                <a:solidFill>
                  <a:srgbClr val="404040"/>
                </a:solidFill>
                <a:latin typeface="Times New Roman"/>
                <a:ea typeface="Segoe UI"/>
                <a:cs typeface="Segoe UI"/>
              </a:rPr>
              <a:t>Dropping columns where p-values are not significant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11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B61C-3762-DE99-B012-54D65915A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B5AB5-5812-A881-A60E-23045A46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A99-34D6-21C6-CFA2-04E7B3C750D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66EFA-22F0-B25D-4A7B-5593F33630F2}"/>
              </a:ext>
            </a:extLst>
          </p:cNvPr>
          <p:cNvSpPr txBox="1"/>
          <p:nvPr/>
        </p:nvSpPr>
        <p:spPr>
          <a:xfrm>
            <a:off x="678756" y="429472"/>
            <a:ext cx="398455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Check for correlation between predictors:</a:t>
            </a:r>
            <a:endParaRPr lang="en-US" sz="2800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pic>
        <p:nvPicPr>
          <p:cNvPr id="3" name="Picture 2" descr="A screenshot of a graph">
            <a:extLst>
              <a:ext uri="{FF2B5EF4-FFF2-40B4-BE49-F238E27FC236}">
                <a16:creationId xmlns:a16="http://schemas.microsoft.com/office/drawing/2014/main" id="{48A4800A-E7F3-1CFC-07F7-EF12F70A5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2" y="105271"/>
            <a:ext cx="6498083" cy="665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4B2176-FBF1-3E5F-3477-77567DD83FA6}"/>
              </a:ext>
            </a:extLst>
          </p:cNvPr>
          <p:cNvSpPr txBox="1"/>
          <p:nvPr/>
        </p:nvSpPr>
        <p:spPr>
          <a:xfrm>
            <a:off x="678757" y="1572025"/>
            <a:ext cx="461041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The highly correlated variables are: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Household Composition and Living Situation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Employment Status and Working Status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Other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Private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And Medicare Insurance and Unknown Insurance Coverage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Unknown Insurance Coverage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Insurance and No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Medicaid Managed Insurance and Medicaid Insurance</a:t>
            </a:r>
          </a:p>
          <a:p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- Private Insurance and Other Insurance"""</a:t>
            </a: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r>
              <a:rPr lang="en-US" sz="1200" err="1">
                <a:solidFill>
                  <a:srgbClr val="9CDCFE"/>
                </a:solidFill>
                <a:latin typeface="Menlo"/>
                <a:ea typeface="Menlo"/>
                <a:cs typeface="Menlo"/>
              </a:rPr>
              <a:t>drop_cols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</a:t>
            </a:r>
            <a:r>
              <a:rPr lang="en-US" sz="1200">
                <a:solidFill>
                  <a:srgbClr val="D4D4D4"/>
                </a:solidFill>
                <a:latin typeface="Menlo"/>
                <a:ea typeface="Menlo"/>
                <a:cs typeface="Menlo"/>
              </a:rPr>
              <a:t>=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 [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"Household Composition"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"Employment Status"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"Other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"Private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"Medicaid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, 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"Unknown Insurance 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Coverage"</a:t>
            </a:r>
            <a:r>
              <a:rPr lang="en-US" sz="1200" err="1">
                <a:solidFill>
                  <a:srgbClr val="CCCCCC"/>
                </a:solidFill>
                <a:latin typeface="Menlo"/>
                <a:ea typeface="Menlo"/>
                <a:cs typeface="Menlo"/>
              </a:rPr>
              <a:t>,</a:t>
            </a:r>
            <a:r>
              <a:rPr lang="en-US" sz="1200" err="1">
                <a:solidFill>
                  <a:srgbClr val="CE9178"/>
                </a:solidFill>
                <a:latin typeface="Menlo"/>
                <a:ea typeface="Menlo"/>
                <a:cs typeface="Menlo"/>
              </a:rPr>
              <a:t>"No</a:t>
            </a:r>
            <a:r>
              <a:rPr lang="en-US" sz="1200">
                <a:solidFill>
                  <a:srgbClr val="CE9178"/>
                </a:solidFill>
                <a:latin typeface="Menlo"/>
                <a:ea typeface="Menlo"/>
                <a:cs typeface="Menlo"/>
              </a:rPr>
              <a:t> Insurance"</a:t>
            </a:r>
            <a:r>
              <a:rPr lang="en-US" sz="1200">
                <a:solidFill>
                  <a:srgbClr val="CCCCCC"/>
                </a:solidFill>
                <a:latin typeface="Menlo"/>
                <a:ea typeface="Menlo"/>
                <a:cs typeface="Menlo"/>
              </a:rPr>
              <a:t>]</a:t>
            </a:r>
            <a:endParaRPr lang="en-US" sz="1200">
              <a:solidFill>
                <a:srgbClr val="000000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endParaRPr lang="en-US" sz="1200">
              <a:solidFill>
                <a:srgbClr val="CE9178"/>
              </a:solidFill>
              <a:latin typeface="Menlo"/>
              <a:ea typeface="Menlo"/>
              <a:cs typeface="Menlo"/>
            </a:endParaRPr>
          </a:p>
          <a:p>
            <a:br>
              <a:rPr lang="en-US" sz="1200">
                <a:latin typeface="Menlo"/>
                <a:ea typeface="Menlo"/>
                <a:cs typeface="Menlo"/>
              </a:rPr>
            </a:br>
            <a:endParaRPr lang="en-US" sz="1200">
              <a:solidFill>
                <a:srgbClr val="CCCCCC"/>
              </a:solidFill>
              <a:latin typeface="Menlo"/>
              <a:ea typeface="Menlo"/>
              <a:cs typeface="Menlo"/>
            </a:endParaRPr>
          </a:p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1999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825F-044E-7EF6-13A8-3E49CCC0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4BD626-2C41-00EA-70DC-C517C73CC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767748-BEDC-C78F-1A3D-0D751282D2AF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2546C2-34AE-C111-0340-AF0621B3DB0C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Logistic Regression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19ABB35-F99B-41FD-328C-5BE91C9E8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540369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17909423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1827572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841249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33647067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792266020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7706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28259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45374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9644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0.42</a:t>
                      </a:r>
                      <a:endParaRPr lang="en-US">
                        <a:solidFill>
                          <a:srgbClr val="2E83C3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12022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0.76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3253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F29EE18-DBA9-264F-1A56-E3FC5E2B44B0}"/>
              </a:ext>
            </a:extLst>
          </p:cNvPr>
          <p:cNvSpPr txBox="1"/>
          <p:nvPr/>
        </p:nvSpPr>
        <p:spPr>
          <a:xfrm>
            <a:off x="536231" y="3670327"/>
            <a:ext cx="987648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Strong performance on majority class (1.0): Precision 0.99, Recall 0.63 → model is almost always correct when predicting “1.”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Weak performance on minority class (0.0): Precision 0.04 and F1-score 0.07 → most predicted “0” values are wrong.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(0.63) is misleading because it is driven almost entirely by the majority class.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Logistic regression struggles to learn the minority class due to the extreme imbalance in the data.</a:t>
            </a:r>
          </a:p>
          <a:p>
            <a:pPr marL="228600" indent="-228600">
              <a:buFont typeface="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775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49DB-B7BD-05EF-A6E0-46D43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06E549-EB85-1B37-4D77-4E87BFEA8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377D0-3F3B-9405-AB4B-1046218901A3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BFE24-7ED7-FB7C-1158-6C123572C39E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Times New Roman"/>
              </a:rPr>
              <a:t>Running Random Forest Model</a:t>
            </a:r>
            <a:endParaRPr lang="en-US" sz="28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F8D609-4C15-DD6D-C5EE-17FDABCDA04E}"/>
              </a:ext>
            </a:extLst>
          </p:cNvPr>
          <p:cNvSpPr txBox="1"/>
          <p:nvPr/>
        </p:nvSpPr>
        <p:spPr>
          <a:xfrm>
            <a:off x="768403" y="3813202"/>
            <a:ext cx="928712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Random Forest improves over logistic regression, especially for the majority class, with precision at 0.99 and higher recall (0.72).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Minority class (0.0) performance remains weak: recall drops to 0.58 and precision stays low (0.04) due to very small support.</a:t>
            </a: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Overall accuracy increases to 0.72, showing better learning of nonlinear patterns.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2EF35F2-2060-7363-C3B7-823A85667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746861"/>
              </p:ext>
            </p:extLst>
          </p:nvPr>
        </p:nvGraphicFramePr>
        <p:xfrm>
          <a:off x="770805" y="1200390"/>
          <a:ext cx="8191500" cy="222885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92991857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819119858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579301004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05346569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4047924729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effectLst/>
                        </a:rPr>
                        <a:t>Support</a:t>
                      </a:r>
                      <a:endParaRPr lang="en-US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89862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0.07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881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36695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1.0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0.99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44414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1804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Accuracy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27481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Macro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0.51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0.65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0.45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27706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Weighted Avg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0.97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0.72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0.82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45295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1959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5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3F721-6711-00FC-32DF-7F3119366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DB6F9D-D277-D7B0-7CCC-F3CAA0918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768DB1-F204-D587-D82E-7F843A1272B7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7CE940-D036-F9FC-074B-992E8784B20C}"/>
              </a:ext>
            </a:extLst>
          </p:cNvPr>
          <p:cNvSpPr txBox="1"/>
          <p:nvPr/>
        </p:nvSpPr>
        <p:spPr>
          <a:xfrm>
            <a:off x="678756" y="429472"/>
            <a:ext cx="626415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chemeClr val="accent2"/>
                </a:solidFill>
                <a:latin typeface="Times New Roman"/>
              </a:rPr>
              <a:t>Feature Importance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90F91-D4EE-7479-74AB-47CD24919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1195828"/>
            <a:ext cx="7432863" cy="446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108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606E-C98A-C321-6C7B-7543BA795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E8BD04-0923-E7E0-99E1-208BF04A2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D0D26-F8EA-7202-1FD1-DD50654737B4}"/>
              </a:ext>
            </a:extLst>
          </p:cNvPr>
          <p:cNvSpPr txBox="1"/>
          <p:nvPr/>
        </p:nvSpPr>
        <p:spPr>
          <a:xfrm>
            <a:off x="678756" y="1482378"/>
            <a:ext cx="818349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800">
              <a:solidFill>
                <a:srgbClr val="404040"/>
              </a:solidFill>
              <a:latin typeface="Times New Roman"/>
              <a:ea typeface="Segoe UI"/>
              <a:cs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3224B-35BD-0CE4-3945-661436AC5A2F}"/>
              </a:ext>
            </a:extLst>
          </p:cNvPr>
          <p:cNvSpPr txBox="1"/>
          <p:nvPr/>
        </p:nvSpPr>
        <p:spPr>
          <a:xfrm>
            <a:off x="678756" y="834285"/>
            <a:ext cx="626415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b="1" dirty="0">
                <a:solidFill>
                  <a:schemeClr val="accent2"/>
                </a:solidFill>
                <a:latin typeface="Times New Roman"/>
              </a:rPr>
              <a:t>Conclusion for Q2</a:t>
            </a:r>
            <a:endParaRPr lang="en-US" sz="3600" b="1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85254D-8581-C82B-F5AA-EBEFBBC93372}"/>
              </a:ext>
            </a:extLst>
          </p:cNvPr>
          <p:cNvSpPr txBox="1"/>
          <p:nvPr/>
        </p:nvSpPr>
        <p:spPr>
          <a:xfrm>
            <a:off x="679556" y="1613447"/>
            <a:ext cx="6468744" cy="4190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Predicting mental illness is challenging due to severe class imbalance.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Logistic Regression performs poorly on the minority class.</a:t>
            </a:r>
          </a:p>
          <a:p>
            <a:pPr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Random Forest improves performance but still cannot reliably identify class 0.</a:t>
            </a:r>
            <a:endParaRPr lang="en-US" sz="2000" dirty="0"/>
          </a:p>
          <a:p>
            <a:pPr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Top predictors: education level, Medicaid insurance, and SSI assistance.</a:t>
            </a:r>
            <a:endParaRPr lang="en-US" sz="2000" dirty="0"/>
          </a:p>
          <a:p>
            <a:pPr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Other socioeconomic factors contribute smaller effects.</a:t>
            </a:r>
            <a:endParaRPr lang="en-US" sz="2000" dirty="0"/>
          </a:p>
          <a:p>
            <a:pPr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Overall, features offer limited power for accurate classification.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4987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/>
            </a:b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TotalTime>0</TotalTime>
  <Words>2445</Words>
  <Application>Microsoft Office PowerPoint</Application>
  <PresentationFormat>Widescreen</PresentationFormat>
  <Paragraphs>223</Paragraphs>
  <Slides>32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多面向</vt:lpstr>
      <vt:lpstr>Mental Health Patterns and Living Situations in New York State</vt:lpstr>
      <vt:lpstr>Source Links</vt:lpstr>
      <vt:lpstr>Data cleaning</vt:lpstr>
      <vt:lpstr>Class Imbalance: Over 90% of individuals in New York reported having a mental illness </vt:lpstr>
      <vt:lpstr>Smart Question 1</vt:lpstr>
      <vt:lpstr>Mental health prevalence is roughly the same among all races and genders…</vt:lpstr>
      <vt:lpstr>Correlation Matrix</vt:lpstr>
      <vt:lpstr>Logistic Regression</vt:lpstr>
      <vt:lpstr>Odds Ratios</vt:lpstr>
      <vt:lpstr>Balancing Class Weight</vt:lpstr>
      <vt:lpstr>Balancing Class Weight</vt:lpstr>
      <vt:lpstr>Random Forest Model</vt:lpstr>
      <vt:lpstr>Random Forest Feature Importance</vt:lpstr>
      <vt:lpstr>Balancing Class Weight</vt:lpstr>
      <vt:lpstr>Balancing Class Weight</vt:lpstr>
      <vt:lpstr>Conclusions – SMART Question 1</vt:lpstr>
      <vt:lpstr>Smart Question 2 </vt:lpstr>
      <vt:lpstr>Smart Question 2 </vt:lpstr>
      <vt:lpstr> </vt:lpstr>
      <vt:lpstr> </vt:lpstr>
      <vt:lpstr> </vt:lpstr>
      <vt:lpstr> </vt:lpstr>
      <vt:lpstr>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Limitations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lastModifiedBy>Emma Francis</cp:lastModifiedBy>
  <cp:revision>29</cp:revision>
  <dcterms:created xsi:type="dcterms:W3CDTF">2025-12-02T00:53:55Z</dcterms:created>
  <dcterms:modified xsi:type="dcterms:W3CDTF">2025-12-04T04:51:45Z</dcterms:modified>
</cp:coreProperties>
</file>